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ANKER SETZEN. Diese Folie sagt: das ist eine Strategie für [Klinik], kein Standard-Pitch. Vorab: Klinik-Logo in den rechten oberen Block einsetzen, [KLINIK_NAME] und [DATUM] ersetzen. 5 Sekunden auf der Folie bleiben, dann weiter.</a:t>
            </a:r>
          </a:p>
          <a:p/>
          <a:p>
            <a:r>
              <a:t>Quelle Branding: Notion `Branding` page (Akzent #58BAB5).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scannen lassen, nicht vorlesen. 'Wir gehen es Schritt für Schritt durch. Die Investition kommt am Ende, damit wir vorher klar haben, warum.'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 INTERRUPT. Ruhig vorlesen, eine Sekunde Pause am Ende. Dann fragen: 'Wie würden Sie Ihre Klinik im Vergleich zu Ihrem Marketing aktuell beschreiben?' Erwartete Antwort: Klinik gut, Marketing schwächer. Genau dort holen wir sie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ZIEL: Yes #1. Diese Folie zeigt: ich habe Hausaufgaben gemacht. Bewusst die Klinik in gutem Licht zeichnen. Das ist Common Ground, kein Pitch. Erwartete Antwort: 'Ja, stimmt.' Wenn eine Korrektur kommt: zuhören, nicht abwehren, in den Goals (Folie 5) mental anpassen. Vorab: Platzhalter [KLINIK_NAME], [STADT], [BEHANDLUNGS-SCHWERPUNKT] etc. ersetzen.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YES-LADDER KERN. Jeden Punkt einzeln einblenden (in PPT: 'Animation Painter' → Appear → On Click pro Punkt). Nach jedem Punkt anhalten und das Nicken / Ja abwarten. Nicht weiterklicken bevor das Yes da ist. Wenn ein Punkt nicht passt: streichen, nicht erzwingen. Ziel: 6 Yeses bis Folienende.</a:t>
            </a:r>
          </a:p>
          <a:p/>
          <a:p>
            <a:r>
              <a:t>Quelle für die Ziel-Liste: Discovery-Call-Notizen + Notion `ICP` (Pain Points + Wünsche).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 AVERSION. Diagnose, kein Vorwurf. Bei jedem Punkt fragen: 'Erkennen Sie das wieder?' Wenn ja, weiter. Nicht die Marketing-Person der Klinik beschimpfen, das System diagnostizieren.</a:t>
            </a:r>
          </a:p>
          <a:p/>
          <a:p>
            <a:r>
              <a:t>Quelle 72%-Zahl: rater8 'How Patients Choose Their Doctors' 2025 (Notion `Statistiken` #8).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Erst hier — Folie 7 — reden wir über uns. Zwei Sätze, dann zurück zur Klinik. 'Was Sie merken werden: wir sind keine Allround-Agentur. Wir bauen ein System.'</a:t>
            </a:r>
          </a:p>
          <a:p/>
          <a:p>
            <a:r>
              <a:t>Quelle: Notion `EINS VISUALS Grundlagen` + `Branding`.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 INTERN: Diese Folie ist Platzhalter. EINS hat aktuell (Stand 2026-04-27) keine geschlossenen Klinik-Cases. Die Zahlen sind realistische Branchenwerte aus DACH-Aesthetic, NICHT eigene Kundendaten. </a:t>
            </a:r>
          </a:p>
          <a:p/>
          <a:p>
            <a:r>
              <a:t>Diese Folie NUR verwenden, wenn echte Daten von Klinik X (Q3-2026-Mandant) vorliegen. Sonst: überspringen ODER ersetzen durch '#3 — 1.252% ROAS Implantat-Kampagne (Australien, 2018)' mit klarer Quellenangabe (Notion `Statistiken` #3).</a:t>
            </a:r>
          </a:p>
          <a:p/>
          <a:p>
            <a:r>
              <a:t>Sprecherhaltung: 'Das sind realistische Branchenzahlen für die DACH-Aesthetic. Wir bauen mit Ihnen die nächste belastbare Case Study.' Nicht lügen. Nicht eigene Klinik claimen.</a:t>
            </a:r>
          </a:p>
          <a:p/>
          <a:p>
            <a:r>
              <a:t>Quellen: ISAPS Global Survey 2022, MyAdvice Dental Patient Survey 2024, Wyzowl Video Marketing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LOGISCHER CLOSE. Jeder Pfeil zeigt: dieses Problem aus Folie 6, diese Lösung. Frage am Ende: 'Macht das in Ihrem Kontext Sinn? Erkennen Sie die Logik?' Erwartete Antwort: ja. Das ist der finale Yes vor dem Geld-Frame.</a:t>
            </a:r>
          </a:p>
          <a:p/>
          <a:p>
            <a:r>
              <a:t>Quelle: BASISPAKET in `apps/website/lib/offer-data.ts:8-66`.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 EQUATION KONKRET. Vorab: Klinik-Zahlen aus Discovery-Call in die Platzhalter eintragen. NICHT durch alle 5 Szenarien gehen, NUR das konservative zeigen. Wenn die Klinik bei der Zahl stutzt: 'Diese Rechnung ist konservativ. Im Schnitt liegt unser Modell bei 39 Patienten in 90 Tagen. Aber ich rechne lieber konservativ.'</a:t>
            </a:r>
          </a:p>
          <a:p/>
          <a:p>
            <a:r>
              <a:t>Quelle: SCENARIOS-Tabelle in `apps/website/lib/offer-data.ts:99-105`.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REVERSAL VOR PRICING. Diese Garantie ist die stärkste, die EINS anbietet. Sie gilt nur für die ersten zwei Mandate Q3 2026. Erwähnen: 'Diese Konditionen stehen so auch auf unserer Website. Sie können sich das nochmal in Ruhe ansehen.' </a:t>
            </a:r>
          </a:p>
          <a:p/>
          <a:p>
            <a:r>
              <a:t>WICHTIG: NICHT als Pilot-Projekt framen — Karam-Regel.</a:t>
            </a:r>
          </a:p>
          <a:p/>
          <a:p>
            <a:r>
              <a:t>Quelle: `apps/website/components/sections/guarantee.tsx:7-44`.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IST DAS ZIEL. C IST DER ANKER, er macht B vernünftig. Nicht entschuldigen, nicht relativieren.</a:t>
            </a:r>
          </a:p>
          <a:p/>
          <a:p>
            <a:r>
              <a:t>'Paket B passt zu Ihren Zielen aus Folie 5 am besten. Paket C ergibt erst ab Monat 13 Sinn.' Pause. Nicht reden. Erste Frage abwarten. Wenn 'Das ist teuer' kommt: zur FAQ-Folie 14 vorblättern.</a:t>
            </a:r>
          </a:p>
          <a:p/>
          <a:p>
            <a:r>
              <a:t>Quelle Preise: Notion `[Intern] Angebot (Schönheitskliniken)` + `apps/website/lib/offer-data.ts` (RETAINER_ROWS).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KONKRETHEIT. Jeden Schritt nennen. Frage am Ende: 'Welcher Produktionstag würde bei Ihnen passen, Anfang oder Mitte [MONAT_X]?' Assumed-Choice, nicht 'wollen Sie' sondern 'wann'.</a:t>
            </a:r>
          </a:p>
          <a:p/>
          <a:p>
            <a:r>
              <a:t>Quelle: STATIONS in `apps/website/lib/timeline-data.ts`.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EINWAND-VORGRIFF. Wenn ein Einwand kommt, der nicht hier steht: Notion-Page `Sales-Einwände` (15 Antworten + aggressive Variante) im Kopf haben. Wenn 'müssen wir intern besprechen' kommt: Folie 15 zeigen und Follow-up direkt buchen, NICHT per E-Mail hinterherjagen lassen.</a:t>
            </a:r>
          </a:p>
          <a:p/>
          <a:p>
            <a:r>
              <a:t>Quelle: OBJECTIONS in `apps/website/lib/objections-data.ts`.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TWO-OPTION CLOSE. Kein Ja/Nein. Karam stellt offen: 'Was passt für Sie besser, heute starten oder nochmal in zwei Tagen sprechen?' Schweigen aushalten.</a:t>
            </a:r>
          </a:p>
          <a:p/>
          <a:p>
            <a:r>
              <a:t>Wenn 'B' kommt: sofort Termin im Kalender buchen, LIVE, nicht nachträglich per E-Mail.</a:t>
            </a:r>
          </a:p>
          <a:p>
            <a:r>
              <a:t>Wenn 'A' kommt: Vertrag innerhalb 24h nachreichen.</a:t>
            </a:r>
          </a:p>
          <a:p/>
          <a:p>
            <a:r>
              <a:t>Quelle Voice: `apps/website/components/sections/final-cta.tsx`.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1363902" cy="548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418320" y="457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7132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4A4A52"/>
                </a:solidFill>
                <a:latin typeface="Consolas"/>
              </a:rPr>
              <a:t>[KLINIK_LOGO]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41401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Strategievorschlag · für [KLINIK_NAME]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0101A"/>
                </a:solidFill>
                <a:latin typeface="Helvetica Neue"/>
              </a:rPr>
              <a:t>Strategie-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0101A"/>
                </a:solidFill>
                <a:latin typeface="Helvetica Neue"/>
              </a:rPr>
              <a:t>Vorschlag.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58BAB5"/>
                </a:solidFill>
                <a:latin typeface="Helvetica Neue"/>
              </a:rPr>
              <a:t>für [KLINIK_NAME]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52"/>
                </a:solidFill>
                <a:latin typeface="Consolas"/>
              </a:rPr>
              <a:t>Strategiegespräch · [DATUM] · Köln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263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4A4A52"/>
                </a:solidFill>
                <a:latin typeface="Consolas"/>
              </a:rPr>
              <a:t>Karam Issa · Gründer EINS Visuals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9961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Inhaltsverzeichnis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10101A"/>
                </a:solidFill>
                <a:latin typeface="Helvetica Neue"/>
              </a:rPr>
              <a:t>Was Sie erwartet.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8620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Über Ihre Klinik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38912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Ihre Ziele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920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9204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Was aktuell fehlt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9496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39496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Über EINS Visuals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89788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Fallstudie / Referenzen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640080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Vorgeschlagene Leistungen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38328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Wert für Sie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88620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Garantie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891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38912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Investition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89204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Nächste Schritte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39496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539496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Häufige Fragen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89788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589788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0101A"/>
                </a:solidFill>
                <a:latin typeface="Helvetica Neue"/>
              </a:rPr>
              <a:t>Zwei Wege nach vorne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//01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94560"/>
            <a:ext cx="10332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0" b="1" i="0">
                <a:solidFill>
                  <a:srgbClr val="10101A"/>
                </a:solidFill>
                <a:latin typeface="Helvetica Neue"/>
              </a:rPr>
              <a:t>"Ihre Klinik innoviert.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0" b="1" i="0">
                <a:solidFill>
                  <a:srgbClr val="10101A"/>
                </a:solidFill>
                <a:latin typeface="Helvetica Neue"/>
              </a:rPr>
              <a:t>Sollte Ihre Marketing-Agentur 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0" b="1" i="0">
                <a:solidFill>
                  <a:srgbClr val="58BAB5"/>
                </a:solidFill>
                <a:latin typeface="Helvetica Neue"/>
              </a:rPr>
              <a:t>nicht auch?"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4A4A52"/>
                </a:solidFill>
                <a:latin typeface="Consolas"/>
              </a:rPr>
              <a:t>EINS Visuals · Akquise-System für Ästhetikkliniken im DACH-Raum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//02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Über [KLINIK_NAME]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10101A"/>
                </a:solidFill>
                <a:latin typeface="Helvetica Neue"/>
              </a:rPr>
              <a:t>Wir kennen Ihre Klinik.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Standort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[STADT]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Behandlungsschwerpunkt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[BEHANDLUNGS-SCHWERPUNKT]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Gründungsjahr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12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[GRÜNDUNGSJAHR] · geführt von [ÄRZTLICHER_LEITER]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Besonderes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9893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[USP_1]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383280"/>
            <a:ext cx="5852160" cy="25603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520440"/>
            <a:ext cx="5394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0101A"/>
                </a:solidFill>
                <a:latin typeface="Inter"/>
              </a:rPr>
              <a:t>[KLINIK_NAME] in [STADT] steht für medizinisch fundierte Ästhetik mit klarer Patientenführung. Schwerpunkte: [BEHANDLUNG_X], [BEHANDLUNG_Y]. Was uns aufgefallen ist: [INSIGHT_AUS_DISCOVERY_CALL]. Der Anspruch der Klinik ist deutlich höher als das, was online aktuell sichtbar wird.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Consolas"/>
              </a:rPr>
              <a:t>Stimmt das so?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//03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Ihre Ziele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10101A"/>
                </a:solidFill>
                <a:latin typeface="Helvetica Neue"/>
              </a:rPr>
              <a:t>Was Sie erreichen wollen.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9184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Sie wollen [N] zusätzliche Selbstzahler-Patienten pro Monat. Korrekt?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6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Sie wollen den Anteil hochpreisiger Behandlungen ([BEHANDLUNG_X], [BEHANDLUNG_Y]) erhöhen. Korrekt?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9768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Sie wollen weniger Preisdiskussionen im Beratungsgespräch. Korrekt?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006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Sie wollen weniger Abhängigkeit von Empfehlungen, mehr planbare Nachfrage. Korrekt?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Consolas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30352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Sie wollen eine Auswertung, die Ihnen monatlich klar zeigt, was Marketing einbringt. Korrekt?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064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Consolas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80644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0101A"/>
                </a:solidFill>
                <a:latin typeface="Helvetica Neue"/>
              </a:rPr>
              <a:t>Sie wollen, dass Ihr Team behandelt, statt Marketing zu betreiben. Korrekt?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//04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Was aktuell fehlt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0101A"/>
                </a:solidFill>
                <a:latin typeface="Helvetica Neue"/>
              </a:rPr>
              <a:t>Lücken zwischen Anspruch und Auftritt.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004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0101A"/>
                </a:solidFill>
                <a:latin typeface="Inter"/>
              </a:rPr>
              <a:t>Aktuell: kein eigenes Behandlungsvideo. Patienten googeln, finden Stockfotos, vergleichen mit Mitbewerbern.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576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0101A"/>
                </a:solidFill>
                <a:latin typeface="Inter"/>
              </a:rPr>
              <a:t>Aktuell: Anzeigen führen auf die Hauptseite, nicht auf eine fokussierte Zielseite. Klickkosten verpuffen.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0101A"/>
                </a:solidFill>
                <a:latin typeface="Inter"/>
              </a:rPr>
              <a:t>Aktuell: keine Vorqualifizierung. Ihr Team telefoniert mit Preis-Shoppern statt mit zahlungsbereiten Patienten.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720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0101A"/>
                </a:solidFill>
                <a:latin typeface="Inter"/>
              </a:rPr>
              <a:t>Aktuell: keine systematische Bewertungs-Strecke. 72 Prozent der Patienten buchen nur ab 4+ Sternen.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0292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0101A"/>
                </a:solidFill>
                <a:latin typeface="Inter"/>
              </a:rPr>
              <a:t>Aktuell: keine Auswertung pro Behandlung. Sie wissen nicht, was Botox vs. Facelift pro Patient kostet.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8BAB5"/>
                </a:solidFill>
                <a:latin typeface="Consolas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4864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0101A"/>
                </a:solidFill>
                <a:latin typeface="Inter"/>
              </a:rPr>
              <a:t>Aktuell: kein klar geprüfter HWG-Kanal. Jede Werbeanzeige ist ein offenes Abmahnrisiko.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8BAB5"/>
                </a:solidFill>
                <a:latin typeface="Consolas"/>
              </a:rPr>
              <a:t>Jeder dieser Punkte ist Umsatz, der jeden Monat liegen bleibt.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//05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Über EINS Visuals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10101A"/>
                </a:solidFill>
                <a:latin typeface="Helvetica Neue"/>
              </a:rPr>
              <a:t>Wir sind Spezialisten, keine Allround-Agentur.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0101A"/>
                </a:solidFill>
                <a:latin typeface="Inter"/>
              </a:rPr>
              <a:t>EINS Visuals ist ein Akquise-System für Ästhetik- und Schönheitskliniken im DACH-Raum. Wir kombinieren medizinisch seriöse Videoproduktion, bezahlte Anzeigen und ein durch Künstliche Intelligenz gestütztes System zu einem vollständigen Akquisitionssystem.
Das Ziel ist nicht Sichtbarkeit. Das Ziel ist kontrolliertes, planbares Wachstum.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2461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Sitz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5204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0101A"/>
                </a:solidFill>
                <a:latin typeface="Helvetica Neue"/>
              </a:rPr>
              <a:t>Köln, Deutschland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40233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Region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2976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0101A"/>
                </a:solidFill>
                <a:latin typeface="Helvetica Neue"/>
              </a:rPr>
              <a:t>DACH (DE, AT, 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800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Spezialisierung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0749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0101A"/>
                </a:solidFill>
                <a:latin typeface="Helvetica Neue"/>
              </a:rPr>
              <a:t>Ästhetikkliniken (1.500–15.000 €)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715000"/>
            <a:ext cx="2697480" cy="77724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582472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Medienproduktion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9904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Video, Animation, Foto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9272" y="5715000"/>
            <a:ext cx="2697480" cy="77724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3864" y="582472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Bezahlte Anzeigen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864" y="609904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Meta + Google performance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5715000"/>
            <a:ext cx="2697480" cy="77724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582472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KI-Vorqualifizierung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609904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Echte Patienten, kein Spam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5715000"/>
            <a:ext cx="2697480" cy="77724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08008" y="582472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HWG-Prüfung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609904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Schutz vor Abmahnung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//06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Fallstudie · Branchenwert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0101A"/>
                </a:solidFill>
                <a:latin typeface="Helvetica Neue"/>
              </a:rPr>
              <a:t>Was realistisch in 6 Monaten möglich 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08960"/>
            <a:ext cx="11338560" cy="2286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3520440"/>
            <a:ext cx="1371600" cy="1371600"/>
          </a:xfrm>
          <a:prstGeom prst="ellipse">
            <a:avLst/>
          </a:prstGeom>
          <a:solidFill>
            <a:srgbClr val="EBEBE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338328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1">
                <a:solidFill>
                  <a:srgbClr val="10101A"/>
                </a:solidFill>
                <a:latin typeface="Helvetica Neue"/>
              </a:rPr>
              <a:t>"Wir telefonieren nicht mehr mit Preis-Shoppern. Die Anfragen, die durchkommen, sind vorbereitet und bereit.”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52"/>
                </a:solidFill>
                <a:latin typeface="Consolas"/>
              </a:rPr>
              <a:t>Dr. med. [NAME], Praxis für Ästhetische Medizin, [STADT]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577840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E7F6F5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650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Qualifizierte Anfragen / Monat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7044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Helvetica Neue"/>
              </a:rPr>
              <a:t>+47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5577840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E7F6F5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5650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Kosten pro Anfrage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587044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Helvetica Neue"/>
              </a:rPr>
              <a:t>38 € → 19 €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577840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E7F6F5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5650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Werbeertrag (6 Monate)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87044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Helvetica Neue"/>
              </a:rPr>
              <a:t>4,2x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A6A74"/>
                </a:solidFill>
                <a:latin typeface="Consolas"/>
              </a:rPr>
              <a:t>[INTERN: Platzhalter · vor echtem Pitch durch echte Klinik-Daten ersetzen]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//07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Vorgeschlagene Leistungen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10101A"/>
                </a:solidFill>
                <a:latin typeface="Helvetica Neue"/>
              </a:rPr>
              <a:t>Jede Lücke bekommt ein Werkzeug.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Lücke aus Folie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8BAB5"/>
                </a:solidFill>
                <a:latin typeface="Consolas"/>
              </a:rPr>
              <a:t>EINS-Leistung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0101A"/>
                </a:solidFill>
                <a:latin typeface="Inter"/>
              </a:rPr>
              <a:t>· Aktuell: kein eigenes Behandlungsvideo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60720" y="3474720"/>
            <a:ext cx="457200" cy="22860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429000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Haupt-Medien Produktion (BASISPAKET 01)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13048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0101A"/>
                </a:solidFill>
                <a:latin typeface="Inter"/>
              </a:rPr>
              <a:t>· Aktuell: Hauptseite statt Zielseite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60720" y="3858768"/>
            <a:ext cx="457200" cy="22860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13048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Konvertierende Ziel-Websites (BASISPAKET 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97096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0101A"/>
                </a:solidFill>
                <a:latin typeface="Inter"/>
              </a:rPr>
              <a:t>· Aktuell: keine Vorqualifizierung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60720" y="4242816"/>
            <a:ext cx="457200" cy="22860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97096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KI-Vorqualifizierung (Retainer)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81144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0101A"/>
                </a:solidFill>
                <a:latin typeface="Inter"/>
              </a:rPr>
              <a:t>· Aktuell: keine Bewertungs-Strecke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760720" y="4626864"/>
            <a:ext cx="457200" cy="22860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581144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Klinik-Reputationssystem (Retainer)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65192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0101A"/>
                </a:solidFill>
                <a:latin typeface="Inter"/>
              </a:rPr>
              <a:t>· Aktuell: keine Auswertung pro Behandlung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60720" y="5010912"/>
            <a:ext cx="457200" cy="22860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965192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Monatliche Auswertung + Auswertungs-Übersicht (Retainer)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0101A"/>
                </a:solidFill>
                <a:latin typeface="Inter"/>
              </a:rPr>
              <a:t>· Aktuell: kein HWG-geprüfter Werbekanal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760720" y="5394960"/>
            <a:ext cx="457200" cy="22860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349240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Rechtsprüfung der Werbung (BASISPAKET 04)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8704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Außerdem inklusive (ohne direktes Lücken-Mapping):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16305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0101A"/>
                </a:solidFill>
                <a:latin typeface="Helvetica Neue"/>
              </a:rPr>
              <a:t>+ Foto-Suite (BASISPAKET 02) · 20 hochwertige Fotos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55664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0101A"/>
                </a:solidFill>
                <a:latin typeface="Helvetica Neue"/>
              </a:rPr>
              <a:t>+ Behandlungs-Motion-Archiv (BASISPAKET 03) · Animationen für alle Behandlungen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//08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Wert für 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0101A"/>
                </a:solidFill>
                <a:latin typeface="Helvetica Neue"/>
              </a:rPr>
              <a:t>Die Rechnung, ehrlich.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08960"/>
            <a:ext cx="11338560" cy="109728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4612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0101A"/>
                </a:solidFill>
                <a:latin typeface="Helvetica Neue"/>
              </a:rPr>
              <a:t>Wert  =  (Traum-Ergebnis  ×  Wahrscheinlichkeit)  ÷  (Zeit bis Erfolg  ×  Aufwand)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0332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Hormozi Value Equation · konkret auf Ihre Klinik gerechnet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Traum-Ergebnis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25196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[6]   zusätzliche Patienten / Monat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71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× Ø Behandlungswert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47141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[3.000]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9087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─────────────────────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690872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1032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= Mehrwert / Monat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910328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[18.000] 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297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× 12 Monate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5129784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[216.000]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4924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─────────────────────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34924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5686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─ EINS-Investition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56869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[44.199] € (Setup + 12× Retainer Standard)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8815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─ Werbebudget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788152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[36.000] € (12× 3.000 €, an Meta + Google)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00760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══════════════════════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007608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27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8BAB5"/>
                </a:solidFill>
                <a:latin typeface="Consolas"/>
              </a:rPr>
              <a:t>= Netto-Wert Jahr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227064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8BAB5"/>
                </a:solidFill>
                <a:latin typeface="Consolas"/>
              </a:rPr>
              <a:t>ca. [136.000]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A6A74"/>
                </a:solidFill>
                <a:latin typeface="Consolas"/>
              </a:rPr>
              <a:t>Konservatives Szenario · Quelle: SCENARIOS in apps/website/lib/offer-data.ts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//09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Garantie für die ersten zwei Mandate Q3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0101A"/>
                </a:solidFill>
                <a:latin typeface="Helvetica Neue"/>
              </a:rPr>
              <a:t>Wir tragen das Risiko.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 i="0">
                <a:solidFill>
                  <a:srgbClr val="58BAB5"/>
                </a:solidFill>
                <a:latin typeface="Helvetica Neue"/>
              </a:rPr>
              <a:t>Sie tragen die Patienten.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11338560" cy="3017520"/>
          </a:xfrm>
          <a:prstGeom prst="roundRect">
            <a:avLst>
              <a:gd name="adj" fmla="val 4000"/>
            </a:avLst>
          </a:prstGeom>
          <a:solidFill>
            <a:srgbClr val="E7F6F5"/>
          </a:solidFill>
          <a:ln w="9525">
            <a:solidFill>
              <a:srgbClr val="58B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d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3520440"/>
            <a:ext cx="685609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92640" y="4526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0101A"/>
                </a:solidFill>
                <a:latin typeface="Helvetica Neue"/>
              </a:rPr>
              <a:t>Karam Issa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4A4A52"/>
                </a:solidFill>
                <a:latin typeface="Consolas"/>
              </a:rPr>
              <a:t>Gründer, EINS Visuals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2044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Kein Aufbau-Risiko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81304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Sie zahlen für die Aufbauarbeit erst, wenn die ersten qualifizierten Anfragen bei Ihnen liegen. Vorab kein Setup-Betrag fällig.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520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52044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100 % Geld zurück bei verfehltem Ziel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81304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Erreichen wir die vereinbarte Anfragen-Schwelle in 90 Tagen nicht, erstatten wir alle bis dahin gezahlten Gebühren. Vollständig, ohne Diskussion.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89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8912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Wir arbeiten kostenlos weiter, bis das Ziel steht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68172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Falls 90 Tage nicht reichen, betreuen wir Sie so lange unentgeltlich, bis die Schwelle erreicht ist.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389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38912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Geschwindigkeits-Garantie: erste Anfragen in 21 Tagen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68172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Liegt nach drei Wochen ab Kampagnen-Launch keine einzige qualifizierte Anfrage vor, erlassen wir den nächsten Monat komplett.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57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5780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Kein Lock-in ab Tag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55040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Sie können monatlich kündigen, vom ersten Tag an. Keine 12-Monats-Bindung, keine Mindestlaufzeit.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5257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25780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Direkt vom Gründer betreut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55040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Kein Junior-Account-Manager, kein Praktikant, keine Outsourcing-Schiene. Sie arbeiten persönlich mit Karam Issa, dem Gründer, an Ihrer Kampagne.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Was wir im Gegenzug erwarten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64465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Einen Produktionstag in Ihrer Klinik (4 bis 6 h)  ·  Freigabe für Case-Study und Testimonial nach Tag 90  ·  Namentliche Nennung als Referenz (Logo, Klinikname, optional Foto)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//10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Investition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0101A"/>
                </a:solidFill>
                <a:latin typeface="Helvetica Neue"/>
              </a:rPr>
              <a:t>Drei Optionen. Eine ist für Sie gemacht.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0"/>
            <a:ext cx="11338560" cy="457200"/>
          </a:xfrm>
          <a:prstGeom prst="roundRect">
            <a:avLst>
              <a:gd name="adj" fmla="val 30000"/>
            </a:avLst>
          </a:prstGeom>
          <a:solidFill>
            <a:srgbClr val="E7F6F5"/>
          </a:solidFill>
          <a:ln w="9525">
            <a:solidFill>
              <a:srgbClr val="58B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1635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8BAB5"/>
                </a:solidFill>
                <a:latin typeface="Consolas"/>
              </a:rPr>
              <a:t>Werbebudget separat · direkt an Meta + Google · min. 3.000 €/Monat · volle Transparenz, kein Cent geht an EINS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3703320" cy="28346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A6A74"/>
                </a:solidFill>
                <a:latin typeface="Consolas"/>
              </a:rPr>
              <a:t>Paket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0101A"/>
                </a:solidFill>
                <a:latin typeface="Helvetica Neue"/>
              </a:rPr>
              <a:t>Standard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01A"/>
                </a:solidFill>
                <a:latin typeface="Helvetica Neue"/>
              </a:rPr>
              <a:t>2.600 €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45537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52"/>
                </a:solidFill>
                <a:latin typeface="Consolas"/>
              </a:rPr>
              <a:t>/ Monat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Setup 12.999 € · einmalig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9320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Mindestlaufzeit 3 Monate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85816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Kampagnensteuerung &amp; Optimierung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8698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KI-Vorqualifizierung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Monatliche Auswertung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8932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Standard-Support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90488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Monatliches Strategie-Meeting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383280"/>
            <a:ext cx="3703320" cy="2834640"/>
          </a:xfrm>
          <a:prstGeom prst="roundRect">
            <a:avLst>
              <a:gd name="adj" fmla="val 4000"/>
            </a:avLst>
          </a:prstGeom>
          <a:solidFill>
            <a:srgbClr val="E7F6F5"/>
          </a:solidFill>
          <a:ln w="9525">
            <a:solidFill>
              <a:srgbClr val="58B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46320" y="3218688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264408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onsolas"/>
              </a:rPr>
              <a:t>Empfohlen für [KLINIK_NAME]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6118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A6A74"/>
                </a:solidFill>
                <a:latin typeface="Consolas"/>
              </a:rPr>
              <a:t>Paket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88620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58BAB5"/>
                </a:solidFill>
                <a:latin typeface="Helvetica Neue"/>
              </a:rPr>
              <a:t>Empfohlen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3891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01A"/>
                </a:solidFill>
                <a:latin typeface="Helvetica Neue"/>
              </a:rPr>
              <a:t>3.900 €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5537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52"/>
                </a:solidFill>
                <a:latin typeface="Consolas"/>
              </a:rPr>
              <a:t>/ Monat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892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Setup 12.999 € · einmalig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9320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Mindestlaufzeit 3 Monate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385816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Alles in Paket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58698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Priorität-Support &lt; 3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7881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2× monatlich Strategie-Meetings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98932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1 neues Medien-Asset / Quartal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190488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Erweiterte Auswertungs-Übersicht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6391656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Manager-Account-Management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383280"/>
            <a:ext cx="3703320" cy="28346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36118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A6A74"/>
                </a:solidFill>
                <a:latin typeface="Consolas"/>
              </a:rPr>
              <a:t>Paket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88620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0101A"/>
                </a:solidFill>
                <a:latin typeface="Helvetica Neue"/>
              </a:rPr>
              <a:t>Premium+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3891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01A"/>
                </a:solidFill>
                <a:latin typeface="Helvetica Neue"/>
              </a:rPr>
              <a:t>5.900 €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45537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52"/>
                </a:solidFill>
                <a:latin typeface="Consolas"/>
              </a:rPr>
              <a:t>/ Monat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92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Setup 12.999 € · einmalig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09320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4A52"/>
                </a:solidFill>
                <a:latin typeface="Consolas"/>
              </a:rPr>
              <a:t>Mindestlaufzeit 6 Monate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385816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Alles in Paket 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58698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2 neue Medien-Assets / Quartal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7881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Wöchentliche Strategie-Calls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598932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Dedizierter Strategie-Manager + Junior-Editor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6190488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Klinik-Microsite mit Behandlungs-Detailseiten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6391656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· Mobile-App-Lite (Reminder + Bewertungen)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//11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Nächste Schritte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10101A"/>
                </a:solidFill>
                <a:latin typeface="Helvetica Neue"/>
              </a:rPr>
              <a:t>Von Tag 1 bis zur ersten Anfrage.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9184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3520440"/>
            <a:ext cx="411480" cy="411480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584448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56616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Woche 1 bis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101A"/>
                </a:solidFill>
                <a:latin typeface="Helvetica Neue"/>
              </a:rPr>
              <a:t>Aufbau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0101A"/>
                </a:solidFill>
                <a:latin typeface="Inter"/>
              </a:rPr>
              <a:t>Produktionstag in [STADT], CRM-Anbindung, KI-HWG-Prüfung gestartet.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9252" y="4251960"/>
            <a:ext cx="164592" cy="27432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9272" y="329184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7872" y="3520440"/>
            <a:ext cx="411480" cy="411480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3584448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2" y="356616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Woche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4069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101A"/>
                </a:solidFill>
                <a:latin typeface="Helvetica Neue"/>
              </a:rPr>
              <a:t>Launch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457200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0101A"/>
                </a:solidFill>
                <a:latin typeface="Inter"/>
              </a:rPr>
              <a:t>Kampagnen live auf Meta und Google. Erste Anfragen innerhalb 7 Tagen erwartet.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21324" y="4251960"/>
            <a:ext cx="164592" cy="27432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1344" y="329184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9944" y="3520440"/>
            <a:ext cx="411480" cy="411480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3584448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356616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Ab Woche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069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101A"/>
                </a:solidFill>
                <a:latin typeface="Helvetica Neue"/>
              </a:rPr>
              <a:t>Optimierung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57200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0101A"/>
                </a:solidFill>
                <a:latin typeface="Inter"/>
              </a:rPr>
              <a:t>A/B-Tests, Lead-Qualität feinjustiert, Kosten pro Anfrage sinken.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83396" y="4251960"/>
            <a:ext cx="164592" cy="274320"/>
          </a:xfrm>
          <a:prstGeom prst="rightArrow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43416" y="329184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E7F6F5"/>
          </a:solidFill>
          <a:ln w="9525">
            <a:solidFill>
              <a:srgbClr val="58B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72016" y="3520440"/>
            <a:ext cx="411480" cy="411480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2016" y="3584448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0656" y="356616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8BAB5"/>
                </a:solidFill>
                <a:latin typeface="Consolas"/>
              </a:rPr>
              <a:t>Tag 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4069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101A"/>
                </a:solidFill>
                <a:latin typeface="Helvetica Neue"/>
              </a:rPr>
              <a:t>Bilanz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457200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0101A"/>
                </a:solidFill>
                <a:latin typeface="Inter"/>
              </a:rPr>
              <a:t>ROI-Analyse, Pipeline-Bewertung, Wachstumsplan für Monat 4 bis 12.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5216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0101A"/>
                </a:solidFill>
                <a:latin typeface="Consolas"/>
              </a:rPr>
              <a:t>Was Ihre Klinik beiträgt:  1 Produktionstag (4 bis 6 h)  ·  90-min Onboarding  ·  30-min monatliches Strategie-Meeting.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2648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8BAB5"/>
                </a:solidFill>
                <a:latin typeface="Helvetica Neue"/>
              </a:rPr>
              <a:t>Den Rest übernehmen wir.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//12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Häufige Fragen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0101A"/>
                </a:solidFill>
                <a:latin typeface="Helvetica Neue"/>
              </a:rPr>
              <a:t>Bereits vorab beantwortet.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Werbung hat bei uns noch nie funktioniert.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5532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Meistens lag es nicht am Geld, sondern am System dahinter. Schwache Seiten, austauschbare Videos und fehlende Filter verbrennen jedes Budget. Genau das ersetzen wir.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26080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Können wir erstmal klein anfangen, mit 500 bis 1.000 €?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291840"/>
            <a:ext cx="5532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Nein. Damit Instagram und Google Ihre besten Patienten finden, brauchen die Plattformen genug Daten. Unter 3.000 €/Monat lernen sie nicht zuverlässig. Ein einziger Premium-Patient deckt das Werbebudget bereits ab.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60520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Was, wenn es nicht funktioniert?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5532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Sie haben unsere 6-fache Garantie aus Folie 11. Inklusive 100 % Geld zurück bei verfehltem Ziel. Sie tragen kein Risiko.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160520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Wir haben doch schon eine Website.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26280"/>
            <a:ext cx="5532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Ihre Website ist gut, um gefunden zu werden. Bezahlte Anzeigen brauchen ablenkungsfreie Zielseiten, sonst verpuffen 70 % des Budgets. Wir lassen Ihre Hauptseite unangetastet.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94960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Sind Sie DSGVO-konform?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5532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Ja, vollständig. Inklusive: KI-gestützte Prüfung jeder Werbeaussage gegen typische HWG-Abmahnmuster, anwaltliche Eskalation in Grenzfällen vor Live-Schaltung.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5394960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101A"/>
                </a:solidFill>
                <a:latin typeface="Helvetica Neue"/>
              </a:rPr>
              <a:t>Können wir nur Videos oder nur Anzeigen buchen?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760720"/>
            <a:ext cx="5532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0101A"/>
                </a:solidFill>
                <a:latin typeface="Inter"/>
              </a:rPr>
              <a:t>Nein. Inhalt ohne Anzeigen wird nicht gesehen. Anzeigen ohne starken Inhalt überzeugen nicht. Nur das Zusammenspiel liefert planbare Ergebnisse.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EINS Visuals · Strategievorschlag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A6A74"/>
                </a:solidFill>
                <a:latin typeface="Consolas"/>
              </a:rPr>
              <a:t>//13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i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50243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57200" y="1408176"/>
            <a:ext cx="109728" cy="109728"/>
          </a:xfrm>
          <a:prstGeom prst="ellipse">
            <a:avLst/>
          </a:prstGeom>
          <a:solidFill>
            <a:srgbClr val="58B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8BAB5"/>
                </a:solidFill>
                <a:latin typeface="Consolas"/>
              </a:rPr>
              <a:t>Entscheidung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10101A"/>
                </a:solidFill>
                <a:latin typeface="Helvetica Neue"/>
              </a:rPr>
              <a:t>Zwei Wege nach vorne.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58BAB5"/>
          </a:solidFill>
          <a:ln w="9525">
            <a:solidFill>
              <a:srgbClr val="58B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onsolas"/>
              </a:rPr>
              <a:t>Option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Helvetica Neue"/>
              </a:rPr>
              <a:t>Paket B starten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onsolas"/>
              </a:rPr>
              <a:t>Setup 12.999 € + Retainer 3.900 €/Monat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Wir reservieren Ihren Produktions-Slot Q3 2026 ab heute.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38328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65760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A6A74"/>
                </a:solidFill>
                <a:latin typeface="Consolas"/>
              </a:rPr>
              <a:t>Option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402336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101A"/>
                </a:solidFill>
                <a:latin typeface="Helvetica Neue"/>
              </a:rPr>
              <a:t>30-min Follow-up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754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4A52"/>
                </a:solidFill>
                <a:latin typeface="Consolas"/>
              </a:rPr>
              <a:t>Termin: [FOLLOWUP_DATUM]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507492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0101A"/>
                </a:solidFill>
                <a:latin typeface="Inter"/>
              </a:rPr>
              <a:t>Wir klären offene Fragen. Sie entscheiden in Ruhe.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03504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A6A74"/>
                </a:solidFill>
                <a:latin typeface="Consolas"/>
              </a:rPr>
              <a:t>Beide Optionen verbindlich bis [DATUM_GÜLTIG_BIS] · danach öffnen wir den Slot für die Warteliste.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10101A"/>
                </a:solidFill>
                <a:latin typeface="Consolas"/>
              </a:rPr>
              <a:t>team@einsvisuals.com  ·  +49 162 8456643  ·  einsvisuals.com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