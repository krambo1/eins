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ANKER SETZEN. Diese Folie sagt: das ist eine Strategie für [Praxis], kein Standard-Pitch. Vorab: Praxis-Logo in den rechten oberen Block einsetzen, [PRAXIS_NAME] und [DATUM] ersetzen. 5 Sekunden auf der Folie bleiben, dann weiter.</a:t>
            </a:r>
          </a:p>
          <a:p/>
          <a:p>
            <a:r>
              <a:t>Quelle Branding: Notion `Branding` page (Akzent #58BAB5).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 scannen lassen, nicht vorlesen. 'Wir gehen es Schritt für Schritt durch. Die Investition kommt am Ende, damit wir vorher klar haben, warum.'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PATTERN INTERRUPT. Ruhig vorlesen, eine Sekunde Pause am Ende. Dann fragen: 'Wie würden Sie Ihre Praxis im Vergleich zu Ihrem Marketing aktuell beschreiben?' Erwartete Antwort: Praxis gut, Marketing schwächer. Genau dort holen wir sie ab.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 Yes #1. Diese Folie zeigt: ich habe Hausaufgaben gemacht. Bewusst die Praxis in gutem Licht zeichnen. Das ist Common Ground, kein Pitch. Erwartete Antwort: 'Ja, stimmt.' Wenn eine Korrektur kommt: zuhören, nicht abwehren, in den Goals (Folie 5) mental anpassen. Vorab: Platzhalter [PRAXIS_NAME], [STADT], [BEHANDLUNGS-SCHWERPUNKT] etc. ersetzen.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YES-LADDER KERN. Jeden Punkt einzeln einblenden (in PPT: 'Animation Painter' → Appear → On Click pro Punkt). Nach jedem Punkt anhalten und das Nicken / Ja abwarten. Nicht weiterklicken bevor das Yes da ist. Wenn ein Punkt nicht passt: streichen, nicht erzwingen. Ziel: 6 Yeses bis Folienende.</a:t>
            </a:r>
          </a:p>
          <a:p/>
          <a:p>
            <a:r>
              <a:t>Quelle für die Ziel-Liste: Discovery-Call-Notizen + Notion `ICP` (Pain Points + Wünsche).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LOSS AVERSION. Diagnose, kein Vorwurf. Bei jedem Punkt fragen: 'Erkennen Sie das wieder?' Wenn ja, weiter. Nicht die Marketing-Person der Praxis beschimpfen, das System diagnostizieren.</a:t>
            </a:r>
          </a:p>
          <a:p/>
          <a:p>
            <a:r>
              <a:t>Quelle 72%-Zahl: rater8 'How Patients Choose Their Doctors' 2025 (Notion `Statistiken` #8).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BEWEIS. Das ist der stärkste Beweis, den EINS ohne eigene Kundenfälle liefern kann: Die Praxis sieht ihre eigenen Anzeigen, bevor sie zahlt. Vorab: die drei fertigen Anzeigen als Bild oder Standbild in die Rahmen einsetzen, [BEHANDLUNG_X], [ÜBERSCHRIFT_1] bis [ÜBERSCHRIFT_3] und [ANZEIGENTEXT_1] bis [ANZEIGENTEXT_3] ersetzen. Alle Platzhalter stehen in der README.</a:t>
            </a:r>
          </a:p>
          <a:p/>
          <a:p>
            <a:r>
              <a:t>Erst zeigen, dann fragen: 'Was würden Sie an diesen Anzeigen ändern?' Zuhören, nicht erklären. Die Anzeigen liegen im Gespräch auf dem Bildschirm, das Teardown-Video hat sie schon am Ende gezeigt.</a:t>
            </a:r>
          </a:p>
          <a:p/>
          <a:p>
            <a:r>
              <a:t>Grenzen: Vor einer unterschriebenen Einwilligung wird nie das Gesicht oder die Stimme des Arztes nachgebaut, auch nicht für diese Vorschau. Die Vorschau muss HWG-sauber sein (kein Vorher-Nachher, keine KI-Patientinnen, keine KI-Ergebnisse). Keine Zahl nennen, die nicht belegt ist: EINS hat noch keine eigenen Ergebnisse.</a:t>
            </a:r>
          </a:p>
          <a:p/>
          <a:p>
            <a:r>
              <a:t>Verkauft wird der Nutzen, nicht die Technik: 'Sie müssen nie vor die Kamera' und 'schneller Start'. Auf Nachfrage offen sagen, dass es KI ist.</a:t>
            </a:r>
          </a:p>
          <a:p/>
          <a:p>
            <a:r>
              <a:t>Quelle: docs/umbau-ki-organisch/KANON.md Abschnitte 1 und 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Erst hier, Folie 8, reden wir über uns. Zwei Sätze, dann zurück zur Praxis. 'Was Sie merken werden: wir sind keine Allround-Agentur. Wir bauen ein System.'</a:t>
            </a:r>
          </a:p>
          <a:p/>
          <a:p>
            <a:r>
              <a:t>Quelle: Notion `EINS Grundlagen` + `Branding`, docs/umbau-ki-organisch/KANON.md Abschnitt 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WICHTIG INTERN: Diese Folie ist ein leerer Platzhalter. EINS hat aktuell (Stand 2026-09-30) keine eigenen Ergebnisse und keine geschlossenen Kundenfälle, deshalb stehen hier weder Zahlen noch ein Zitat. Nie wieder Beispielwerte eintragen, die wie Ergebnisse gelesen werden können.</a:t>
            </a:r>
          </a:p>
          <a:p/>
          <a:p>
            <a:r>
              <a:t>Diese Folie NUR verwenden, wenn echte Daten einer Praxis vorliegen (Zitat und Zahlen mit Freigabe der Praxis). Sonst: ausblenden ODER ersetzen durch einen zitierten Branchenwert mit klarer Quellenangabe, z. B. '1.252 % Werbeertrag bei einer Implantat-Kampagne (Australien, 2018)' aus Notion `Statistiken` #3. Nicht lügen. Nie als eigene Praxis oder eigenes Ergebnis ausgeben.</a:t>
            </a:r>
          </a:p>
          <a:p/>
          <a:p>
            <a:r>
              <a:t>Der eigentliche Beweis dieses Gesprächs sind die Vorschau-Anzeigen auf Folie 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LOGISCHER CLOSE. Drei Ebenen, ein Paket, nie einzeln. Für jede Ebene die Lücke aus Folie 6 nennen, die sie schließt (steht unten auf der Karte). Frage am Ende: 'Macht das in Ihrem Kontext Sinn? Erkennen Sie die Logik?' Erwartete Antwort: ja. Das ist der finale Yes vor dem Geld-Frame.</a:t>
            </a:r>
          </a:p>
          <a:p/>
          <a:p>
            <a:r>
              <a:t>Reichweite: organisch zuerst, Anzeigen danach und optional. Das Ziel bleibt, dass die Praxis Werbebudget hinter die Beiträge setzt, die Anfragen bringen. Es ist nur nicht mehr die Eintrittskarte. Organisch findet heraus, was wirkt, Werbebudget macht es größer.</a:t>
            </a:r>
          </a:p>
          <a:p/>
          <a:p>
            <a:r>
              <a:t>Verkauft wird der Nutzen: 'Sie müssen nie vor die Kamera' und 'schneller Start' nach vorne. Auf Nachfrage offen sagen, dass es KI ist. Keine Stückzahl nennen ('X Beiträge pro Monat'): es gibt keine Stückzahl-Zusage.</a:t>
            </a:r>
          </a:p>
          <a:p/>
          <a:p>
            <a:r>
              <a:t>Schutz vor Nachahmern: KI-Anzeigen kann jeder bauen. Was niemand sonst hat, ist die Auswertung, welcher Beitrag zu einer behandelten Patientin mit Umsatz geführt hat (Portal plus PVS-Bridge).</a:t>
            </a:r>
          </a:p>
          <a:p/>
          <a:p>
            <a:r>
              <a:t>Quelle: docs/umbau-ki-organisch/KANON.md Abschnitt 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WERTGLEICHUNG KONKRET. Vorab: die Zahlen der Praxis aus dem Gespräch in die Platzhalter eintragen ([N_PATIENTEN], [Ø_BEHANDLUNGSWERT], [MEHRWERT_MONAT], [MEHRWERT_JAHR], [NETTO_WERT_JAHR_1]). Nicht durch mehrere Szenarien gehen. Keine Zahl nennen, die die Praxis nicht selbst gesagt hat: EINS hat noch keine eigenen Ergebnisse.</a:t>
            </a:r>
          </a:p>
          <a:p/>
          <a:p>
            <a:r>
              <a:t>Die vier Hebel der Gleichung, mündlich: Traum-Ergebnis (Ziele, Folie 5). Wahrscheinlichkeit: Sie zahlen erst ab der ersten qualifizierten Anfrage über EINS (Folie 12). Zeit bis Erfolg: erste Beiträge ab Woche 2 (Folie 15). Aufwand: einmal wenige Minuten Aufnahme, danach wenige Minuten pro Woche für die Freigabe.</a:t>
            </a:r>
          </a:p>
          <a:p/>
          <a:p>
            <a:r>
              <a:t>Das Werbebudget steht bewusst nicht in der Rechnung: Zu Beginn brauchen Sie keins. Sobald sichtbar ist, welche Beiträge Anfragen bringen, schlagen wir vor, wie viel dahinter gehört (Folie 14). Keine Mindest- oder Richtzahl nennen.</a:t>
            </a:r>
          </a:p>
          <a:p/>
          <a:p>
            <a:r>
              <a:t>Quelle: docs/umbau-ki-organisch/KANON.md Abschnitte 4, 5 und 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RISIKO UMKEHREN, VOR DEM PREIS. Den Wortlaut ruhig vorlesen, nichts ergänzen. Beide Grenzen immer zusammen nennen, auch mündlich: 'erste qualifizierte Anfrage über EINS' und '90 Tage'. Nie 'wir garantieren Anfragen' sagen und keine Rückzahlung versprechen: Sie zahlen erst ab der ersten Anfrage, es gibt nichts zurückzuzahlen. Es ist eine Garantie, kein Ausprobieren, und sie gilt für jede Praxis, ohne Verknappung.</a:t>
            </a:r>
          </a:p>
          <a:p/>
          <a:p>
            <a:r>
              <a:t>Wenn 'Was zählt als Anfrage?' kommt: nur die drei EINS-Messwege (Formular auf einer EINS-Zielseite, Anruf auf der EINS-Tracking-Nummer, Buchung über den EINS-Buchungslink). Selbstauskünfte ('Wie sind Sie auf uns aufmerksam geworden?') lösen die Rechnung nicht aus. Nicht die erste gebuchte Beratung ist der Auslöser, weil die am Rückruf des Praxisteams hängt. Der KI-Score entscheidet nie, ob eine Anfrage zählt.</a:t>
            </a:r>
          </a:p>
          <a:p/>
          <a:p>
            <a:r>
              <a:t>Wenn 'Was, wenn wir mit der Freigabe in Verzug sind?' kommt: Jeder Verzugstag verlängert die 90 Tage um einen Tag, wir teilen jeden Verzug per E-Mail mit. Es gibt keine automatische Freigabe: Kein Beitrag ohne Ihre Freigabe.</a:t>
            </a:r>
          </a:p>
          <a:p/>
          <a:p>
            <a:r>
              <a:t>Das Werbebudget der Praxis trägt keine eigene Garantie, keine Garantie übernimmt es oder friert den Preis ein.</a:t>
            </a:r>
          </a:p>
          <a:p/>
          <a:p>
            <a:r>
              <a:t>Neben der Garantie versprechen wir (steuerbar, aber keine Garantie): Kein Beitrag ohne Ihre Freigabe. Sie müssen nie vor die Kamera. Jede Anfrage mit Herkunft im Portal.</a:t>
            </a:r>
          </a:p>
          <a:p/>
          <a:p>
            <a:r>
              <a:t>Quelle: docs/umbau-ki-organisch/KANON.md Abschnitte 5 und 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 UND KLON. Reihenfolge im Gespräch: Vorschau-Anzeigen (Folie 7), Wert-Rechnung (Folie 11), Garantie (Folie 12), diese Folie, dann Preis (Folie 14).</a:t>
            </a:r>
          </a:p>
          <a:p/>
          <a:p>
            <a:r>
              <a:t>So sagen: 'Sobald die erste Rechnung bezahlt ist, dürfen Sie alles, was für Ihre Praxis entstanden ist, dauerhaft nutzen und bearbeiten, auch nach einer Kündigung und mit einer anderen Agentur. Und Ihr Klon gehört Ihnen: Wir nutzen Ihr Gesicht und Ihre Stimme nur für Ihre Praxis und löschen das Modell spätestens 30 Tage nach Vertragsende.'</a:t>
            </a:r>
          </a:p>
          <a:p/>
          <a:p>
            <a:r>
              <a:t>Formulierung 'dauerhaft nutzen', nie 'Urheberrecht': Reine KI-Ergebnisse sind in Deutschland meist nicht urheberrechtlich geschützt, die Zusage ist vertraglich.</a:t>
            </a:r>
          </a:p>
          <a:p/>
          <a:p>
            <a:r>
              <a:t>Endet die Zusammenarbeit nach 90 Tagen ohne Anfrage: Bereits veröffentlichte Beiträge dürfen auf den Kanälen der Praxis stehen bleiben, weitere Nutzungsrechte entstehen nicht. Widerruft der Inhaber die Einwilligung, stoppt EINS sofort alle Beiträge mit dem Klon und löscht das Modell.</a:t>
            </a:r>
          </a:p>
          <a:p/>
          <a:p>
            <a:r>
              <a:t>Ehrlich bleiben: KI-Material lässt sich billig neu bauen. Was die Praxis wirklich hält, ist die Auswertung im Portal, nicht die Dateien. Werbekonten sind nicht Teil dieses Versprechens. Anwalt vor der ersten Unterschrift: Kennzeichnung des Klons (AI Act Art. 50) und Berufsrecht (MBO-Ä § 27).</a:t>
            </a:r>
          </a:p>
          <a:p/>
          <a:p>
            <a:r>
              <a:t>Quelle: docs/umbau-ki-organisch/KANON.md Abschnitte 7 und 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PAKET. Den Preis einmal nennen, dann Pause. Nicht entschuldigen, nicht relativieren, keine Optionen anbieten: Es gibt ein Paket, keine Einrichtungsgebühr, monatlich kündbar.</a:t>
            </a:r>
          </a:p>
          <a:p/>
          <a:p>
            <a:r>
              <a:t>Der Hebel ist der Kasten rechts oben: 'Die erste Rechnung kommt erst, wenn die erste qualifizierte Anfrage über EINS in Ihrem Portal liegt.' Kurz sagen, dabei die 90 Tage mitnennen, nicht ausbauen (Details Folie 12).</a:t>
            </a:r>
          </a:p>
          <a:p/>
          <a:p>
            <a:r>
              <a:t>Werbebudget (Kasten rechts unten), immer in dieser Reihenfolge nennen: Organisch findet heraus, was wirkt. Werbebudget macht es größer. Ab der ersten qualifizierten Anfrage schlägt EINS konkret vor, welches Budget hinter welche Beiträge und Behandlungen gehört. Die Höhe richtet sich nach den Kosten pro Anfrage, die dann sichtbar sind. Keine Mindest- oder Richtzahl nennen, keine erfinden. Das Ziel bleibt, dass jede Praxis in Werbebudget investiert, es ist nur nicht die Eintrittskarte.</a:t>
            </a:r>
          </a:p>
          <a:p/>
          <a:p>
            <a:r>
              <a:t>Wenn 'Das ist teuer' kommt: zur FAQ-Folie 16 vorblättern. Keine Knappheit, keine Frist.</a:t>
            </a:r>
          </a:p>
          <a:p/>
          <a:p>
            <a:r>
              <a:t>Quelle: docs/umbau-ki-organisch/KANON.md Abschnitt 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KONKRETHEIT. Jeden Schritt nennen. Onboarding-Gespräch und Klon-Aufnahme werden im Gespräch gleich terminiert. Frage am Ende: 'Wann passt Ihnen das Onboarding-Gespräch, Anfang oder Ende nächster Woche?' Assumed-Choice, nicht 'wollen Sie' sondern 'wann'.</a:t>
            </a:r>
          </a:p>
          <a:p/>
          <a:p>
            <a:r>
              <a:t>Ablauf (alles aus der Ferne, keine Anreise): Tag der Unterschrift: die 90 Tage beginnen. Woche 1: Onboarding-Gespräch per Video, Einwilligung, Zugänge, Klon-Aufnahme am Handy. Woche 1 bis 2: Klon und Zielseite stehen, erste Beiträge zur Freigabe. Ab Woche 2: erste Beiträge live, Anfragen laufen mit Herkunft ins Portal. Erste qualifizierte Anfrage: erste Rechnung, EINS schlägt vor, welches Werbebudget hinter welche Beiträge gehört. Laufend: wöchentliche Freigabe, monatliche Auswertung im Portal (welche Beiträge und Anzeigen liefen, welche gestoppt wurden, wie viele Anfragen kamen, wie viele Behandlungen daraus wurden). Tag 90 plus Verzugstage: spätester Zeitpunkt für die erste Anfrage, sonst endet die Zusammenarbeit ohne Kosten.</a:t>
            </a:r>
          </a:p>
          <a:p/>
          <a:p>
            <a:r>
              <a:t>Freigaben laufen für die ersten Kunden per E-Mail, eine Freigabe im Portal kommt danach. Keine Stückzahl nennen.</a:t>
            </a:r>
          </a:p>
          <a:p/>
          <a:p>
            <a:r>
              <a:t>Quelle: docs/umbau-ki-organisch/KANON.md Abschnitte 6 und 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EINWAND-VORGRIFF. Die Antworten stehen wörtlich im Kanon (Abschnitt 10), nicht umformulieren. Weitere Einwände, die hier nicht stehen:</a:t>
            </a:r>
          </a:p>
          <a:p/>
          <a:p>
            <a:r>
              <a:t>'Kann ich nur die Videos oder nur die Anzeigen haben?': 'Es gibt ein Paket. Beiträge allein bringen Reichweite. Erst Zielseite, Vorqualifizierung und Portal machen daraus Anfragen, die Sie bis zur Behandlung nachverfolgen können.'</a:t>
            </a:r>
          </a:p>
          <a:p/>
          <a:p>
            <a:r>
              <a:t>'Was kostet das?': '1.900 € netto im Monat, keine Einrichtungsgebühr, monatlich kündbar. Die erste Rechnung kommt erst mit der ersten qualifizierten Anfrage.'</a:t>
            </a:r>
          </a:p>
          <a:p/>
          <a:p>
            <a:r>
              <a:t>Wenn ein Einwand kommt, der nicht hier steht: Sales Playbook (Notion), Abschnitt Einwände, im Kopf haben. Wenn 'müssen wir intern besprechen' kommt: Folie 17 zeigen und das Folgegespräch direkt buchen, NICHT per E-Mail hinterherjagen lassen.</a:t>
            </a:r>
          </a:p>
          <a:p/>
          <a:p>
            <a:r>
              <a:t>Quelle: docs/umbau-ki-organisch/KANON.md Abschnitt 10.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ZWEI-OPTIONEN-ABSCHLUSS. Kein Ja/Nein. Karam stellt offen: 'Was passt für Sie besser, heute starten oder nochmal in zwei Tagen sprechen?' Schweigen aushalten. Keine Frist setzen, keine Warteliste, keine Verknappung.</a:t>
            </a:r>
          </a:p>
          <a:p/>
          <a:p>
            <a:r>
              <a:t>Wenn 'B' kommt: sofort Termin im Kalender buchen, LIVE, nicht nachträglich per E-Mail.</a:t>
            </a:r>
          </a:p>
          <a:p>
            <a:r>
              <a:t>Wenn 'A' kommt: Onboarding-Gespräch und Klon-Aufnahme sofort terminieren, Vertrag innerhalb 24h nachreichen (Anwalt vor der ersten Unterschrift, siehe KANON Abschnitt 8).</a:t>
            </a:r>
          </a:p>
          <a:p/>
          <a:p>
            <a:r>
              <a:t>Die Garantie immer mit beiden Grenzen nennen: 'erste qualifizierte Anfrage über EINS' und '90 Tage'.</a:t>
            </a:r>
          </a:p>
          <a:p/>
          <a:p>
            <a:r>
              <a:t>Quelle: docs/umbau-ki-organisch/KANON.md Abschnitte 4, 5 und 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ins-logo.png"/>
          <p:cNvPicPr>
            <a:picLocks noChangeAspect="1"/>
          </p:cNvPicPr>
          <p:nvPr/>
        </p:nvPicPr>
        <p:blipFill>
          <a:blip r:embed="rId2"/>
          <a:stretch>
            <a:fillRect/>
          </a:stretch>
        </p:blipFill>
        <p:spPr>
          <a:xfrm>
            <a:off x="502920" y="411480"/>
            <a:ext cx="1363902" cy="548640"/>
          </a:xfrm>
          <a:prstGeom prst="rect">
            <a:avLst/>
          </a:prstGeom>
        </p:spPr>
      </p:pic>
      <p:sp>
        <p:nvSpPr>
          <p:cNvPr id="5" name="Rounded Rectangle 4"/>
          <p:cNvSpPr/>
          <p:nvPr/>
        </p:nvSpPr>
        <p:spPr>
          <a:xfrm>
            <a:off x="9418320" y="457200"/>
            <a:ext cx="2377440" cy="914400"/>
          </a:xfrm>
          <a:prstGeom prst="roundRect">
            <a:avLst>
              <a:gd name="adj" fmla="val 8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0" y="713232"/>
            <a:ext cx="2377440" cy="457200"/>
          </a:xfrm>
          <a:prstGeom prst="rect">
            <a:avLst/>
          </a:prstGeom>
          <a:noFill/>
        </p:spPr>
        <p:txBody>
          <a:bodyPr wrap="square" lIns="0" rIns="0" tIns="0" bIns="0" anchor="t">
            <a:spAutoFit/>
          </a:bodyPr>
          <a:lstStyle/>
          <a:p>
            <a:pPr algn="ctr">
              <a:lnSpc>
                <a:spcPct val="115000"/>
              </a:lnSpc>
            </a:pPr>
            <a:r>
              <a:rPr sz="1100" b="0" i="0">
                <a:solidFill>
                  <a:srgbClr val="4A4A52"/>
                </a:solidFill>
                <a:latin typeface="Consolas"/>
              </a:rPr>
              <a:t>[PRAXIS_LOGO]</a:t>
            </a:r>
          </a:p>
        </p:txBody>
      </p:sp>
      <p:sp>
        <p:nvSpPr>
          <p:cNvPr id="7" name="Oval 6"/>
          <p:cNvSpPr/>
          <p:nvPr/>
        </p:nvSpPr>
        <p:spPr>
          <a:xfrm>
            <a:off x="822960" y="241401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37744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Strategievorschlag · für [PRAXIS_NAME]</a:t>
            </a:r>
          </a:p>
        </p:txBody>
      </p:sp>
      <p:sp>
        <p:nvSpPr>
          <p:cNvPr id="9" name="TextBox 8"/>
          <p:cNvSpPr txBox="1"/>
          <p:nvPr/>
        </p:nvSpPr>
        <p:spPr>
          <a:xfrm>
            <a:off x="822960" y="2743200"/>
            <a:ext cx="10515600" cy="1463040"/>
          </a:xfrm>
          <a:prstGeom prst="rect">
            <a:avLst/>
          </a:prstGeom>
          <a:noFill/>
        </p:spPr>
        <p:txBody>
          <a:bodyPr wrap="square" lIns="0" rIns="0" tIns="0" bIns="0" anchor="t">
            <a:spAutoFit/>
          </a:bodyPr>
          <a:lstStyle/>
          <a:p>
            <a:pPr algn="l">
              <a:lnSpc>
                <a:spcPct val="100000"/>
              </a:lnSpc>
            </a:pPr>
            <a:r>
              <a:rPr sz="8000" b="1" i="0">
                <a:solidFill>
                  <a:srgbClr val="10101A"/>
                </a:solidFill>
                <a:latin typeface="Helvetica Neue"/>
              </a:rPr>
              <a:t>Strategie-</a:t>
            </a:r>
          </a:p>
        </p:txBody>
      </p:sp>
      <p:sp>
        <p:nvSpPr>
          <p:cNvPr id="10" name="TextBox 9"/>
          <p:cNvSpPr txBox="1"/>
          <p:nvPr/>
        </p:nvSpPr>
        <p:spPr>
          <a:xfrm>
            <a:off x="822960" y="3520440"/>
            <a:ext cx="10515600" cy="1463040"/>
          </a:xfrm>
          <a:prstGeom prst="rect">
            <a:avLst/>
          </a:prstGeom>
          <a:noFill/>
        </p:spPr>
        <p:txBody>
          <a:bodyPr wrap="square" lIns="0" rIns="0" tIns="0" bIns="0" anchor="t">
            <a:spAutoFit/>
          </a:bodyPr>
          <a:lstStyle/>
          <a:p>
            <a:pPr algn="l">
              <a:lnSpc>
                <a:spcPct val="100000"/>
              </a:lnSpc>
            </a:pPr>
            <a:r>
              <a:rPr sz="8000" b="1" i="0">
                <a:solidFill>
                  <a:srgbClr val="10101A"/>
                </a:solidFill>
                <a:latin typeface="Helvetica Neue"/>
              </a:rPr>
              <a:t>Vorschlag.</a:t>
            </a:r>
          </a:p>
        </p:txBody>
      </p:sp>
      <p:sp>
        <p:nvSpPr>
          <p:cNvPr id="11" name="TextBox 10"/>
          <p:cNvSpPr txBox="1"/>
          <p:nvPr/>
        </p:nvSpPr>
        <p:spPr>
          <a:xfrm>
            <a:off x="822960" y="4663440"/>
            <a:ext cx="10515600" cy="822960"/>
          </a:xfrm>
          <a:prstGeom prst="rect">
            <a:avLst/>
          </a:prstGeom>
          <a:noFill/>
        </p:spPr>
        <p:txBody>
          <a:bodyPr wrap="square" lIns="0" rIns="0" tIns="0" bIns="0" anchor="t">
            <a:spAutoFit/>
          </a:bodyPr>
          <a:lstStyle/>
          <a:p>
            <a:pPr algn="l">
              <a:lnSpc>
                <a:spcPct val="100000"/>
              </a:lnSpc>
            </a:pPr>
            <a:r>
              <a:rPr sz="4200" b="0" i="0">
                <a:solidFill>
                  <a:srgbClr val="58BAB5"/>
                </a:solidFill>
                <a:latin typeface="Helvetica Neue"/>
              </a:rPr>
              <a:t>für [PRAXIS_NAME]</a:t>
            </a:r>
          </a:p>
        </p:txBody>
      </p:sp>
      <p:sp>
        <p:nvSpPr>
          <p:cNvPr id="12" name="TextBox 11"/>
          <p:cNvSpPr txBox="1"/>
          <p:nvPr/>
        </p:nvSpPr>
        <p:spPr>
          <a:xfrm>
            <a:off x="822960" y="6263640"/>
            <a:ext cx="5486400" cy="365760"/>
          </a:xfrm>
          <a:prstGeom prst="rect">
            <a:avLst/>
          </a:prstGeom>
          <a:noFill/>
        </p:spPr>
        <p:txBody>
          <a:bodyPr wrap="square" lIns="0" rIns="0" tIns="0" bIns="0" anchor="t">
            <a:spAutoFit/>
          </a:bodyPr>
          <a:lstStyle/>
          <a:p>
            <a:pPr algn="l">
              <a:lnSpc>
                <a:spcPct val="115000"/>
              </a:lnSpc>
            </a:pPr>
            <a:r>
              <a:rPr sz="1100" b="0" i="0">
                <a:solidFill>
                  <a:srgbClr val="4A4A52"/>
                </a:solidFill>
                <a:latin typeface="Consolas"/>
              </a:rPr>
              <a:t>Strategiegespräch per Video · [DATUM]</a:t>
            </a:r>
          </a:p>
        </p:txBody>
      </p:sp>
      <p:sp>
        <p:nvSpPr>
          <p:cNvPr id="13" name="TextBox 12"/>
          <p:cNvSpPr txBox="1"/>
          <p:nvPr/>
        </p:nvSpPr>
        <p:spPr>
          <a:xfrm>
            <a:off x="6400800" y="6263640"/>
            <a:ext cx="5303520" cy="365760"/>
          </a:xfrm>
          <a:prstGeom prst="rect">
            <a:avLst/>
          </a:prstGeom>
          <a:noFill/>
        </p:spPr>
        <p:txBody>
          <a:bodyPr wrap="square" lIns="0" rIns="0" tIns="0" bIns="0" anchor="t">
            <a:spAutoFit/>
          </a:bodyPr>
          <a:lstStyle/>
          <a:p>
            <a:pPr algn="r">
              <a:lnSpc>
                <a:spcPct val="115000"/>
              </a:lnSpc>
            </a:pPr>
            <a:r>
              <a:rPr sz="1100" b="0" i="0">
                <a:solidFill>
                  <a:srgbClr val="4A4A52"/>
                </a:solidFill>
                <a:latin typeface="Consolas"/>
              </a:rPr>
              <a:t>Karam Issa · Gründer EINS</a:t>
            </a:r>
          </a:p>
        </p:txBody>
      </p:sp>
    </p:spTree>
  </p:cSld>
  <p:clrMapOvr>
    <a:masterClrMapping/>
  </p:clrMapOvr>
  <p:transition xmlns:p14="http://schemas.microsoft.com/office/powerpoint/2010/main" spd="med" p14:dur="400">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Oval 3"/>
          <p:cNvSpPr/>
          <p:nvPr/>
        </p:nvSpPr>
        <p:spPr>
          <a:xfrm>
            <a:off x="457200" y="149961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Inhaltsverzeichnis</a:t>
            </a:r>
          </a:p>
        </p:txBody>
      </p:sp>
      <p:sp>
        <p:nvSpPr>
          <p:cNvPr id="6" name="TextBox 5"/>
          <p:cNvSpPr txBox="1"/>
          <p:nvPr/>
        </p:nvSpPr>
        <p:spPr>
          <a:xfrm>
            <a:off x="457200" y="1828800"/>
            <a:ext cx="10515600" cy="1097280"/>
          </a:xfrm>
          <a:prstGeom prst="rect">
            <a:avLst/>
          </a:prstGeom>
          <a:noFill/>
        </p:spPr>
        <p:txBody>
          <a:bodyPr wrap="square" lIns="0" rIns="0" tIns="0" bIns="0" anchor="t">
            <a:spAutoFit/>
          </a:bodyPr>
          <a:lstStyle/>
          <a:p>
            <a:pPr algn="l">
              <a:lnSpc>
                <a:spcPct val="100000"/>
              </a:lnSpc>
            </a:pPr>
            <a:r>
              <a:rPr sz="6400" b="1" i="0">
                <a:solidFill>
                  <a:srgbClr val="10101A"/>
                </a:solidFill>
                <a:latin typeface="Helvetica Neue"/>
              </a:rPr>
              <a:t>Was Sie erwartet.</a:t>
            </a:r>
          </a:p>
        </p:txBody>
      </p:sp>
      <p:sp>
        <p:nvSpPr>
          <p:cNvPr id="7" name="TextBox 6"/>
          <p:cNvSpPr txBox="1"/>
          <p:nvPr/>
        </p:nvSpPr>
        <p:spPr>
          <a:xfrm>
            <a:off x="457200" y="3154680"/>
            <a:ext cx="640080" cy="384048"/>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03</a:t>
            </a:r>
          </a:p>
        </p:txBody>
      </p:sp>
      <p:sp>
        <p:nvSpPr>
          <p:cNvPr id="8" name="TextBox 7"/>
          <p:cNvSpPr txBox="1"/>
          <p:nvPr/>
        </p:nvSpPr>
        <p:spPr>
          <a:xfrm>
            <a:off x="1188720" y="3154680"/>
            <a:ext cx="4297680" cy="384048"/>
          </a:xfrm>
          <a:prstGeom prst="rect">
            <a:avLst/>
          </a:prstGeom>
          <a:noFill/>
        </p:spPr>
        <p:txBody>
          <a:bodyPr wrap="square" lIns="0" rIns="0" tIns="0" bIns="0" anchor="t">
            <a:spAutoFit/>
          </a:bodyPr>
          <a:lstStyle/>
          <a:p>
            <a:pPr algn="l">
              <a:lnSpc>
                <a:spcPct val="115000"/>
              </a:lnSpc>
            </a:pPr>
            <a:r>
              <a:rPr sz="2000" b="0" i="0">
                <a:solidFill>
                  <a:srgbClr val="10101A"/>
                </a:solidFill>
                <a:latin typeface="Helvetica Neue"/>
              </a:rPr>
              <a:t>Hook</a:t>
            </a:r>
          </a:p>
        </p:txBody>
      </p:sp>
      <p:sp>
        <p:nvSpPr>
          <p:cNvPr id="9" name="TextBox 8"/>
          <p:cNvSpPr txBox="1"/>
          <p:nvPr/>
        </p:nvSpPr>
        <p:spPr>
          <a:xfrm>
            <a:off x="457200" y="3538728"/>
            <a:ext cx="640080" cy="384048"/>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04</a:t>
            </a:r>
          </a:p>
        </p:txBody>
      </p:sp>
      <p:sp>
        <p:nvSpPr>
          <p:cNvPr id="10" name="TextBox 9"/>
          <p:cNvSpPr txBox="1"/>
          <p:nvPr/>
        </p:nvSpPr>
        <p:spPr>
          <a:xfrm>
            <a:off x="1188720" y="3538728"/>
            <a:ext cx="4297680" cy="384048"/>
          </a:xfrm>
          <a:prstGeom prst="rect">
            <a:avLst/>
          </a:prstGeom>
          <a:noFill/>
        </p:spPr>
        <p:txBody>
          <a:bodyPr wrap="square" lIns="0" rIns="0" tIns="0" bIns="0" anchor="t">
            <a:spAutoFit/>
          </a:bodyPr>
          <a:lstStyle/>
          <a:p>
            <a:pPr algn="l">
              <a:lnSpc>
                <a:spcPct val="115000"/>
              </a:lnSpc>
            </a:pPr>
            <a:r>
              <a:rPr sz="2000" b="0" i="0">
                <a:solidFill>
                  <a:srgbClr val="10101A"/>
                </a:solidFill>
                <a:latin typeface="Helvetica Neue"/>
              </a:rPr>
              <a:t>Über Ihre Praxis</a:t>
            </a:r>
          </a:p>
        </p:txBody>
      </p:sp>
      <p:sp>
        <p:nvSpPr>
          <p:cNvPr id="11" name="TextBox 10"/>
          <p:cNvSpPr txBox="1"/>
          <p:nvPr/>
        </p:nvSpPr>
        <p:spPr>
          <a:xfrm>
            <a:off x="457200" y="3922776"/>
            <a:ext cx="640080" cy="384048"/>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05</a:t>
            </a:r>
          </a:p>
        </p:txBody>
      </p:sp>
      <p:sp>
        <p:nvSpPr>
          <p:cNvPr id="12" name="TextBox 11"/>
          <p:cNvSpPr txBox="1"/>
          <p:nvPr/>
        </p:nvSpPr>
        <p:spPr>
          <a:xfrm>
            <a:off x="1188720" y="3922776"/>
            <a:ext cx="4297680" cy="384048"/>
          </a:xfrm>
          <a:prstGeom prst="rect">
            <a:avLst/>
          </a:prstGeom>
          <a:noFill/>
        </p:spPr>
        <p:txBody>
          <a:bodyPr wrap="square" lIns="0" rIns="0" tIns="0" bIns="0" anchor="t">
            <a:spAutoFit/>
          </a:bodyPr>
          <a:lstStyle/>
          <a:p>
            <a:pPr algn="l">
              <a:lnSpc>
                <a:spcPct val="115000"/>
              </a:lnSpc>
            </a:pPr>
            <a:r>
              <a:rPr sz="2000" b="0" i="0">
                <a:solidFill>
                  <a:srgbClr val="10101A"/>
                </a:solidFill>
                <a:latin typeface="Helvetica Neue"/>
              </a:rPr>
              <a:t>Ihre Ziele</a:t>
            </a:r>
          </a:p>
        </p:txBody>
      </p:sp>
      <p:sp>
        <p:nvSpPr>
          <p:cNvPr id="13" name="TextBox 12"/>
          <p:cNvSpPr txBox="1"/>
          <p:nvPr/>
        </p:nvSpPr>
        <p:spPr>
          <a:xfrm>
            <a:off x="457200" y="4306824"/>
            <a:ext cx="640080" cy="384048"/>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06</a:t>
            </a:r>
          </a:p>
        </p:txBody>
      </p:sp>
      <p:sp>
        <p:nvSpPr>
          <p:cNvPr id="14" name="TextBox 13"/>
          <p:cNvSpPr txBox="1"/>
          <p:nvPr/>
        </p:nvSpPr>
        <p:spPr>
          <a:xfrm>
            <a:off x="1188720" y="4306824"/>
            <a:ext cx="4297680" cy="384048"/>
          </a:xfrm>
          <a:prstGeom prst="rect">
            <a:avLst/>
          </a:prstGeom>
          <a:noFill/>
        </p:spPr>
        <p:txBody>
          <a:bodyPr wrap="square" lIns="0" rIns="0" tIns="0" bIns="0" anchor="t">
            <a:spAutoFit/>
          </a:bodyPr>
          <a:lstStyle/>
          <a:p>
            <a:pPr algn="l">
              <a:lnSpc>
                <a:spcPct val="115000"/>
              </a:lnSpc>
            </a:pPr>
            <a:r>
              <a:rPr sz="2000" b="0" i="0">
                <a:solidFill>
                  <a:srgbClr val="10101A"/>
                </a:solidFill>
                <a:latin typeface="Helvetica Neue"/>
              </a:rPr>
              <a:t>Was aktuell fehlt</a:t>
            </a:r>
          </a:p>
        </p:txBody>
      </p:sp>
      <p:sp>
        <p:nvSpPr>
          <p:cNvPr id="15" name="TextBox 14"/>
          <p:cNvSpPr txBox="1"/>
          <p:nvPr/>
        </p:nvSpPr>
        <p:spPr>
          <a:xfrm>
            <a:off x="457200" y="4690872"/>
            <a:ext cx="640080" cy="384048"/>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07</a:t>
            </a:r>
          </a:p>
        </p:txBody>
      </p:sp>
      <p:sp>
        <p:nvSpPr>
          <p:cNvPr id="16" name="TextBox 15"/>
          <p:cNvSpPr txBox="1"/>
          <p:nvPr/>
        </p:nvSpPr>
        <p:spPr>
          <a:xfrm>
            <a:off x="1188720" y="4690872"/>
            <a:ext cx="4297680" cy="384048"/>
          </a:xfrm>
          <a:prstGeom prst="rect">
            <a:avLst/>
          </a:prstGeom>
          <a:noFill/>
        </p:spPr>
        <p:txBody>
          <a:bodyPr wrap="square" lIns="0" rIns="0" tIns="0" bIns="0" anchor="t">
            <a:spAutoFit/>
          </a:bodyPr>
          <a:lstStyle/>
          <a:p>
            <a:pPr algn="l">
              <a:lnSpc>
                <a:spcPct val="115000"/>
              </a:lnSpc>
            </a:pPr>
            <a:r>
              <a:rPr sz="2000" b="0" i="0">
                <a:solidFill>
                  <a:srgbClr val="10101A"/>
                </a:solidFill>
                <a:latin typeface="Helvetica Neue"/>
              </a:rPr>
              <a:t>Ihre Vorschau-Anzeigen</a:t>
            </a:r>
          </a:p>
        </p:txBody>
      </p:sp>
      <p:sp>
        <p:nvSpPr>
          <p:cNvPr id="17" name="TextBox 16"/>
          <p:cNvSpPr txBox="1"/>
          <p:nvPr/>
        </p:nvSpPr>
        <p:spPr>
          <a:xfrm>
            <a:off x="457200" y="5074920"/>
            <a:ext cx="640080" cy="384048"/>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08</a:t>
            </a:r>
          </a:p>
        </p:txBody>
      </p:sp>
      <p:sp>
        <p:nvSpPr>
          <p:cNvPr id="18" name="TextBox 17"/>
          <p:cNvSpPr txBox="1"/>
          <p:nvPr/>
        </p:nvSpPr>
        <p:spPr>
          <a:xfrm>
            <a:off x="1188720" y="5074920"/>
            <a:ext cx="4297680" cy="384048"/>
          </a:xfrm>
          <a:prstGeom prst="rect">
            <a:avLst/>
          </a:prstGeom>
          <a:noFill/>
        </p:spPr>
        <p:txBody>
          <a:bodyPr wrap="square" lIns="0" rIns="0" tIns="0" bIns="0" anchor="t">
            <a:spAutoFit/>
          </a:bodyPr>
          <a:lstStyle/>
          <a:p>
            <a:pPr algn="l">
              <a:lnSpc>
                <a:spcPct val="115000"/>
              </a:lnSpc>
            </a:pPr>
            <a:r>
              <a:rPr sz="2000" b="0" i="0">
                <a:solidFill>
                  <a:srgbClr val="10101A"/>
                </a:solidFill>
                <a:latin typeface="Helvetica Neue"/>
              </a:rPr>
              <a:t>Über EINS</a:t>
            </a:r>
          </a:p>
        </p:txBody>
      </p:sp>
      <p:sp>
        <p:nvSpPr>
          <p:cNvPr id="19" name="TextBox 18"/>
          <p:cNvSpPr txBox="1"/>
          <p:nvPr/>
        </p:nvSpPr>
        <p:spPr>
          <a:xfrm>
            <a:off x="457200" y="5458968"/>
            <a:ext cx="640080" cy="384048"/>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09</a:t>
            </a:r>
          </a:p>
        </p:txBody>
      </p:sp>
      <p:sp>
        <p:nvSpPr>
          <p:cNvPr id="20" name="TextBox 19"/>
          <p:cNvSpPr txBox="1"/>
          <p:nvPr/>
        </p:nvSpPr>
        <p:spPr>
          <a:xfrm>
            <a:off x="1188720" y="5458968"/>
            <a:ext cx="4297680" cy="384048"/>
          </a:xfrm>
          <a:prstGeom prst="rect">
            <a:avLst/>
          </a:prstGeom>
          <a:noFill/>
        </p:spPr>
        <p:txBody>
          <a:bodyPr wrap="square" lIns="0" rIns="0" tIns="0" bIns="0" anchor="t">
            <a:spAutoFit/>
          </a:bodyPr>
          <a:lstStyle/>
          <a:p>
            <a:pPr algn="l">
              <a:lnSpc>
                <a:spcPct val="115000"/>
              </a:lnSpc>
            </a:pPr>
            <a:r>
              <a:rPr sz="2000" b="0" i="0">
                <a:solidFill>
                  <a:srgbClr val="10101A"/>
                </a:solidFill>
                <a:latin typeface="Helvetica Neue"/>
              </a:rPr>
              <a:t>Fallstudie / Referenzen</a:t>
            </a:r>
          </a:p>
        </p:txBody>
      </p:sp>
      <p:sp>
        <p:nvSpPr>
          <p:cNvPr id="21" name="TextBox 20"/>
          <p:cNvSpPr txBox="1"/>
          <p:nvPr/>
        </p:nvSpPr>
        <p:spPr>
          <a:xfrm>
            <a:off x="457200" y="5843016"/>
            <a:ext cx="640080" cy="384048"/>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10</a:t>
            </a:r>
          </a:p>
        </p:txBody>
      </p:sp>
      <p:sp>
        <p:nvSpPr>
          <p:cNvPr id="22" name="TextBox 21"/>
          <p:cNvSpPr txBox="1"/>
          <p:nvPr/>
        </p:nvSpPr>
        <p:spPr>
          <a:xfrm>
            <a:off x="1188720" y="5843016"/>
            <a:ext cx="4297680" cy="384048"/>
          </a:xfrm>
          <a:prstGeom prst="rect">
            <a:avLst/>
          </a:prstGeom>
          <a:noFill/>
        </p:spPr>
        <p:txBody>
          <a:bodyPr wrap="square" lIns="0" rIns="0" tIns="0" bIns="0" anchor="t">
            <a:spAutoFit/>
          </a:bodyPr>
          <a:lstStyle/>
          <a:p>
            <a:pPr algn="l">
              <a:lnSpc>
                <a:spcPct val="115000"/>
              </a:lnSpc>
            </a:pPr>
            <a:r>
              <a:rPr sz="2000" b="0" i="0">
                <a:solidFill>
                  <a:srgbClr val="10101A"/>
                </a:solidFill>
                <a:latin typeface="Helvetica Neue"/>
              </a:rPr>
              <a:t>Vorgeschlagene Leistungen</a:t>
            </a:r>
          </a:p>
        </p:txBody>
      </p:sp>
      <p:sp>
        <p:nvSpPr>
          <p:cNvPr id="23" name="TextBox 22"/>
          <p:cNvSpPr txBox="1"/>
          <p:nvPr/>
        </p:nvSpPr>
        <p:spPr>
          <a:xfrm>
            <a:off x="6400800" y="3154680"/>
            <a:ext cx="640080" cy="384048"/>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11</a:t>
            </a:r>
          </a:p>
        </p:txBody>
      </p:sp>
      <p:sp>
        <p:nvSpPr>
          <p:cNvPr id="24" name="TextBox 23"/>
          <p:cNvSpPr txBox="1"/>
          <p:nvPr/>
        </p:nvSpPr>
        <p:spPr>
          <a:xfrm>
            <a:off x="7132320" y="3154680"/>
            <a:ext cx="4297680" cy="384048"/>
          </a:xfrm>
          <a:prstGeom prst="rect">
            <a:avLst/>
          </a:prstGeom>
          <a:noFill/>
        </p:spPr>
        <p:txBody>
          <a:bodyPr wrap="square" lIns="0" rIns="0" tIns="0" bIns="0" anchor="t">
            <a:spAutoFit/>
          </a:bodyPr>
          <a:lstStyle/>
          <a:p>
            <a:pPr algn="l">
              <a:lnSpc>
                <a:spcPct val="115000"/>
              </a:lnSpc>
            </a:pPr>
            <a:r>
              <a:rPr sz="2000" b="0" i="0">
                <a:solidFill>
                  <a:srgbClr val="10101A"/>
                </a:solidFill>
                <a:latin typeface="Helvetica Neue"/>
              </a:rPr>
              <a:t>Wert für Sie</a:t>
            </a:r>
          </a:p>
        </p:txBody>
      </p:sp>
      <p:sp>
        <p:nvSpPr>
          <p:cNvPr id="25" name="TextBox 24"/>
          <p:cNvSpPr txBox="1"/>
          <p:nvPr/>
        </p:nvSpPr>
        <p:spPr>
          <a:xfrm>
            <a:off x="6400800" y="3538728"/>
            <a:ext cx="640080" cy="384048"/>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12</a:t>
            </a:r>
          </a:p>
        </p:txBody>
      </p:sp>
      <p:sp>
        <p:nvSpPr>
          <p:cNvPr id="26" name="TextBox 25"/>
          <p:cNvSpPr txBox="1"/>
          <p:nvPr/>
        </p:nvSpPr>
        <p:spPr>
          <a:xfrm>
            <a:off x="7132320" y="3538728"/>
            <a:ext cx="4297680" cy="384048"/>
          </a:xfrm>
          <a:prstGeom prst="rect">
            <a:avLst/>
          </a:prstGeom>
          <a:noFill/>
        </p:spPr>
        <p:txBody>
          <a:bodyPr wrap="square" lIns="0" rIns="0" tIns="0" bIns="0" anchor="t">
            <a:spAutoFit/>
          </a:bodyPr>
          <a:lstStyle/>
          <a:p>
            <a:pPr algn="l">
              <a:lnSpc>
                <a:spcPct val="115000"/>
              </a:lnSpc>
            </a:pPr>
            <a:r>
              <a:rPr sz="2000" b="0" i="0">
                <a:solidFill>
                  <a:srgbClr val="10101A"/>
                </a:solidFill>
                <a:latin typeface="Helvetica Neue"/>
              </a:rPr>
              <a:t>Garantie</a:t>
            </a:r>
          </a:p>
        </p:txBody>
      </p:sp>
      <p:sp>
        <p:nvSpPr>
          <p:cNvPr id="27" name="TextBox 26"/>
          <p:cNvSpPr txBox="1"/>
          <p:nvPr/>
        </p:nvSpPr>
        <p:spPr>
          <a:xfrm>
            <a:off x="6400800" y="3922776"/>
            <a:ext cx="640080" cy="384048"/>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13</a:t>
            </a:r>
          </a:p>
        </p:txBody>
      </p:sp>
      <p:sp>
        <p:nvSpPr>
          <p:cNvPr id="28" name="TextBox 27"/>
          <p:cNvSpPr txBox="1"/>
          <p:nvPr/>
        </p:nvSpPr>
        <p:spPr>
          <a:xfrm>
            <a:off x="7132320" y="3922776"/>
            <a:ext cx="4297680" cy="384048"/>
          </a:xfrm>
          <a:prstGeom prst="rect">
            <a:avLst/>
          </a:prstGeom>
          <a:noFill/>
        </p:spPr>
        <p:txBody>
          <a:bodyPr wrap="square" lIns="0" rIns="0" tIns="0" bIns="0" anchor="t">
            <a:spAutoFit/>
          </a:bodyPr>
          <a:lstStyle/>
          <a:p>
            <a:pPr algn="l">
              <a:lnSpc>
                <a:spcPct val="115000"/>
              </a:lnSpc>
            </a:pPr>
            <a:r>
              <a:rPr sz="2000" b="0" i="0">
                <a:solidFill>
                  <a:srgbClr val="10101A"/>
                </a:solidFill>
                <a:latin typeface="Helvetica Neue"/>
              </a:rPr>
              <a:t>Material und Klon</a:t>
            </a:r>
          </a:p>
        </p:txBody>
      </p:sp>
      <p:sp>
        <p:nvSpPr>
          <p:cNvPr id="29" name="TextBox 28"/>
          <p:cNvSpPr txBox="1"/>
          <p:nvPr/>
        </p:nvSpPr>
        <p:spPr>
          <a:xfrm>
            <a:off x="6400800" y="4306824"/>
            <a:ext cx="640080" cy="384048"/>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14</a:t>
            </a:r>
          </a:p>
        </p:txBody>
      </p:sp>
      <p:sp>
        <p:nvSpPr>
          <p:cNvPr id="30" name="TextBox 29"/>
          <p:cNvSpPr txBox="1"/>
          <p:nvPr/>
        </p:nvSpPr>
        <p:spPr>
          <a:xfrm>
            <a:off x="7132320" y="4306824"/>
            <a:ext cx="4297680" cy="384048"/>
          </a:xfrm>
          <a:prstGeom prst="rect">
            <a:avLst/>
          </a:prstGeom>
          <a:noFill/>
        </p:spPr>
        <p:txBody>
          <a:bodyPr wrap="square" lIns="0" rIns="0" tIns="0" bIns="0" anchor="t">
            <a:spAutoFit/>
          </a:bodyPr>
          <a:lstStyle/>
          <a:p>
            <a:pPr algn="l">
              <a:lnSpc>
                <a:spcPct val="115000"/>
              </a:lnSpc>
            </a:pPr>
            <a:r>
              <a:rPr sz="2000" b="0" i="0">
                <a:solidFill>
                  <a:srgbClr val="10101A"/>
                </a:solidFill>
                <a:latin typeface="Helvetica Neue"/>
              </a:rPr>
              <a:t>Investition</a:t>
            </a:r>
          </a:p>
        </p:txBody>
      </p:sp>
      <p:sp>
        <p:nvSpPr>
          <p:cNvPr id="31" name="TextBox 30"/>
          <p:cNvSpPr txBox="1"/>
          <p:nvPr/>
        </p:nvSpPr>
        <p:spPr>
          <a:xfrm>
            <a:off x="6400800" y="4690872"/>
            <a:ext cx="640080" cy="384048"/>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15</a:t>
            </a:r>
          </a:p>
        </p:txBody>
      </p:sp>
      <p:sp>
        <p:nvSpPr>
          <p:cNvPr id="32" name="TextBox 31"/>
          <p:cNvSpPr txBox="1"/>
          <p:nvPr/>
        </p:nvSpPr>
        <p:spPr>
          <a:xfrm>
            <a:off x="7132320" y="4690872"/>
            <a:ext cx="4297680" cy="384048"/>
          </a:xfrm>
          <a:prstGeom prst="rect">
            <a:avLst/>
          </a:prstGeom>
          <a:noFill/>
        </p:spPr>
        <p:txBody>
          <a:bodyPr wrap="square" lIns="0" rIns="0" tIns="0" bIns="0" anchor="t">
            <a:spAutoFit/>
          </a:bodyPr>
          <a:lstStyle/>
          <a:p>
            <a:pPr algn="l">
              <a:lnSpc>
                <a:spcPct val="115000"/>
              </a:lnSpc>
            </a:pPr>
            <a:r>
              <a:rPr sz="2000" b="0" i="0">
                <a:solidFill>
                  <a:srgbClr val="10101A"/>
                </a:solidFill>
                <a:latin typeface="Helvetica Neue"/>
              </a:rPr>
              <a:t>Nächste Schritte</a:t>
            </a:r>
          </a:p>
        </p:txBody>
      </p:sp>
      <p:sp>
        <p:nvSpPr>
          <p:cNvPr id="33" name="TextBox 32"/>
          <p:cNvSpPr txBox="1"/>
          <p:nvPr/>
        </p:nvSpPr>
        <p:spPr>
          <a:xfrm>
            <a:off x="6400800" y="5074920"/>
            <a:ext cx="640080" cy="384048"/>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16</a:t>
            </a:r>
          </a:p>
        </p:txBody>
      </p:sp>
      <p:sp>
        <p:nvSpPr>
          <p:cNvPr id="34" name="TextBox 33"/>
          <p:cNvSpPr txBox="1"/>
          <p:nvPr/>
        </p:nvSpPr>
        <p:spPr>
          <a:xfrm>
            <a:off x="7132320" y="5074920"/>
            <a:ext cx="4297680" cy="384048"/>
          </a:xfrm>
          <a:prstGeom prst="rect">
            <a:avLst/>
          </a:prstGeom>
          <a:noFill/>
        </p:spPr>
        <p:txBody>
          <a:bodyPr wrap="square" lIns="0" rIns="0" tIns="0" bIns="0" anchor="t">
            <a:spAutoFit/>
          </a:bodyPr>
          <a:lstStyle/>
          <a:p>
            <a:pPr algn="l">
              <a:lnSpc>
                <a:spcPct val="115000"/>
              </a:lnSpc>
            </a:pPr>
            <a:r>
              <a:rPr sz="2000" b="0" i="0">
                <a:solidFill>
                  <a:srgbClr val="10101A"/>
                </a:solidFill>
                <a:latin typeface="Helvetica Neue"/>
              </a:rPr>
              <a:t>Häufige Fragen</a:t>
            </a:r>
          </a:p>
        </p:txBody>
      </p:sp>
      <p:sp>
        <p:nvSpPr>
          <p:cNvPr id="35" name="TextBox 34"/>
          <p:cNvSpPr txBox="1"/>
          <p:nvPr/>
        </p:nvSpPr>
        <p:spPr>
          <a:xfrm>
            <a:off x="6400800" y="5458968"/>
            <a:ext cx="640080" cy="384048"/>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17</a:t>
            </a:r>
          </a:p>
        </p:txBody>
      </p:sp>
      <p:sp>
        <p:nvSpPr>
          <p:cNvPr id="36" name="TextBox 35"/>
          <p:cNvSpPr txBox="1"/>
          <p:nvPr/>
        </p:nvSpPr>
        <p:spPr>
          <a:xfrm>
            <a:off x="7132320" y="5458968"/>
            <a:ext cx="4297680" cy="384048"/>
          </a:xfrm>
          <a:prstGeom prst="rect">
            <a:avLst/>
          </a:prstGeom>
          <a:noFill/>
        </p:spPr>
        <p:txBody>
          <a:bodyPr wrap="square" lIns="0" rIns="0" tIns="0" bIns="0" anchor="t">
            <a:spAutoFit/>
          </a:bodyPr>
          <a:lstStyle/>
          <a:p>
            <a:pPr algn="l">
              <a:lnSpc>
                <a:spcPct val="115000"/>
              </a:lnSpc>
            </a:pPr>
            <a:r>
              <a:rPr sz="2000" b="0" i="0">
                <a:solidFill>
                  <a:srgbClr val="10101A"/>
                </a:solidFill>
                <a:latin typeface="Helvetica Neue"/>
              </a:rPr>
              <a:t>Zwei Wege nach vorne</a:t>
            </a:r>
          </a:p>
        </p:txBody>
      </p:sp>
      <p:sp>
        <p:nvSpPr>
          <p:cNvPr id="37" name="TextBox 36"/>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EINS · Strategievorschlag</a:t>
            </a:r>
          </a:p>
        </p:txBody>
      </p:sp>
      <p:sp>
        <p:nvSpPr>
          <p:cNvPr id="38" name="TextBox 37"/>
          <p:cNvSpPr txBox="1"/>
          <p:nvPr/>
        </p:nvSpPr>
        <p:spPr>
          <a:xfrm>
            <a:off x="6400800" y="6492240"/>
            <a:ext cx="5486400" cy="274320"/>
          </a:xfrm>
          <a:prstGeom prst="rect">
            <a:avLst/>
          </a:prstGeom>
          <a:noFill/>
        </p:spPr>
        <p:txBody>
          <a:bodyPr wrap="square" lIns="0" rIns="0" tIns="0" bIns="0" anchor="t">
            <a:spAutoFit/>
          </a:bodyPr>
          <a:lstStyle/>
          <a:p>
            <a:pPr algn="r">
              <a:lnSpc>
                <a:spcPct val="115000"/>
              </a:lnSpc>
            </a:pPr>
            <a:r>
              <a:rPr sz="1000" b="0" i="0">
                <a:solidFill>
                  <a:srgbClr val="6A6A74"/>
                </a:solidFill>
                <a:latin typeface="Consolas"/>
              </a:rPr>
              <a:t>//02</a:t>
            </a:r>
          </a:p>
        </p:txBody>
      </p:sp>
    </p:spTree>
  </p:cSld>
  <p:clrMapOvr>
    <a:masterClrMapping/>
  </p:clrMapOvr>
  <p:transition xmlns:p14="http://schemas.microsoft.com/office/powerpoint/2010/main" spd="med" p14:dur="400">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TextBox 3"/>
          <p:cNvSpPr txBox="1"/>
          <p:nvPr/>
        </p:nvSpPr>
        <p:spPr>
          <a:xfrm>
            <a:off x="914400" y="2194560"/>
            <a:ext cx="10332720" cy="2286000"/>
          </a:xfrm>
          <a:prstGeom prst="rect">
            <a:avLst/>
          </a:prstGeom>
          <a:noFill/>
        </p:spPr>
        <p:txBody>
          <a:bodyPr wrap="square" lIns="0" rIns="0" tIns="0" bIns="0" anchor="t">
            <a:spAutoFit/>
          </a:bodyPr>
          <a:lstStyle/>
          <a:p>
            <a:pPr algn="ctr">
              <a:lnSpc>
                <a:spcPct val="105000"/>
              </a:lnSpc>
            </a:pPr>
            <a:r>
              <a:rPr sz="4800" b="1" i="0">
                <a:solidFill>
                  <a:srgbClr val="10101A"/>
                </a:solidFill>
                <a:latin typeface="Helvetica Neue"/>
              </a:rPr>
              <a:t>"Ihre Praxis innoviert.</a:t>
            </a:r>
          </a:p>
        </p:txBody>
      </p:sp>
      <p:sp>
        <p:nvSpPr>
          <p:cNvPr id="5" name="TextBox 4"/>
          <p:cNvSpPr txBox="1"/>
          <p:nvPr/>
        </p:nvSpPr>
        <p:spPr>
          <a:xfrm>
            <a:off x="914400" y="3154680"/>
            <a:ext cx="10332720" cy="1463040"/>
          </a:xfrm>
          <a:prstGeom prst="rect">
            <a:avLst/>
          </a:prstGeom>
          <a:noFill/>
        </p:spPr>
        <p:txBody>
          <a:bodyPr wrap="square" lIns="0" rIns="0" tIns="0" bIns="0" anchor="t">
            <a:spAutoFit/>
          </a:bodyPr>
          <a:lstStyle/>
          <a:p>
            <a:pPr algn="ctr">
              <a:lnSpc>
                <a:spcPct val="105000"/>
              </a:lnSpc>
            </a:pPr>
            <a:r>
              <a:rPr sz="4800" b="1" i="0">
                <a:solidFill>
                  <a:srgbClr val="10101A"/>
                </a:solidFill>
                <a:latin typeface="Helvetica Neue"/>
              </a:rPr>
              <a:t>Sollte Ihre Marketing-Agentur das</a:t>
            </a:r>
          </a:p>
        </p:txBody>
      </p:sp>
      <p:sp>
        <p:nvSpPr>
          <p:cNvPr id="6" name="TextBox 5"/>
          <p:cNvSpPr txBox="1"/>
          <p:nvPr/>
        </p:nvSpPr>
        <p:spPr>
          <a:xfrm>
            <a:off x="914400" y="4114800"/>
            <a:ext cx="10332720" cy="1463040"/>
          </a:xfrm>
          <a:prstGeom prst="rect">
            <a:avLst/>
          </a:prstGeom>
          <a:noFill/>
        </p:spPr>
        <p:txBody>
          <a:bodyPr wrap="square" lIns="0" rIns="0" tIns="0" bIns="0" anchor="t">
            <a:spAutoFit/>
          </a:bodyPr>
          <a:lstStyle/>
          <a:p>
            <a:pPr algn="ctr">
              <a:lnSpc>
                <a:spcPct val="105000"/>
              </a:lnSpc>
            </a:pPr>
            <a:r>
              <a:rPr sz="4800" b="1" i="0">
                <a:solidFill>
                  <a:srgbClr val="58BAB5"/>
                </a:solidFill>
                <a:latin typeface="Helvetica Neue"/>
              </a:rPr>
              <a:t>nicht auch?"</a:t>
            </a:r>
          </a:p>
        </p:txBody>
      </p:sp>
      <p:sp>
        <p:nvSpPr>
          <p:cNvPr id="7" name="TextBox 6"/>
          <p:cNvSpPr txBox="1"/>
          <p:nvPr/>
        </p:nvSpPr>
        <p:spPr>
          <a:xfrm>
            <a:off x="914400" y="5440680"/>
            <a:ext cx="10332720" cy="365760"/>
          </a:xfrm>
          <a:prstGeom prst="rect">
            <a:avLst/>
          </a:prstGeom>
          <a:noFill/>
        </p:spPr>
        <p:txBody>
          <a:bodyPr wrap="square" lIns="0" rIns="0" tIns="0" bIns="0" anchor="t">
            <a:spAutoFit/>
          </a:bodyPr>
          <a:lstStyle/>
          <a:p>
            <a:pPr algn="ctr">
              <a:lnSpc>
                <a:spcPct val="115000"/>
              </a:lnSpc>
            </a:pPr>
            <a:r>
              <a:rPr sz="1200" b="0" i="0">
                <a:solidFill>
                  <a:srgbClr val="4A4A52"/>
                </a:solidFill>
                <a:latin typeface="Consolas"/>
              </a:rPr>
              <a:t>EINS · Akquise-System für Praxen für ästhetische Medizin im DACH-Raum</a:t>
            </a:r>
          </a:p>
        </p:txBody>
      </p:sp>
      <p:sp>
        <p:nvSpPr>
          <p:cNvPr id="8" name="TextBox 7"/>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EINS · Strategievorschlag</a:t>
            </a:r>
          </a:p>
        </p:txBody>
      </p:sp>
      <p:sp>
        <p:nvSpPr>
          <p:cNvPr id="9" name="TextBox 8"/>
          <p:cNvSpPr txBox="1"/>
          <p:nvPr/>
        </p:nvSpPr>
        <p:spPr>
          <a:xfrm>
            <a:off x="6400800" y="6492240"/>
            <a:ext cx="5486400" cy="274320"/>
          </a:xfrm>
          <a:prstGeom prst="rect">
            <a:avLst/>
          </a:prstGeom>
          <a:noFill/>
        </p:spPr>
        <p:txBody>
          <a:bodyPr wrap="square" lIns="0" rIns="0" tIns="0" bIns="0" anchor="t">
            <a:spAutoFit/>
          </a:bodyPr>
          <a:lstStyle/>
          <a:p>
            <a:pPr algn="r">
              <a:lnSpc>
                <a:spcPct val="115000"/>
              </a:lnSpc>
            </a:pPr>
            <a:r>
              <a:rPr sz="1000" b="0" i="0">
                <a:solidFill>
                  <a:srgbClr val="6A6A74"/>
                </a:solidFill>
                <a:latin typeface="Consolas"/>
              </a:rPr>
              <a:t>//03</a:t>
            </a:r>
          </a:p>
        </p:txBody>
      </p:sp>
    </p:spTree>
  </p:cSld>
  <p:clrMapOvr>
    <a:masterClrMapping/>
  </p:clrMapOvr>
  <p:transition xmlns:p14="http://schemas.microsoft.com/office/powerpoint/2010/main" spd="med" p14:dur="400">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Oval 3"/>
          <p:cNvSpPr/>
          <p:nvPr/>
        </p:nvSpPr>
        <p:spPr>
          <a:xfrm>
            <a:off x="457200" y="140817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Über [PRAXIS_NAME]</a:t>
            </a:r>
          </a:p>
        </p:txBody>
      </p:sp>
      <p:sp>
        <p:nvSpPr>
          <p:cNvPr id="6" name="TextBox 5"/>
          <p:cNvSpPr txBox="1"/>
          <p:nvPr/>
        </p:nvSpPr>
        <p:spPr>
          <a:xfrm>
            <a:off x="457200" y="1783080"/>
            <a:ext cx="10515600" cy="1280160"/>
          </a:xfrm>
          <a:prstGeom prst="rect">
            <a:avLst/>
          </a:prstGeom>
          <a:noFill/>
        </p:spPr>
        <p:txBody>
          <a:bodyPr wrap="square" lIns="0" rIns="0" tIns="0" bIns="0" anchor="t">
            <a:spAutoFit/>
          </a:bodyPr>
          <a:lstStyle/>
          <a:p>
            <a:pPr algn="l">
              <a:lnSpc>
                <a:spcPct val="100000"/>
              </a:lnSpc>
            </a:pPr>
            <a:r>
              <a:rPr sz="5800" b="1" i="0">
                <a:solidFill>
                  <a:srgbClr val="10101A"/>
                </a:solidFill>
                <a:latin typeface="Helvetica Neue"/>
              </a:rPr>
              <a:t>Wir kennen Ihre Praxis.</a:t>
            </a:r>
          </a:p>
        </p:txBody>
      </p:sp>
      <p:sp>
        <p:nvSpPr>
          <p:cNvPr id="7" name="TextBox 6"/>
          <p:cNvSpPr txBox="1"/>
          <p:nvPr/>
        </p:nvSpPr>
        <p:spPr>
          <a:xfrm>
            <a:off x="457200" y="3383280"/>
            <a:ext cx="237744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Standort</a:t>
            </a:r>
          </a:p>
        </p:txBody>
      </p:sp>
      <p:sp>
        <p:nvSpPr>
          <p:cNvPr id="8" name="TextBox 7"/>
          <p:cNvSpPr txBox="1"/>
          <p:nvPr/>
        </p:nvSpPr>
        <p:spPr>
          <a:xfrm>
            <a:off x="457200" y="3657600"/>
            <a:ext cx="4754880" cy="457200"/>
          </a:xfrm>
          <a:prstGeom prst="rect">
            <a:avLst/>
          </a:prstGeom>
          <a:noFill/>
        </p:spPr>
        <p:txBody>
          <a:bodyPr wrap="square" lIns="0" rIns="0" tIns="0" bIns="0" anchor="t">
            <a:spAutoFit/>
          </a:bodyPr>
          <a:lstStyle/>
          <a:p>
            <a:pPr algn="l">
              <a:lnSpc>
                <a:spcPct val="115000"/>
              </a:lnSpc>
            </a:pPr>
            <a:r>
              <a:rPr sz="1800" b="0" i="0">
                <a:solidFill>
                  <a:srgbClr val="10101A"/>
                </a:solidFill>
                <a:latin typeface="Helvetica Neue"/>
              </a:rPr>
              <a:t>[STADT]</a:t>
            </a:r>
          </a:p>
        </p:txBody>
      </p:sp>
      <p:sp>
        <p:nvSpPr>
          <p:cNvPr id="9" name="TextBox 8"/>
          <p:cNvSpPr txBox="1"/>
          <p:nvPr/>
        </p:nvSpPr>
        <p:spPr>
          <a:xfrm>
            <a:off x="457200" y="4069080"/>
            <a:ext cx="237744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Behandlungsschwerpunkt</a:t>
            </a:r>
          </a:p>
        </p:txBody>
      </p:sp>
      <p:sp>
        <p:nvSpPr>
          <p:cNvPr id="10" name="TextBox 9"/>
          <p:cNvSpPr txBox="1"/>
          <p:nvPr/>
        </p:nvSpPr>
        <p:spPr>
          <a:xfrm>
            <a:off x="457200" y="4343400"/>
            <a:ext cx="4754880" cy="457200"/>
          </a:xfrm>
          <a:prstGeom prst="rect">
            <a:avLst/>
          </a:prstGeom>
          <a:noFill/>
        </p:spPr>
        <p:txBody>
          <a:bodyPr wrap="square" lIns="0" rIns="0" tIns="0" bIns="0" anchor="t">
            <a:spAutoFit/>
          </a:bodyPr>
          <a:lstStyle/>
          <a:p>
            <a:pPr algn="l">
              <a:lnSpc>
                <a:spcPct val="115000"/>
              </a:lnSpc>
            </a:pPr>
            <a:r>
              <a:rPr sz="1800" b="0" i="0">
                <a:solidFill>
                  <a:srgbClr val="10101A"/>
                </a:solidFill>
                <a:latin typeface="Helvetica Neue"/>
              </a:rPr>
              <a:t>[BEHANDLUNGS-SCHWERPUNKT]</a:t>
            </a:r>
          </a:p>
        </p:txBody>
      </p:sp>
      <p:sp>
        <p:nvSpPr>
          <p:cNvPr id="11" name="TextBox 10"/>
          <p:cNvSpPr txBox="1"/>
          <p:nvPr/>
        </p:nvSpPr>
        <p:spPr>
          <a:xfrm>
            <a:off x="457200" y="4754880"/>
            <a:ext cx="237744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Gründungsjahr</a:t>
            </a:r>
          </a:p>
        </p:txBody>
      </p:sp>
      <p:sp>
        <p:nvSpPr>
          <p:cNvPr id="12" name="TextBox 11"/>
          <p:cNvSpPr txBox="1"/>
          <p:nvPr/>
        </p:nvSpPr>
        <p:spPr>
          <a:xfrm>
            <a:off x="457200" y="5029200"/>
            <a:ext cx="4754880" cy="457200"/>
          </a:xfrm>
          <a:prstGeom prst="rect">
            <a:avLst/>
          </a:prstGeom>
          <a:noFill/>
        </p:spPr>
        <p:txBody>
          <a:bodyPr wrap="square" lIns="0" rIns="0" tIns="0" bIns="0" anchor="t">
            <a:spAutoFit/>
          </a:bodyPr>
          <a:lstStyle/>
          <a:p>
            <a:pPr algn="l">
              <a:lnSpc>
                <a:spcPct val="115000"/>
              </a:lnSpc>
            </a:pPr>
            <a:r>
              <a:rPr sz="1800" b="0" i="0">
                <a:solidFill>
                  <a:srgbClr val="10101A"/>
                </a:solidFill>
                <a:latin typeface="Helvetica Neue"/>
              </a:rPr>
              <a:t>[GRÜNDUNGSJAHR] · geführt von [ÄRZTLICHER_LEITER]</a:t>
            </a:r>
          </a:p>
        </p:txBody>
      </p:sp>
      <p:sp>
        <p:nvSpPr>
          <p:cNvPr id="13" name="TextBox 12"/>
          <p:cNvSpPr txBox="1"/>
          <p:nvPr/>
        </p:nvSpPr>
        <p:spPr>
          <a:xfrm>
            <a:off x="457200" y="5440680"/>
            <a:ext cx="237744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Besonderes</a:t>
            </a:r>
          </a:p>
        </p:txBody>
      </p:sp>
      <p:sp>
        <p:nvSpPr>
          <p:cNvPr id="14" name="TextBox 13"/>
          <p:cNvSpPr txBox="1"/>
          <p:nvPr/>
        </p:nvSpPr>
        <p:spPr>
          <a:xfrm>
            <a:off x="457200" y="5715000"/>
            <a:ext cx="4754880" cy="457200"/>
          </a:xfrm>
          <a:prstGeom prst="rect">
            <a:avLst/>
          </a:prstGeom>
          <a:noFill/>
        </p:spPr>
        <p:txBody>
          <a:bodyPr wrap="square" lIns="0" rIns="0" tIns="0" bIns="0" anchor="t">
            <a:spAutoFit/>
          </a:bodyPr>
          <a:lstStyle/>
          <a:p>
            <a:pPr algn="l">
              <a:lnSpc>
                <a:spcPct val="115000"/>
              </a:lnSpc>
            </a:pPr>
            <a:r>
              <a:rPr sz="1800" b="0" i="0">
                <a:solidFill>
                  <a:srgbClr val="10101A"/>
                </a:solidFill>
                <a:latin typeface="Helvetica Neue"/>
              </a:rPr>
              <a:t>[USP_1]</a:t>
            </a:r>
          </a:p>
        </p:txBody>
      </p:sp>
      <p:sp>
        <p:nvSpPr>
          <p:cNvPr id="15" name="Rounded Rectangle 14"/>
          <p:cNvSpPr/>
          <p:nvPr/>
        </p:nvSpPr>
        <p:spPr>
          <a:xfrm>
            <a:off x="5943600" y="3383280"/>
            <a:ext cx="5852160" cy="256032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3520440"/>
            <a:ext cx="5394960" cy="2286000"/>
          </a:xfrm>
          <a:prstGeom prst="rect">
            <a:avLst/>
          </a:prstGeom>
          <a:noFill/>
        </p:spPr>
        <p:txBody>
          <a:bodyPr wrap="square" lIns="0" rIns="0" tIns="0" bIns="0" anchor="t">
            <a:spAutoFit/>
          </a:bodyPr>
          <a:lstStyle/>
          <a:p>
            <a:pPr algn="l">
              <a:lnSpc>
                <a:spcPct val="135000"/>
              </a:lnSpc>
            </a:pPr>
            <a:r>
              <a:rPr sz="1500" b="0" i="0">
                <a:solidFill>
                  <a:srgbClr val="10101A"/>
                </a:solidFill>
                <a:latin typeface="Inter"/>
              </a:rPr>
              <a:t>[PRAXIS_NAME] in [STADT] steht für medizinisch fundierte Ästhetik mit klarer Patientenführung. Schwerpunkte: [BEHANDLUNG_X], [BEHANDLUNG_Y]. Was uns aufgefallen ist: [INSIGHT_AUS_DISCOVERY_CALL]. Der Anspruch der Praxis ist deutlich höher als das, was online aktuell sichtbar wird.</a:t>
            </a:r>
          </a:p>
        </p:txBody>
      </p:sp>
      <p:sp>
        <p:nvSpPr>
          <p:cNvPr id="17" name="TextBox 16"/>
          <p:cNvSpPr txBox="1"/>
          <p:nvPr/>
        </p:nvSpPr>
        <p:spPr>
          <a:xfrm>
            <a:off x="457200" y="6080760"/>
            <a:ext cx="10972800" cy="457200"/>
          </a:xfrm>
          <a:prstGeom prst="rect">
            <a:avLst/>
          </a:prstGeom>
          <a:noFill/>
        </p:spPr>
        <p:txBody>
          <a:bodyPr wrap="square" lIns="0" rIns="0" tIns="0" bIns="0" anchor="t">
            <a:spAutoFit/>
          </a:bodyPr>
          <a:lstStyle/>
          <a:p>
            <a:pPr algn="l">
              <a:lnSpc>
                <a:spcPct val="115000"/>
              </a:lnSpc>
            </a:pPr>
            <a:r>
              <a:rPr sz="1800" b="1" i="0">
                <a:solidFill>
                  <a:srgbClr val="58BAB5"/>
                </a:solidFill>
                <a:latin typeface="Consolas"/>
              </a:rPr>
              <a:t>Stimmt das so?</a:t>
            </a:r>
          </a:p>
        </p:txBody>
      </p:sp>
      <p:sp>
        <p:nvSpPr>
          <p:cNvPr id="18" name="TextBox 17"/>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EINS · Strategievorschlag</a:t>
            </a:r>
          </a:p>
        </p:txBody>
      </p:sp>
      <p:sp>
        <p:nvSpPr>
          <p:cNvPr id="19" name="TextBox 18"/>
          <p:cNvSpPr txBox="1"/>
          <p:nvPr/>
        </p:nvSpPr>
        <p:spPr>
          <a:xfrm>
            <a:off x="6400800" y="6492240"/>
            <a:ext cx="5486400" cy="274320"/>
          </a:xfrm>
          <a:prstGeom prst="rect">
            <a:avLst/>
          </a:prstGeom>
          <a:noFill/>
        </p:spPr>
        <p:txBody>
          <a:bodyPr wrap="square" lIns="0" rIns="0" tIns="0" bIns="0" anchor="t">
            <a:spAutoFit/>
          </a:bodyPr>
          <a:lstStyle/>
          <a:p>
            <a:pPr algn="r">
              <a:lnSpc>
                <a:spcPct val="115000"/>
              </a:lnSpc>
            </a:pPr>
            <a:r>
              <a:rPr sz="1000" b="0" i="0">
                <a:solidFill>
                  <a:srgbClr val="6A6A74"/>
                </a:solidFill>
                <a:latin typeface="Consolas"/>
              </a:rPr>
              <a:t>//04</a:t>
            </a:r>
          </a:p>
        </p:txBody>
      </p:sp>
    </p:spTree>
  </p:cSld>
  <p:clrMapOvr>
    <a:masterClrMapping/>
  </p:clrMapOvr>
  <p:transition xmlns:p14="http://schemas.microsoft.com/office/powerpoint/2010/main" spd="med" p14:dur="400">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Oval 3"/>
          <p:cNvSpPr/>
          <p:nvPr/>
        </p:nvSpPr>
        <p:spPr>
          <a:xfrm>
            <a:off x="457200" y="140817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Ihre Ziele</a:t>
            </a:r>
          </a:p>
        </p:txBody>
      </p:sp>
      <p:sp>
        <p:nvSpPr>
          <p:cNvPr id="6" name="TextBox 5"/>
          <p:cNvSpPr txBox="1"/>
          <p:nvPr/>
        </p:nvSpPr>
        <p:spPr>
          <a:xfrm>
            <a:off x="457200" y="1783080"/>
            <a:ext cx="10515600" cy="1280160"/>
          </a:xfrm>
          <a:prstGeom prst="rect">
            <a:avLst/>
          </a:prstGeom>
          <a:noFill/>
        </p:spPr>
        <p:txBody>
          <a:bodyPr wrap="square" lIns="0" rIns="0" tIns="0" bIns="0" anchor="t">
            <a:spAutoFit/>
          </a:bodyPr>
          <a:lstStyle/>
          <a:p>
            <a:pPr algn="l">
              <a:lnSpc>
                <a:spcPct val="100000"/>
              </a:lnSpc>
            </a:pPr>
            <a:r>
              <a:rPr sz="5800" b="1" i="0">
                <a:solidFill>
                  <a:srgbClr val="10101A"/>
                </a:solidFill>
                <a:latin typeface="Helvetica Neue"/>
              </a:rPr>
              <a:t>Was Sie erreichen wollen.</a:t>
            </a:r>
          </a:p>
        </p:txBody>
      </p:sp>
      <p:sp>
        <p:nvSpPr>
          <p:cNvPr id="7" name="TextBox 6"/>
          <p:cNvSpPr txBox="1"/>
          <p:nvPr/>
        </p:nvSpPr>
        <p:spPr>
          <a:xfrm>
            <a:off x="457200" y="3291840"/>
            <a:ext cx="640080" cy="502920"/>
          </a:xfrm>
          <a:prstGeom prst="rect">
            <a:avLst/>
          </a:prstGeom>
          <a:noFill/>
        </p:spPr>
        <p:txBody>
          <a:bodyPr wrap="square" lIns="0" rIns="0" tIns="0" bIns="0" anchor="t">
            <a:spAutoFit/>
          </a:bodyPr>
          <a:lstStyle/>
          <a:p>
            <a:pPr algn="l">
              <a:lnSpc>
                <a:spcPct val="115000"/>
              </a:lnSpc>
            </a:pPr>
            <a:r>
              <a:rPr sz="1800" b="1" i="0">
                <a:solidFill>
                  <a:srgbClr val="58BAB5"/>
                </a:solidFill>
                <a:latin typeface="Consolas"/>
              </a:rPr>
              <a:t>01</a:t>
            </a:r>
          </a:p>
        </p:txBody>
      </p:sp>
      <p:sp>
        <p:nvSpPr>
          <p:cNvPr id="8" name="TextBox 7"/>
          <p:cNvSpPr txBox="1"/>
          <p:nvPr/>
        </p:nvSpPr>
        <p:spPr>
          <a:xfrm>
            <a:off x="1188720" y="3291840"/>
            <a:ext cx="10424160" cy="502920"/>
          </a:xfrm>
          <a:prstGeom prst="rect">
            <a:avLst/>
          </a:prstGeom>
          <a:noFill/>
        </p:spPr>
        <p:txBody>
          <a:bodyPr wrap="square" lIns="0" rIns="0" tIns="0" bIns="0" anchor="t">
            <a:spAutoFit/>
          </a:bodyPr>
          <a:lstStyle/>
          <a:p>
            <a:pPr algn="l">
              <a:lnSpc>
                <a:spcPct val="120000"/>
              </a:lnSpc>
            </a:pPr>
            <a:r>
              <a:rPr sz="1800" b="0" i="0">
                <a:solidFill>
                  <a:srgbClr val="10101A"/>
                </a:solidFill>
                <a:latin typeface="Helvetica Neue"/>
              </a:rPr>
              <a:t>Sie wollen [N] zusätzliche Selbstzahler-Patienten pro Monat. Korrekt?</a:t>
            </a:r>
          </a:p>
        </p:txBody>
      </p:sp>
      <p:sp>
        <p:nvSpPr>
          <p:cNvPr id="9" name="TextBox 8"/>
          <p:cNvSpPr txBox="1"/>
          <p:nvPr/>
        </p:nvSpPr>
        <p:spPr>
          <a:xfrm>
            <a:off x="457200" y="3794760"/>
            <a:ext cx="640080" cy="502920"/>
          </a:xfrm>
          <a:prstGeom prst="rect">
            <a:avLst/>
          </a:prstGeom>
          <a:noFill/>
        </p:spPr>
        <p:txBody>
          <a:bodyPr wrap="square" lIns="0" rIns="0" tIns="0" bIns="0" anchor="t">
            <a:spAutoFit/>
          </a:bodyPr>
          <a:lstStyle/>
          <a:p>
            <a:pPr algn="l">
              <a:lnSpc>
                <a:spcPct val="115000"/>
              </a:lnSpc>
            </a:pPr>
            <a:r>
              <a:rPr sz="1800" b="1" i="0">
                <a:solidFill>
                  <a:srgbClr val="58BAB5"/>
                </a:solidFill>
                <a:latin typeface="Consolas"/>
              </a:rPr>
              <a:t>02</a:t>
            </a:r>
          </a:p>
        </p:txBody>
      </p:sp>
      <p:sp>
        <p:nvSpPr>
          <p:cNvPr id="10" name="TextBox 9"/>
          <p:cNvSpPr txBox="1"/>
          <p:nvPr/>
        </p:nvSpPr>
        <p:spPr>
          <a:xfrm>
            <a:off x="1188720" y="3794760"/>
            <a:ext cx="10424160" cy="502920"/>
          </a:xfrm>
          <a:prstGeom prst="rect">
            <a:avLst/>
          </a:prstGeom>
          <a:noFill/>
        </p:spPr>
        <p:txBody>
          <a:bodyPr wrap="square" lIns="0" rIns="0" tIns="0" bIns="0" anchor="t">
            <a:spAutoFit/>
          </a:bodyPr>
          <a:lstStyle/>
          <a:p>
            <a:pPr algn="l">
              <a:lnSpc>
                <a:spcPct val="120000"/>
              </a:lnSpc>
            </a:pPr>
            <a:r>
              <a:rPr sz="1800" b="0" i="0">
                <a:solidFill>
                  <a:srgbClr val="10101A"/>
                </a:solidFill>
                <a:latin typeface="Helvetica Neue"/>
              </a:rPr>
              <a:t>Sie wollen mehr hochpreisige Behandlungen ([BEHANDLUNG_X], [BEHANDLUNG_Y]). Korrekt?</a:t>
            </a:r>
          </a:p>
        </p:txBody>
      </p:sp>
      <p:sp>
        <p:nvSpPr>
          <p:cNvPr id="11" name="TextBox 10"/>
          <p:cNvSpPr txBox="1"/>
          <p:nvPr/>
        </p:nvSpPr>
        <p:spPr>
          <a:xfrm>
            <a:off x="457200" y="4297680"/>
            <a:ext cx="640080" cy="502920"/>
          </a:xfrm>
          <a:prstGeom prst="rect">
            <a:avLst/>
          </a:prstGeom>
          <a:noFill/>
        </p:spPr>
        <p:txBody>
          <a:bodyPr wrap="square" lIns="0" rIns="0" tIns="0" bIns="0" anchor="t">
            <a:spAutoFit/>
          </a:bodyPr>
          <a:lstStyle/>
          <a:p>
            <a:pPr algn="l">
              <a:lnSpc>
                <a:spcPct val="115000"/>
              </a:lnSpc>
            </a:pPr>
            <a:r>
              <a:rPr sz="1800" b="1" i="0">
                <a:solidFill>
                  <a:srgbClr val="58BAB5"/>
                </a:solidFill>
                <a:latin typeface="Consolas"/>
              </a:rPr>
              <a:t>03</a:t>
            </a:r>
          </a:p>
        </p:txBody>
      </p:sp>
      <p:sp>
        <p:nvSpPr>
          <p:cNvPr id="12" name="TextBox 11"/>
          <p:cNvSpPr txBox="1"/>
          <p:nvPr/>
        </p:nvSpPr>
        <p:spPr>
          <a:xfrm>
            <a:off x="1188720" y="4297680"/>
            <a:ext cx="10424160" cy="502920"/>
          </a:xfrm>
          <a:prstGeom prst="rect">
            <a:avLst/>
          </a:prstGeom>
          <a:noFill/>
        </p:spPr>
        <p:txBody>
          <a:bodyPr wrap="square" lIns="0" rIns="0" tIns="0" bIns="0" anchor="t">
            <a:spAutoFit/>
          </a:bodyPr>
          <a:lstStyle/>
          <a:p>
            <a:pPr algn="l">
              <a:lnSpc>
                <a:spcPct val="120000"/>
              </a:lnSpc>
            </a:pPr>
            <a:r>
              <a:rPr sz="1800" b="0" i="0">
                <a:solidFill>
                  <a:srgbClr val="10101A"/>
                </a:solidFill>
                <a:latin typeface="Helvetica Neue"/>
              </a:rPr>
              <a:t>Sie wollen weniger Preisdiskussionen im Beratungsgespräch. Korrekt?</a:t>
            </a:r>
          </a:p>
        </p:txBody>
      </p:sp>
      <p:sp>
        <p:nvSpPr>
          <p:cNvPr id="13" name="TextBox 12"/>
          <p:cNvSpPr txBox="1"/>
          <p:nvPr/>
        </p:nvSpPr>
        <p:spPr>
          <a:xfrm>
            <a:off x="457200" y="4800600"/>
            <a:ext cx="640080" cy="502920"/>
          </a:xfrm>
          <a:prstGeom prst="rect">
            <a:avLst/>
          </a:prstGeom>
          <a:noFill/>
        </p:spPr>
        <p:txBody>
          <a:bodyPr wrap="square" lIns="0" rIns="0" tIns="0" bIns="0" anchor="t">
            <a:spAutoFit/>
          </a:bodyPr>
          <a:lstStyle/>
          <a:p>
            <a:pPr algn="l">
              <a:lnSpc>
                <a:spcPct val="115000"/>
              </a:lnSpc>
            </a:pPr>
            <a:r>
              <a:rPr sz="1800" b="1" i="0">
                <a:solidFill>
                  <a:srgbClr val="58BAB5"/>
                </a:solidFill>
                <a:latin typeface="Consolas"/>
              </a:rPr>
              <a:t>04</a:t>
            </a:r>
          </a:p>
        </p:txBody>
      </p:sp>
      <p:sp>
        <p:nvSpPr>
          <p:cNvPr id="14" name="TextBox 13"/>
          <p:cNvSpPr txBox="1"/>
          <p:nvPr/>
        </p:nvSpPr>
        <p:spPr>
          <a:xfrm>
            <a:off x="1188720" y="4800600"/>
            <a:ext cx="10424160" cy="502920"/>
          </a:xfrm>
          <a:prstGeom prst="rect">
            <a:avLst/>
          </a:prstGeom>
          <a:noFill/>
        </p:spPr>
        <p:txBody>
          <a:bodyPr wrap="square" lIns="0" rIns="0" tIns="0" bIns="0" anchor="t">
            <a:spAutoFit/>
          </a:bodyPr>
          <a:lstStyle/>
          <a:p>
            <a:pPr algn="l">
              <a:lnSpc>
                <a:spcPct val="120000"/>
              </a:lnSpc>
            </a:pPr>
            <a:r>
              <a:rPr sz="1800" b="0" i="0">
                <a:solidFill>
                  <a:srgbClr val="10101A"/>
                </a:solidFill>
                <a:latin typeface="Helvetica Neue"/>
              </a:rPr>
              <a:t>Sie wollen weniger Abhängigkeit von Empfehlungen, mehr planbare Nachfrage. Korrekt?</a:t>
            </a:r>
          </a:p>
        </p:txBody>
      </p:sp>
      <p:sp>
        <p:nvSpPr>
          <p:cNvPr id="15" name="TextBox 14"/>
          <p:cNvSpPr txBox="1"/>
          <p:nvPr/>
        </p:nvSpPr>
        <p:spPr>
          <a:xfrm>
            <a:off x="457200" y="5303520"/>
            <a:ext cx="640080" cy="502920"/>
          </a:xfrm>
          <a:prstGeom prst="rect">
            <a:avLst/>
          </a:prstGeom>
          <a:noFill/>
        </p:spPr>
        <p:txBody>
          <a:bodyPr wrap="square" lIns="0" rIns="0" tIns="0" bIns="0" anchor="t">
            <a:spAutoFit/>
          </a:bodyPr>
          <a:lstStyle/>
          <a:p>
            <a:pPr algn="l">
              <a:lnSpc>
                <a:spcPct val="115000"/>
              </a:lnSpc>
            </a:pPr>
            <a:r>
              <a:rPr sz="1800" b="1" i="0">
                <a:solidFill>
                  <a:srgbClr val="58BAB5"/>
                </a:solidFill>
                <a:latin typeface="Consolas"/>
              </a:rPr>
              <a:t>05</a:t>
            </a:r>
          </a:p>
        </p:txBody>
      </p:sp>
      <p:sp>
        <p:nvSpPr>
          <p:cNvPr id="16" name="TextBox 15"/>
          <p:cNvSpPr txBox="1"/>
          <p:nvPr/>
        </p:nvSpPr>
        <p:spPr>
          <a:xfrm>
            <a:off x="1188720" y="5303520"/>
            <a:ext cx="10424160" cy="502920"/>
          </a:xfrm>
          <a:prstGeom prst="rect">
            <a:avLst/>
          </a:prstGeom>
          <a:noFill/>
        </p:spPr>
        <p:txBody>
          <a:bodyPr wrap="square" lIns="0" rIns="0" tIns="0" bIns="0" anchor="t">
            <a:spAutoFit/>
          </a:bodyPr>
          <a:lstStyle/>
          <a:p>
            <a:pPr algn="l">
              <a:lnSpc>
                <a:spcPct val="120000"/>
              </a:lnSpc>
            </a:pPr>
            <a:r>
              <a:rPr sz="1800" b="0" i="0">
                <a:solidFill>
                  <a:srgbClr val="10101A"/>
                </a:solidFill>
                <a:latin typeface="Helvetica Neue"/>
              </a:rPr>
              <a:t>Sie wollen eine Auswertung, die Ihnen monatlich klar zeigt, was Marketing einbringt. Korrekt?</a:t>
            </a:r>
          </a:p>
        </p:txBody>
      </p:sp>
      <p:sp>
        <p:nvSpPr>
          <p:cNvPr id="17" name="TextBox 16"/>
          <p:cNvSpPr txBox="1"/>
          <p:nvPr/>
        </p:nvSpPr>
        <p:spPr>
          <a:xfrm>
            <a:off x="457200" y="5806440"/>
            <a:ext cx="640080" cy="502920"/>
          </a:xfrm>
          <a:prstGeom prst="rect">
            <a:avLst/>
          </a:prstGeom>
          <a:noFill/>
        </p:spPr>
        <p:txBody>
          <a:bodyPr wrap="square" lIns="0" rIns="0" tIns="0" bIns="0" anchor="t">
            <a:spAutoFit/>
          </a:bodyPr>
          <a:lstStyle/>
          <a:p>
            <a:pPr algn="l">
              <a:lnSpc>
                <a:spcPct val="115000"/>
              </a:lnSpc>
            </a:pPr>
            <a:r>
              <a:rPr sz="1800" b="1" i="0">
                <a:solidFill>
                  <a:srgbClr val="58BAB5"/>
                </a:solidFill>
                <a:latin typeface="Consolas"/>
              </a:rPr>
              <a:t>06</a:t>
            </a:r>
          </a:p>
        </p:txBody>
      </p:sp>
      <p:sp>
        <p:nvSpPr>
          <p:cNvPr id="18" name="TextBox 17"/>
          <p:cNvSpPr txBox="1"/>
          <p:nvPr/>
        </p:nvSpPr>
        <p:spPr>
          <a:xfrm>
            <a:off x="1188720" y="5806440"/>
            <a:ext cx="10424160" cy="502920"/>
          </a:xfrm>
          <a:prstGeom prst="rect">
            <a:avLst/>
          </a:prstGeom>
          <a:noFill/>
        </p:spPr>
        <p:txBody>
          <a:bodyPr wrap="square" lIns="0" rIns="0" tIns="0" bIns="0" anchor="t">
            <a:spAutoFit/>
          </a:bodyPr>
          <a:lstStyle/>
          <a:p>
            <a:pPr algn="l">
              <a:lnSpc>
                <a:spcPct val="120000"/>
              </a:lnSpc>
            </a:pPr>
            <a:r>
              <a:rPr sz="1800" b="0" i="0">
                <a:solidFill>
                  <a:srgbClr val="10101A"/>
                </a:solidFill>
                <a:latin typeface="Helvetica Neue"/>
              </a:rPr>
              <a:t>Sie wollen, dass Ihr Team behandelt, statt Marketing zu betreiben. Korrekt?</a:t>
            </a:r>
          </a:p>
        </p:txBody>
      </p:sp>
      <p:sp>
        <p:nvSpPr>
          <p:cNvPr id="19" name="TextBox 18"/>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EINS · Strategievorschlag</a:t>
            </a:r>
          </a:p>
        </p:txBody>
      </p:sp>
      <p:sp>
        <p:nvSpPr>
          <p:cNvPr id="20" name="TextBox 19"/>
          <p:cNvSpPr txBox="1"/>
          <p:nvPr/>
        </p:nvSpPr>
        <p:spPr>
          <a:xfrm>
            <a:off x="6400800" y="6492240"/>
            <a:ext cx="5486400" cy="274320"/>
          </a:xfrm>
          <a:prstGeom prst="rect">
            <a:avLst/>
          </a:prstGeom>
          <a:noFill/>
        </p:spPr>
        <p:txBody>
          <a:bodyPr wrap="square" lIns="0" rIns="0" tIns="0" bIns="0" anchor="t">
            <a:spAutoFit/>
          </a:bodyPr>
          <a:lstStyle/>
          <a:p>
            <a:pPr algn="r">
              <a:lnSpc>
                <a:spcPct val="115000"/>
              </a:lnSpc>
            </a:pPr>
            <a:r>
              <a:rPr sz="1000" b="0" i="0">
                <a:solidFill>
                  <a:srgbClr val="6A6A74"/>
                </a:solidFill>
                <a:latin typeface="Consolas"/>
              </a:rPr>
              <a:t>//05</a:t>
            </a:r>
          </a:p>
        </p:txBody>
      </p:sp>
    </p:spTree>
  </p:cSld>
  <p:clrMapOvr>
    <a:masterClrMapping/>
  </p:clrMapOvr>
  <p:transition xmlns:p14="http://schemas.microsoft.com/office/powerpoint/2010/main" spd="med" p14:dur="400">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Oval 3"/>
          <p:cNvSpPr/>
          <p:nvPr/>
        </p:nvSpPr>
        <p:spPr>
          <a:xfrm>
            <a:off x="457200" y="140817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Was aktuell fehlt</a:t>
            </a:r>
          </a:p>
        </p:txBody>
      </p:sp>
      <p:sp>
        <p:nvSpPr>
          <p:cNvPr id="6" name="TextBox 5"/>
          <p:cNvSpPr txBox="1"/>
          <p:nvPr/>
        </p:nvSpPr>
        <p:spPr>
          <a:xfrm>
            <a:off x="457200" y="1783080"/>
            <a:ext cx="10515600" cy="1280160"/>
          </a:xfrm>
          <a:prstGeom prst="rect">
            <a:avLst/>
          </a:prstGeom>
          <a:noFill/>
        </p:spPr>
        <p:txBody>
          <a:bodyPr wrap="square" lIns="0" rIns="0" tIns="0" bIns="0" anchor="t">
            <a:spAutoFit/>
          </a:bodyPr>
          <a:lstStyle/>
          <a:p>
            <a:pPr algn="l">
              <a:lnSpc>
                <a:spcPct val="100000"/>
              </a:lnSpc>
            </a:pPr>
            <a:r>
              <a:rPr sz="4600" b="1" i="0">
                <a:solidFill>
                  <a:srgbClr val="10101A"/>
                </a:solidFill>
                <a:latin typeface="Helvetica Neue"/>
              </a:rPr>
              <a:t>Lücken zwischen Anspruch und Auftritt.</a:t>
            </a:r>
          </a:p>
        </p:txBody>
      </p:sp>
      <p:sp>
        <p:nvSpPr>
          <p:cNvPr id="7" name="TextBox 6"/>
          <p:cNvSpPr txBox="1"/>
          <p:nvPr/>
        </p:nvSpPr>
        <p:spPr>
          <a:xfrm>
            <a:off x="457200" y="3200400"/>
            <a:ext cx="640080" cy="502920"/>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01</a:t>
            </a:r>
          </a:p>
        </p:txBody>
      </p:sp>
      <p:sp>
        <p:nvSpPr>
          <p:cNvPr id="8" name="TextBox 7"/>
          <p:cNvSpPr txBox="1"/>
          <p:nvPr/>
        </p:nvSpPr>
        <p:spPr>
          <a:xfrm>
            <a:off x="1188720" y="3200400"/>
            <a:ext cx="10424160" cy="502920"/>
          </a:xfrm>
          <a:prstGeom prst="rect">
            <a:avLst/>
          </a:prstGeom>
          <a:noFill/>
        </p:spPr>
        <p:txBody>
          <a:bodyPr wrap="square" lIns="0" rIns="0" tIns="0" bIns="0" anchor="t">
            <a:spAutoFit/>
          </a:bodyPr>
          <a:lstStyle/>
          <a:p>
            <a:pPr algn="l">
              <a:lnSpc>
                <a:spcPct val="125000"/>
              </a:lnSpc>
            </a:pPr>
            <a:r>
              <a:rPr sz="1400" b="0" i="0">
                <a:solidFill>
                  <a:srgbClr val="10101A"/>
                </a:solidFill>
                <a:latin typeface="Inter"/>
              </a:rPr>
              <a:t>Aktuell: kein eigenes Behandlungsvideo. Patienten googeln, finden Stockfotos, vergleichen mit Mitbewerbern.</a:t>
            </a:r>
          </a:p>
        </p:txBody>
      </p:sp>
      <p:sp>
        <p:nvSpPr>
          <p:cNvPr id="9" name="TextBox 8"/>
          <p:cNvSpPr txBox="1"/>
          <p:nvPr/>
        </p:nvSpPr>
        <p:spPr>
          <a:xfrm>
            <a:off x="457200" y="3657600"/>
            <a:ext cx="640080" cy="502920"/>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02</a:t>
            </a:r>
          </a:p>
        </p:txBody>
      </p:sp>
      <p:sp>
        <p:nvSpPr>
          <p:cNvPr id="10" name="TextBox 9"/>
          <p:cNvSpPr txBox="1"/>
          <p:nvPr/>
        </p:nvSpPr>
        <p:spPr>
          <a:xfrm>
            <a:off x="1188720" y="3657600"/>
            <a:ext cx="10424160" cy="502920"/>
          </a:xfrm>
          <a:prstGeom prst="rect">
            <a:avLst/>
          </a:prstGeom>
          <a:noFill/>
        </p:spPr>
        <p:txBody>
          <a:bodyPr wrap="square" lIns="0" rIns="0" tIns="0" bIns="0" anchor="t">
            <a:spAutoFit/>
          </a:bodyPr>
          <a:lstStyle/>
          <a:p>
            <a:pPr algn="l">
              <a:lnSpc>
                <a:spcPct val="125000"/>
              </a:lnSpc>
            </a:pPr>
            <a:r>
              <a:rPr sz="1400" b="0" i="0">
                <a:solidFill>
                  <a:srgbClr val="10101A"/>
                </a:solidFill>
                <a:latin typeface="Inter"/>
              </a:rPr>
              <a:t>Aktuell: keine fokussierte Zielseite. Beiträge, Anzeigen und Profil-Link führen auf die Hauptseite, Anfragen versanden.</a:t>
            </a:r>
          </a:p>
        </p:txBody>
      </p:sp>
      <p:sp>
        <p:nvSpPr>
          <p:cNvPr id="11" name="TextBox 10"/>
          <p:cNvSpPr txBox="1"/>
          <p:nvPr/>
        </p:nvSpPr>
        <p:spPr>
          <a:xfrm>
            <a:off x="457200" y="4114800"/>
            <a:ext cx="640080" cy="502920"/>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03</a:t>
            </a:r>
          </a:p>
        </p:txBody>
      </p:sp>
      <p:sp>
        <p:nvSpPr>
          <p:cNvPr id="12" name="TextBox 11"/>
          <p:cNvSpPr txBox="1"/>
          <p:nvPr/>
        </p:nvSpPr>
        <p:spPr>
          <a:xfrm>
            <a:off x="1188720" y="4114800"/>
            <a:ext cx="10424160" cy="502920"/>
          </a:xfrm>
          <a:prstGeom prst="rect">
            <a:avLst/>
          </a:prstGeom>
          <a:noFill/>
        </p:spPr>
        <p:txBody>
          <a:bodyPr wrap="square" lIns="0" rIns="0" tIns="0" bIns="0" anchor="t">
            <a:spAutoFit/>
          </a:bodyPr>
          <a:lstStyle/>
          <a:p>
            <a:pPr algn="l">
              <a:lnSpc>
                <a:spcPct val="125000"/>
              </a:lnSpc>
            </a:pPr>
            <a:r>
              <a:rPr sz="1400" b="0" i="0">
                <a:solidFill>
                  <a:srgbClr val="10101A"/>
                </a:solidFill>
                <a:latin typeface="Inter"/>
              </a:rPr>
              <a:t>Aktuell: keine Vorqualifizierung. Ihr Team telefoniert mit Preis-Shoppern statt mit zahlungsbereiten Patienten.</a:t>
            </a:r>
          </a:p>
        </p:txBody>
      </p:sp>
      <p:sp>
        <p:nvSpPr>
          <p:cNvPr id="13" name="TextBox 12"/>
          <p:cNvSpPr txBox="1"/>
          <p:nvPr/>
        </p:nvSpPr>
        <p:spPr>
          <a:xfrm>
            <a:off x="457200" y="4572000"/>
            <a:ext cx="640080" cy="502920"/>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04</a:t>
            </a:r>
          </a:p>
        </p:txBody>
      </p:sp>
      <p:sp>
        <p:nvSpPr>
          <p:cNvPr id="14" name="TextBox 13"/>
          <p:cNvSpPr txBox="1"/>
          <p:nvPr/>
        </p:nvSpPr>
        <p:spPr>
          <a:xfrm>
            <a:off x="1188720" y="4572000"/>
            <a:ext cx="10424160" cy="502920"/>
          </a:xfrm>
          <a:prstGeom prst="rect">
            <a:avLst/>
          </a:prstGeom>
          <a:noFill/>
        </p:spPr>
        <p:txBody>
          <a:bodyPr wrap="square" lIns="0" rIns="0" tIns="0" bIns="0" anchor="t">
            <a:spAutoFit/>
          </a:bodyPr>
          <a:lstStyle/>
          <a:p>
            <a:pPr algn="l">
              <a:lnSpc>
                <a:spcPct val="125000"/>
              </a:lnSpc>
            </a:pPr>
            <a:r>
              <a:rPr sz="1400" b="0" i="0">
                <a:solidFill>
                  <a:srgbClr val="10101A"/>
                </a:solidFill>
                <a:latin typeface="Inter"/>
              </a:rPr>
              <a:t>Aktuell: keine systematische Bewertungs-Strecke. 72 Prozent der Patienten buchen nur ab 4+ Sternen.</a:t>
            </a:r>
          </a:p>
        </p:txBody>
      </p:sp>
      <p:sp>
        <p:nvSpPr>
          <p:cNvPr id="15" name="TextBox 14"/>
          <p:cNvSpPr txBox="1"/>
          <p:nvPr/>
        </p:nvSpPr>
        <p:spPr>
          <a:xfrm>
            <a:off x="457200" y="5029200"/>
            <a:ext cx="640080" cy="502920"/>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05</a:t>
            </a:r>
          </a:p>
        </p:txBody>
      </p:sp>
      <p:sp>
        <p:nvSpPr>
          <p:cNvPr id="16" name="TextBox 15"/>
          <p:cNvSpPr txBox="1"/>
          <p:nvPr/>
        </p:nvSpPr>
        <p:spPr>
          <a:xfrm>
            <a:off x="1188720" y="5029200"/>
            <a:ext cx="10424160" cy="502920"/>
          </a:xfrm>
          <a:prstGeom prst="rect">
            <a:avLst/>
          </a:prstGeom>
          <a:noFill/>
        </p:spPr>
        <p:txBody>
          <a:bodyPr wrap="square" lIns="0" rIns="0" tIns="0" bIns="0" anchor="t">
            <a:spAutoFit/>
          </a:bodyPr>
          <a:lstStyle/>
          <a:p>
            <a:pPr algn="l">
              <a:lnSpc>
                <a:spcPct val="125000"/>
              </a:lnSpc>
            </a:pPr>
            <a:r>
              <a:rPr sz="1400" b="0" i="0">
                <a:solidFill>
                  <a:srgbClr val="10101A"/>
                </a:solidFill>
                <a:latin typeface="Inter"/>
              </a:rPr>
              <a:t>Aktuell: keine Auswertung pro Behandlung. Sie wissen nicht, was Botox und Facelift pro Patient kosten.</a:t>
            </a:r>
          </a:p>
        </p:txBody>
      </p:sp>
      <p:sp>
        <p:nvSpPr>
          <p:cNvPr id="17" name="TextBox 16"/>
          <p:cNvSpPr txBox="1"/>
          <p:nvPr/>
        </p:nvSpPr>
        <p:spPr>
          <a:xfrm>
            <a:off x="457200" y="5486400"/>
            <a:ext cx="640080" cy="502920"/>
          </a:xfrm>
          <a:prstGeom prst="rect">
            <a:avLst/>
          </a:prstGeom>
          <a:noFill/>
        </p:spPr>
        <p:txBody>
          <a:bodyPr wrap="square" lIns="0" rIns="0" tIns="0" bIns="0" anchor="t">
            <a:spAutoFit/>
          </a:bodyPr>
          <a:lstStyle/>
          <a:p>
            <a:pPr algn="l">
              <a:lnSpc>
                <a:spcPct val="115000"/>
              </a:lnSpc>
            </a:pPr>
            <a:r>
              <a:rPr sz="1400" b="1" i="0">
                <a:solidFill>
                  <a:srgbClr val="58BAB5"/>
                </a:solidFill>
                <a:latin typeface="Consolas"/>
              </a:rPr>
              <a:t>06</a:t>
            </a:r>
          </a:p>
        </p:txBody>
      </p:sp>
      <p:sp>
        <p:nvSpPr>
          <p:cNvPr id="18" name="TextBox 17"/>
          <p:cNvSpPr txBox="1"/>
          <p:nvPr/>
        </p:nvSpPr>
        <p:spPr>
          <a:xfrm>
            <a:off x="1188720" y="5486400"/>
            <a:ext cx="10424160" cy="502920"/>
          </a:xfrm>
          <a:prstGeom prst="rect">
            <a:avLst/>
          </a:prstGeom>
          <a:noFill/>
        </p:spPr>
        <p:txBody>
          <a:bodyPr wrap="square" lIns="0" rIns="0" tIns="0" bIns="0" anchor="t">
            <a:spAutoFit/>
          </a:bodyPr>
          <a:lstStyle/>
          <a:p>
            <a:pPr algn="l">
              <a:lnSpc>
                <a:spcPct val="125000"/>
              </a:lnSpc>
            </a:pPr>
            <a:r>
              <a:rPr sz="1400" b="0" i="0">
                <a:solidFill>
                  <a:srgbClr val="10101A"/>
                </a:solidFill>
                <a:latin typeface="Inter"/>
              </a:rPr>
              <a:t>Aktuell: kein klar geprüfter HWG-Kanal. Jeder Beitrag und jede Anzeige ist ein offenes Abmahnrisiko.</a:t>
            </a:r>
          </a:p>
        </p:txBody>
      </p:sp>
      <p:sp>
        <p:nvSpPr>
          <p:cNvPr id="19" name="TextBox 18"/>
          <p:cNvSpPr txBox="1"/>
          <p:nvPr/>
        </p:nvSpPr>
        <p:spPr>
          <a:xfrm>
            <a:off x="457200" y="6080760"/>
            <a:ext cx="10972800" cy="365760"/>
          </a:xfrm>
          <a:prstGeom prst="rect">
            <a:avLst/>
          </a:prstGeom>
          <a:noFill/>
        </p:spPr>
        <p:txBody>
          <a:bodyPr wrap="square" lIns="0" rIns="0" tIns="0" bIns="0" anchor="t">
            <a:spAutoFit/>
          </a:bodyPr>
          <a:lstStyle/>
          <a:p>
            <a:pPr algn="l">
              <a:lnSpc>
                <a:spcPct val="115000"/>
              </a:lnSpc>
            </a:pPr>
            <a:r>
              <a:rPr sz="1300" b="1" i="0">
                <a:solidFill>
                  <a:srgbClr val="58BAB5"/>
                </a:solidFill>
                <a:latin typeface="Consolas"/>
              </a:rPr>
              <a:t>Jeder dieser Punkte ist Umsatz, der jeden Monat liegen bleibt.</a:t>
            </a:r>
          </a:p>
        </p:txBody>
      </p:sp>
      <p:sp>
        <p:nvSpPr>
          <p:cNvPr id="20" name="TextBox 19"/>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EINS · Strategievorschlag</a:t>
            </a:r>
          </a:p>
        </p:txBody>
      </p:sp>
      <p:sp>
        <p:nvSpPr>
          <p:cNvPr id="21" name="TextBox 20"/>
          <p:cNvSpPr txBox="1"/>
          <p:nvPr/>
        </p:nvSpPr>
        <p:spPr>
          <a:xfrm>
            <a:off x="6400800" y="6492240"/>
            <a:ext cx="5486400" cy="274320"/>
          </a:xfrm>
          <a:prstGeom prst="rect">
            <a:avLst/>
          </a:prstGeom>
          <a:noFill/>
        </p:spPr>
        <p:txBody>
          <a:bodyPr wrap="square" lIns="0" rIns="0" tIns="0" bIns="0" anchor="t">
            <a:spAutoFit/>
          </a:bodyPr>
          <a:lstStyle/>
          <a:p>
            <a:pPr algn="r">
              <a:lnSpc>
                <a:spcPct val="115000"/>
              </a:lnSpc>
            </a:pPr>
            <a:r>
              <a:rPr sz="1000" b="0" i="0">
                <a:solidFill>
                  <a:srgbClr val="6A6A74"/>
                </a:solidFill>
                <a:latin typeface="Consolas"/>
              </a:rPr>
              <a:t>//06</a:t>
            </a:r>
          </a:p>
        </p:txBody>
      </p:sp>
    </p:spTree>
  </p:cSld>
  <p:clrMapOvr>
    <a:masterClrMapping/>
  </p:clrMapOvr>
  <p:transition xmlns:p14="http://schemas.microsoft.com/office/powerpoint/2010/main" spd="med" p14:dur="400">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Oval 3"/>
          <p:cNvSpPr/>
          <p:nvPr/>
        </p:nvSpPr>
        <p:spPr>
          <a:xfrm>
            <a:off x="457200" y="140817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Ihre Vorschau-Anzeigen</a:t>
            </a:r>
          </a:p>
        </p:txBody>
      </p:sp>
      <p:sp>
        <p:nvSpPr>
          <p:cNvPr id="6" name="TextBox 5"/>
          <p:cNvSpPr txBox="1"/>
          <p:nvPr/>
        </p:nvSpPr>
        <p:spPr>
          <a:xfrm>
            <a:off x="457200" y="1783080"/>
            <a:ext cx="10972800" cy="822960"/>
          </a:xfrm>
          <a:prstGeom prst="rect">
            <a:avLst/>
          </a:prstGeom>
          <a:noFill/>
        </p:spPr>
        <p:txBody>
          <a:bodyPr wrap="square" lIns="0" rIns="0" tIns="0" bIns="0" anchor="t">
            <a:spAutoFit/>
          </a:bodyPr>
          <a:lstStyle/>
          <a:p>
            <a:pPr algn="l">
              <a:lnSpc>
                <a:spcPct val="100000"/>
              </a:lnSpc>
            </a:pPr>
            <a:r>
              <a:rPr sz="4200" b="1" i="0">
                <a:solidFill>
                  <a:srgbClr val="10101A"/>
                </a:solidFill>
                <a:latin typeface="Helvetica Neue"/>
              </a:rPr>
              <a:t>Ihre drei Anzeigen. Schon gebaut.</a:t>
            </a:r>
          </a:p>
        </p:txBody>
      </p:sp>
      <p:sp>
        <p:nvSpPr>
          <p:cNvPr id="7" name="TextBox 6"/>
          <p:cNvSpPr txBox="1"/>
          <p:nvPr/>
        </p:nvSpPr>
        <p:spPr>
          <a:xfrm>
            <a:off x="457200" y="2468880"/>
            <a:ext cx="11338560" cy="548640"/>
          </a:xfrm>
          <a:prstGeom prst="rect">
            <a:avLst/>
          </a:prstGeom>
          <a:noFill/>
        </p:spPr>
        <p:txBody>
          <a:bodyPr wrap="square" lIns="0" rIns="0" tIns="0" bIns="0" anchor="t">
            <a:spAutoFit/>
          </a:bodyPr>
          <a:lstStyle/>
          <a:p>
            <a:pPr algn="l">
              <a:lnSpc>
                <a:spcPct val="125000"/>
              </a:lnSpc>
            </a:pPr>
            <a:r>
              <a:rPr sz="1400" b="0" i="0">
                <a:solidFill>
                  <a:srgbClr val="10101A"/>
                </a:solidFill>
                <a:latin typeface="Inter"/>
              </a:rPr>
              <a:t>Für Ihre profitabelste Behandlung, [BEHANDLUNG_X]. Mit Animation, Text und Bildern, ohne Gesicht und Stimme, HWG-sauber. Sie sehen Ihre Anzeigen, bevor Sie zahlen.</a:t>
            </a:r>
          </a:p>
        </p:txBody>
      </p:sp>
      <p:sp>
        <p:nvSpPr>
          <p:cNvPr id="8" name="Rounded Rectangle 7"/>
          <p:cNvSpPr/>
          <p:nvPr/>
        </p:nvSpPr>
        <p:spPr>
          <a:xfrm>
            <a:off x="457200" y="3246120"/>
            <a:ext cx="3657600" cy="274320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3474720"/>
            <a:ext cx="3200400" cy="1508760"/>
          </a:xfrm>
          <a:prstGeom prst="roundRect">
            <a:avLst>
              <a:gd name="adj" fmla="val 6000"/>
            </a:avLst>
          </a:prstGeom>
          <a:solidFill>
            <a:srgbClr val="FFFFFF"/>
          </a:solidFill>
          <a:ln w="9525">
            <a:solidFill>
              <a:srgbClr val="58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959352"/>
            <a:ext cx="3200400" cy="274320"/>
          </a:xfrm>
          <a:prstGeom prst="rect">
            <a:avLst/>
          </a:prstGeom>
          <a:noFill/>
        </p:spPr>
        <p:txBody>
          <a:bodyPr wrap="square" lIns="0" rIns="0" tIns="0" bIns="0" anchor="t">
            <a:spAutoFit/>
          </a:bodyPr>
          <a:lstStyle/>
          <a:p>
            <a:pPr algn="ctr">
              <a:lnSpc>
                <a:spcPct val="115000"/>
              </a:lnSpc>
            </a:pPr>
            <a:r>
              <a:rPr sz="1200" b="1" i="0">
                <a:solidFill>
                  <a:srgbClr val="58BAB5"/>
                </a:solidFill>
                <a:latin typeface="Consolas"/>
              </a:rPr>
              <a:t>[VORSCHAU_ANZEIGE_1]</a:t>
            </a:r>
          </a:p>
        </p:txBody>
      </p:sp>
      <p:sp>
        <p:nvSpPr>
          <p:cNvPr id="11" name="TextBox 10"/>
          <p:cNvSpPr txBox="1"/>
          <p:nvPr/>
        </p:nvSpPr>
        <p:spPr>
          <a:xfrm>
            <a:off x="685800" y="4279391"/>
            <a:ext cx="3200400" cy="274320"/>
          </a:xfrm>
          <a:prstGeom prst="rect">
            <a:avLst/>
          </a:prstGeom>
          <a:noFill/>
        </p:spPr>
        <p:txBody>
          <a:bodyPr wrap="square" lIns="0" rIns="0" tIns="0" bIns="0" anchor="t">
            <a:spAutoFit/>
          </a:bodyPr>
          <a:lstStyle/>
          <a:p>
            <a:pPr algn="ctr">
              <a:lnSpc>
                <a:spcPct val="115000"/>
              </a:lnSpc>
            </a:pPr>
            <a:r>
              <a:rPr sz="900" b="0" i="0">
                <a:solidFill>
                  <a:srgbClr val="4A4A52"/>
                </a:solidFill>
                <a:latin typeface="Consolas"/>
              </a:rPr>
              <a:t>Bild oder Standbild einsetzen</a:t>
            </a:r>
          </a:p>
        </p:txBody>
      </p:sp>
      <p:sp>
        <p:nvSpPr>
          <p:cNvPr id="12" name="TextBox 11"/>
          <p:cNvSpPr txBox="1"/>
          <p:nvPr/>
        </p:nvSpPr>
        <p:spPr>
          <a:xfrm>
            <a:off x="731520" y="5120639"/>
            <a:ext cx="3108960" cy="274320"/>
          </a:xfrm>
          <a:prstGeom prst="rect">
            <a:avLst/>
          </a:prstGeom>
          <a:noFill/>
        </p:spPr>
        <p:txBody>
          <a:bodyPr wrap="square" lIns="0" rIns="0" tIns="0" bIns="0" anchor="t">
            <a:spAutoFit/>
          </a:bodyPr>
          <a:lstStyle/>
          <a:p>
            <a:pPr algn="l">
              <a:lnSpc>
                <a:spcPct val="115000"/>
              </a:lnSpc>
            </a:pPr>
            <a:r>
              <a:rPr sz="1000" b="1" i="0">
                <a:solidFill>
                  <a:srgbClr val="58BAB5"/>
                </a:solidFill>
                <a:latin typeface="Consolas"/>
              </a:rPr>
              <a:t>Anzeige 01</a:t>
            </a:r>
          </a:p>
        </p:txBody>
      </p:sp>
      <p:sp>
        <p:nvSpPr>
          <p:cNvPr id="13" name="TextBox 12"/>
          <p:cNvSpPr txBox="1"/>
          <p:nvPr/>
        </p:nvSpPr>
        <p:spPr>
          <a:xfrm>
            <a:off x="731520" y="5349240"/>
            <a:ext cx="3108960" cy="320040"/>
          </a:xfrm>
          <a:prstGeom prst="rect">
            <a:avLst/>
          </a:prstGeom>
          <a:noFill/>
        </p:spPr>
        <p:txBody>
          <a:bodyPr wrap="square" lIns="0" rIns="0" tIns="0" bIns="0" anchor="t">
            <a:spAutoFit/>
          </a:bodyPr>
          <a:lstStyle/>
          <a:p>
            <a:pPr algn="l">
              <a:lnSpc>
                <a:spcPct val="115000"/>
              </a:lnSpc>
            </a:pPr>
            <a:r>
              <a:rPr sz="1500" b="1" i="0">
                <a:solidFill>
                  <a:srgbClr val="10101A"/>
                </a:solidFill>
                <a:latin typeface="Helvetica Neue"/>
              </a:rPr>
              <a:t>[ÜBERSCHRIFT_1]</a:t>
            </a:r>
          </a:p>
        </p:txBody>
      </p:sp>
      <p:sp>
        <p:nvSpPr>
          <p:cNvPr id="14" name="TextBox 13"/>
          <p:cNvSpPr txBox="1"/>
          <p:nvPr/>
        </p:nvSpPr>
        <p:spPr>
          <a:xfrm>
            <a:off x="731520" y="5669280"/>
            <a:ext cx="3108960" cy="274320"/>
          </a:xfrm>
          <a:prstGeom prst="rect">
            <a:avLst/>
          </a:prstGeom>
          <a:noFill/>
        </p:spPr>
        <p:txBody>
          <a:bodyPr wrap="square" lIns="0" rIns="0" tIns="0" bIns="0" anchor="t">
            <a:spAutoFit/>
          </a:bodyPr>
          <a:lstStyle/>
          <a:p>
            <a:pPr algn="l">
              <a:lnSpc>
                <a:spcPct val="115000"/>
              </a:lnSpc>
            </a:pPr>
            <a:r>
              <a:rPr sz="1100" b="0" i="0">
                <a:solidFill>
                  <a:srgbClr val="10101A"/>
                </a:solidFill>
                <a:latin typeface="Inter"/>
              </a:rPr>
              <a:t>[ANZEIGENTEXT_1]</a:t>
            </a:r>
          </a:p>
        </p:txBody>
      </p:sp>
      <p:sp>
        <p:nvSpPr>
          <p:cNvPr id="15" name="Rounded Rectangle 14"/>
          <p:cNvSpPr/>
          <p:nvPr/>
        </p:nvSpPr>
        <p:spPr>
          <a:xfrm>
            <a:off x="4297680" y="3246120"/>
            <a:ext cx="3657600" cy="274320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26280" y="3474720"/>
            <a:ext cx="3200400" cy="1508760"/>
          </a:xfrm>
          <a:prstGeom prst="roundRect">
            <a:avLst>
              <a:gd name="adj" fmla="val 6000"/>
            </a:avLst>
          </a:prstGeom>
          <a:solidFill>
            <a:srgbClr val="FFFFFF"/>
          </a:solidFill>
          <a:ln w="9525">
            <a:solidFill>
              <a:srgbClr val="58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3959352"/>
            <a:ext cx="3200400" cy="274320"/>
          </a:xfrm>
          <a:prstGeom prst="rect">
            <a:avLst/>
          </a:prstGeom>
          <a:noFill/>
        </p:spPr>
        <p:txBody>
          <a:bodyPr wrap="square" lIns="0" rIns="0" tIns="0" bIns="0" anchor="t">
            <a:spAutoFit/>
          </a:bodyPr>
          <a:lstStyle/>
          <a:p>
            <a:pPr algn="ctr">
              <a:lnSpc>
                <a:spcPct val="115000"/>
              </a:lnSpc>
            </a:pPr>
            <a:r>
              <a:rPr sz="1200" b="1" i="0">
                <a:solidFill>
                  <a:srgbClr val="58BAB5"/>
                </a:solidFill>
                <a:latin typeface="Consolas"/>
              </a:rPr>
              <a:t>[VORSCHAU_ANZEIGE_2]</a:t>
            </a:r>
          </a:p>
        </p:txBody>
      </p:sp>
      <p:sp>
        <p:nvSpPr>
          <p:cNvPr id="18" name="TextBox 17"/>
          <p:cNvSpPr txBox="1"/>
          <p:nvPr/>
        </p:nvSpPr>
        <p:spPr>
          <a:xfrm>
            <a:off x="4526280" y="4279391"/>
            <a:ext cx="3200400" cy="274320"/>
          </a:xfrm>
          <a:prstGeom prst="rect">
            <a:avLst/>
          </a:prstGeom>
          <a:noFill/>
        </p:spPr>
        <p:txBody>
          <a:bodyPr wrap="square" lIns="0" rIns="0" tIns="0" bIns="0" anchor="t">
            <a:spAutoFit/>
          </a:bodyPr>
          <a:lstStyle/>
          <a:p>
            <a:pPr algn="ctr">
              <a:lnSpc>
                <a:spcPct val="115000"/>
              </a:lnSpc>
            </a:pPr>
            <a:r>
              <a:rPr sz="900" b="0" i="0">
                <a:solidFill>
                  <a:srgbClr val="4A4A52"/>
                </a:solidFill>
                <a:latin typeface="Consolas"/>
              </a:rPr>
              <a:t>Bild oder Standbild einsetzen</a:t>
            </a:r>
          </a:p>
        </p:txBody>
      </p:sp>
      <p:sp>
        <p:nvSpPr>
          <p:cNvPr id="19" name="TextBox 18"/>
          <p:cNvSpPr txBox="1"/>
          <p:nvPr/>
        </p:nvSpPr>
        <p:spPr>
          <a:xfrm>
            <a:off x="4572000" y="5120639"/>
            <a:ext cx="3108960" cy="274320"/>
          </a:xfrm>
          <a:prstGeom prst="rect">
            <a:avLst/>
          </a:prstGeom>
          <a:noFill/>
        </p:spPr>
        <p:txBody>
          <a:bodyPr wrap="square" lIns="0" rIns="0" tIns="0" bIns="0" anchor="t">
            <a:spAutoFit/>
          </a:bodyPr>
          <a:lstStyle/>
          <a:p>
            <a:pPr algn="l">
              <a:lnSpc>
                <a:spcPct val="115000"/>
              </a:lnSpc>
            </a:pPr>
            <a:r>
              <a:rPr sz="1000" b="1" i="0">
                <a:solidFill>
                  <a:srgbClr val="58BAB5"/>
                </a:solidFill>
                <a:latin typeface="Consolas"/>
              </a:rPr>
              <a:t>Anzeige 02</a:t>
            </a:r>
          </a:p>
        </p:txBody>
      </p:sp>
      <p:sp>
        <p:nvSpPr>
          <p:cNvPr id="20" name="TextBox 19"/>
          <p:cNvSpPr txBox="1"/>
          <p:nvPr/>
        </p:nvSpPr>
        <p:spPr>
          <a:xfrm>
            <a:off x="4572000" y="5349240"/>
            <a:ext cx="3108960" cy="320040"/>
          </a:xfrm>
          <a:prstGeom prst="rect">
            <a:avLst/>
          </a:prstGeom>
          <a:noFill/>
        </p:spPr>
        <p:txBody>
          <a:bodyPr wrap="square" lIns="0" rIns="0" tIns="0" bIns="0" anchor="t">
            <a:spAutoFit/>
          </a:bodyPr>
          <a:lstStyle/>
          <a:p>
            <a:pPr algn="l">
              <a:lnSpc>
                <a:spcPct val="115000"/>
              </a:lnSpc>
            </a:pPr>
            <a:r>
              <a:rPr sz="1500" b="1" i="0">
                <a:solidFill>
                  <a:srgbClr val="10101A"/>
                </a:solidFill>
                <a:latin typeface="Helvetica Neue"/>
              </a:rPr>
              <a:t>[ÜBERSCHRIFT_2]</a:t>
            </a:r>
          </a:p>
        </p:txBody>
      </p:sp>
      <p:sp>
        <p:nvSpPr>
          <p:cNvPr id="21" name="TextBox 20"/>
          <p:cNvSpPr txBox="1"/>
          <p:nvPr/>
        </p:nvSpPr>
        <p:spPr>
          <a:xfrm>
            <a:off x="4572000" y="5669280"/>
            <a:ext cx="3108960" cy="274320"/>
          </a:xfrm>
          <a:prstGeom prst="rect">
            <a:avLst/>
          </a:prstGeom>
          <a:noFill/>
        </p:spPr>
        <p:txBody>
          <a:bodyPr wrap="square" lIns="0" rIns="0" tIns="0" bIns="0" anchor="t">
            <a:spAutoFit/>
          </a:bodyPr>
          <a:lstStyle/>
          <a:p>
            <a:pPr algn="l">
              <a:lnSpc>
                <a:spcPct val="115000"/>
              </a:lnSpc>
            </a:pPr>
            <a:r>
              <a:rPr sz="1100" b="0" i="0">
                <a:solidFill>
                  <a:srgbClr val="10101A"/>
                </a:solidFill>
                <a:latin typeface="Inter"/>
              </a:rPr>
              <a:t>[ANZEIGENTEXT_2]</a:t>
            </a:r>
          </a:p>
        </p:txBody>
      </p:sp>
      <p:sp>
        <p:nvSpPr>
          <p:cNvPr id="22" name="Rounded Rectangle 21"/>
          <p:cNvSpPr/>
          <p:nvPr/>
        </p:nvSpPr>
        <p:spPr>
          <a:xfrm>
            <a:off x="8138160" y="3246120"/>
            <a:ext cx="3657600" cy="274320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66760" y="3474720"/>
            <a:ext cx="3200400" cy="1508760"/>
          </a:xfrm>
          <a:prstGeom prst="roundRect">
            <a:avLst>
              <a:gd name="adj" fmla="val 6000"/>
            </a:avLst>
          </a:prstGeom>
          <a:solidFill>
            <a:srgbClr val="FFFFFF"/>
          </a:solidFill>
          <a:ln w="9525">
            <a:solidFill>
              <a:srgbClr val="58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6760" y="3959352"/>
            <a:ext cx="3200400" cy="274320"/>
          </a:xfrm>
          <a:prstGeom prst="rect">
            <a:avLst/>
          </a:prstGeom>
          <a:noFill/>
        </p:spPr>
        <p:txBody>
          <a:bodyPr wrap="square" lIns="0" rIns="0" tIns="0" bIns="0" anchor="t">
            <a:spAutoFit/>
          </a:bodyPr>
          <a:lstStyle/>
          <a:p>
            <a:pPr algn="ctr">
              <a:lnSpc>
                <a:spcPct val="115000"/>
              </a:lnSpc>
            </a:pPr>
            <a:r>
              <a:rPr sz="1200" b="1" i="0">
                <a:solidFill>
                  <a:srgbClr val="58BAB5"/>
                </a:solidFill>
                <a:latin typeface="Consolas"/>
              </a:rPr>
              <a:t>[VORSCHAU_ANZEIGE_3]</a:t>
            </a:r>
          </a:p>
        </p:txBody>
      </p:sp>
      <p:sp>
        <p:nvSpPr>
          <p:cNvPr id="25" name="TextBox 24"/>
          <p:cNvSpPr txBox="1"/>
          <p:nvPr/>
        </p:nvSpPr>
        <p:spPr>
          <a:xfrm>
            <a:off x="8366760" y="4279391"/>
            <a:ext cx="3200400" cy="274320"/>
          </a:xfrm>
          <a:prstGeom prst="rect">
            <a:avLst/>
          </a:prstGeom>
          <a:noFill/>
        </p:spPr>
        <p:txBody>
          <a:bodyPr wrap="square" lIns="0" rIns="0" tIns="0" bIns="0" anchor="t">
            <a:spAutoFit/>
          </a:bodyPr>
          <a:lstStyle/>
          <a:p>
            <a:pPr algn="ctr">
              <a:lnSpc>
                <a:spcPct val="115000"/>
              </a:lnSpc>
            </a:pPr>
            <a:r>
              <a:rPr sz="900" b="0" i="0">
                <a:solidFill>
                  <a:srgbClr val="4A4A52"/>
                </a:solidFill>
                <a:latin typeface="Consolas"/>
              </a:rPr>
              <a:t>Bild oder Standbild einsetzen</a:t>
            </a:r>
          </a:p>
        </p:txBody>
      </p:sp>
      <p:sp>
        <p:nvSpPr>
          <p:cNvPr id="26" name="TextBox 25"/>
          <p:cNvSpPr txBox="1"/>
          <p:nvPr/>
        </p:nvSpPr>
        <p:spPr>
          <a:xfrm>
            <a:off x="8412480" y="5120639"/>
            <a:ext cx="3108960" cy="274320"/>
          </a:xfrm>
          <a:prstGeom prst="rect">
            <a:avLst/>
          </a:prstGeom>
          <a:noFill/>
        </p:spPr>
        <p:txBody>
          <a:bodyPr wrap="square" lIns="0" rIns="0" tIns="0" bIns="0" anchor="t">
            <a:spAutoFit/>
          </a:bodyPr>
          <a:lstStyle/>
          <a:p>
            <a:pPr algn="l">
              <a:lnSpc>
                <a:spcPct val="115000"/>
              </a:lnSpc>
            </a:pPr>
            <a:r>
              <a:rPr sz="1000" b="1" i="0">
                <a:solidFill>
                  <a:srgbClr val="58BAB5"/>
                </a:solidFill>
                <a:latin typeface="Consolas"/>
              </a:rPr>
              <a:t>Anzeige 03</a:t>
            </a:r>
          </a:p>
        </p:txBody>
      </p:sp>
      <p:sp>
        <p:nvSpPr>
          <p:cNvPr id="27" name="TextBox 26"/>
          <p:cNvSpPr txBox="1"/>
          <p:nvPr/>
        </p:nvSpPr>
        <p:spPr>
          <a:xfrm>
            <a:off x="8412480" y="5349240"/>
            <a:ext cx="3108960" cy="320040"/>
          </a:xfrm>
          <a:prstGeom prst="rect">
            <a:avLst/>
          </a:prstGeom>
          <a:noFill/>
        </p:spPr>
        <p:txBody>
          <a:bodyPr wrap="square" lIns="0" rIns="0" tIns="0" bIns="0" anchor="t">
            <a:spAutoFit/>
          </a:bodyPr>
          <a:lstStyle/>
          <a:p>
            <a:pPr algn="l">
              <a:lnSpc>
                <a:spcPct val="115000"/>
              </a:lnSpc>
            </a:pPr>
            <a:r>
              <a:rPr sz="1500" b="1" i="0">
                <a:solidFill>
                  <a:srgbClr val="10101A"/>
                </a:solidFill>
                <a:latin typeface="Helvetica Neue"/>
              </a:rPr>
              <a:t>[ÜBERSCHRIFT_3]</a:t>
            </a:r>
          </a:p>
        </p:txBody>
      </p:sp>
      <p:sp>
        <p:nvSpPr>
          <p:cNvPr id="28" name="TextBox 27"/>
          <p:cNvSpPr txBox="1"/>
          <p:nvPr/>
        </p:nvSpPr>
        <p:spPr>
          <a:xfrm>
            <a:off x="8412480" y="5669280"/>
            <a:ext cx="3108960" cy="274320"/>
          </a:xfrm>
          <a:prstGeom prst="rect">
            <a:avLst/>
          </a:prstGeom>
          <a:noFill/>
        </p:spPr>
        <p:txBody>
          <a:bodyPr wrap="square" lIns="0" rIns="0" tIns="0" bIns="0" anchor="t">
            <a:spAutoFit/>
          </a:bodyPr>
          <a:lstStyle/>
          <a:p>
            <a:pPr algn="l">
              <a:lnSpc>
                <a:spcPct val="115000"/>
              </a:lnSpc>
            </a:pPr>
            <a:r>
              <a:rPr sz="1100" b="0" i="0">
                <a:solidFill>
                  <a:srgbClr val="10101A"/>
                </a:solidFill>
                <a:latin typeface="Inter"/>
              </a:rPr>
              <a:t>[ANZEIGENTEXT_3]</a:t>
            </a:r>
          </a:p>
        </p:txBody>
      </p:sp>
      <p:sp>
        <p:nvSpPr>
          <p:cNvPr id="29" name="TextBox 28"/>
          <p:cNvSpPr txBox="1"/>
          <p:nvPr/>
        </p:nvSpPr>
        <p:spPr>
          <a:xfrm>
            <a:off x="457200" y="6144768"/>
            <a:ext cx="1133856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Ihr Gesicht und Ihre Stimme bauen wir erst nach Ihrer schriftlichen Einwilligung nach. Diese Vorschau kommt ohne beides aus.</a:t>
            </a:r>
          </a:p>
        </p:txBody>
      </p:sp>
      <p:sp>
        <p:nvSpPr>
          <p:cNvPr id="30" name="TextBox 29"/>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EINS · Strategievorschlag</a:t>
            </a:r>
          </a:p>
        </p:txBody>
      </p:sp>
      <p:sp>
        <p:nvSpPr>
          <p:cNvPr id="31" name="TextBox 30"/>
          <p:cNvSpPr txBox="1"/>
          <p:nvPr/>
        </p:nvSpPr>
        <p:spPr>
          <a:xfrm>
            <a:off x="6400800" y="6492240"/>
            <a:ext cx="5486400" cy="274320"/>
          </a:xfrm>
          <a:prstGeom prst="rect">
            <a:avLst/>
          </a:prstGeom>
          <a:noFill/>
        </p:spPr>
        <p:txBody>
          <a:bodyPr wrap="square" lIns="0" rIns="0" tIns="0" bIns="0" anchor="t">
            <a:spAutoFit/>
          </a:bodyPr>
          <a:lstStyle/>
          <a:p>
            <a:pPr algn="r">
              <a:lnSpc>
                <a:spcPct val="115000"/>
              </a:lnSpc>
            </a:pPr>
            <a:r>
              <a:rPr sz="1000" b="0" i="0">
                <a:solidFill>
                  <a:srgbClr val="6A6A74"/>
                </a:solidFill>
                <a:latin typeface="Consolas"/>
              </a:rPr>
              <a:t>//07</a:t>
            </a:r>
          </a:p>
        </p:txBody>
      </p:sp>
    </p:spTree>
  </p:cSld>
  <p:clrMapOvr>
    <a:masterClrMapping/>
  </p:clrMapOvr>
  <p:transition xmlns:p14="http://schemas.microsoft.com/office/powerpoint/2010/main" spd="med" p14:dur="400">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Oval 3"/>
          <p:cNvSpPr/>
          <p:nvPr/>
        </p:nvSpPr>
        <p:spPr>
          <a:xfrm>
            <a:off x="457200" y="140817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Über EINS</a:t>
            </a:r>
          </a:p>
        </p:txBody>
      </p:sp>
      <p:sp>
        <p:nvSpPr>
          <p:cNvPr id="6" name="TextBox 5"/>
          <p:cNvSpPr txBox="1"/>
          <p:nvPr/>
        </p:nvSpPr>
        <p:spPr>
          <a:xfrm>
            <a:off x="457200" y="1783080"/>
            <a:ext cx="10972800" cy="1280160"/>
          </a:xfrm>
          <a:prstGeom prst="rect">
            <a:avLst/>
          </a:prstGeom>
          <a:noFill/>
        </p:spPr>
        <p:txBody>
          <a:bodyPr wrap="square" lIns="0" rIns="0" tIns="0" bIns="0" anchor="t">
            <a:spAutoFit/>
          </a:bodyPr>
          <a:lstStyle/>
          <a:p>
            <a:pPr algn="l">
              <a:lnSpc>
                <a:spcPct val="100000"/>
              </a:lnSpc>
            </a:pPr>
            <a:r>
              <a:rPr sz="4200" b="1" i="0">
                <a:solidFill>
                  <a:srgbClr val="10101A"/>
                </a:solidFill>
                <a:latin typeface="Helvetica Neue"/>
              </a:rPr>
              <a:t>Wir sind Spezialisten, keine Allround-Agentur.</a:t>
            </a:r>
          </a:p>
        </p:txBody>
      </p:sp>
      <p:sp>
        <p:nvSpPr>
          <p:cNvPr id="7" name="TextBox 6"/>
          <p:cNvSpPr txBox="1"/>
          <p:nvPr/>
        </p:nvSpPr>
        <p:spPr>
          <a:xfrm>
            <a:off x="457200" y="3246120"/>
            <a:ext cx="7315200" cy="2377440"/>
          </a:xfrm>
          <a:prstGeom prst="rect">
            <a:avLst/>
          </a:prstGeom>
          <a:noFill/>
        </p:spPr>
        <p:txBody>
          <a:bodyPr wrap="square" lIns="0" rIns="0" tIns="0" bIns="0" anchor="t">
            <a:spAutoFit/>
          </a:bodyPr>
          <a:lstStyle/>
          <a:p>
            <a:pPr algn="l">
              <a:lnSpc>
                <a:spcPct val="130000"/>
              </a:lnSpc>
            </a:pPr>
            <a:r>
              <a:rPr sz="1500" b="0" i="0">
                <a:solidFill>
                  <a:srgbClr val="10101A"/>
                </a:solidFill>
                <a:latin typeface="Inter"/>
              </a:rPr>
              <a:t>EINS ist ein Akquise-System für Praxen für ästhetische Medizin im DACH-Raum. Wir verbinden medizinisch seriöse Videos mit dem KI-Klon des Inhabers, organische Reichweite mit bezahlten Anzeigen genau hinter den Beiträgen, die Anfragen bringen, und eine KI-Vorqualifizierung zu einem vollständigen Akquisitionssystem.</a:t>
            </a:r>
          </a:p>
          <a:p>
            <a:pPr algn="l">
              <a:lnSpc>
                <a:spcPct val="130000"/>
              </a:lnSpc>
            </a:pPr>
            <a:r>
              <a:rPr sz="1500" b="0" i="0">
                <a:solidFill>
                  <a:srgbClr val="10101A"/>
                </a:solidFill>
                <a:latin typeface="Inter"/>
              </a:rPr>
              <a:t/>
            </a:r>
          </a:p>
          <a:p>
            <a:pPr algn="l">
              <a:lnSpc>
                <a:spcPct val="130000"/>
              </a:lnSpc>
            </a:pPr>
            <a:r>
              <a:rPr sz="1500" b="0" i="0">
                <a:solidFill>
                  <a:srgbClr val="10101A"/>
                </a:solidFill>
                <a:latin typeface="Inter"/>
              </a:rPr>
              <a:t>Das Ziel ist nicht Sichtbarkeit. Das Ziel ist kontrolliertes, planbares Wachstum.</a:t>
            </a:r>
          </a:p>
        </p:txBody>
      </p:sp>
      <p:sp>
        <p:nvSpPr>
          <p:cNvPr id="8" name="TextBox 7"/>
          <p:cNvSpPr txBox="1"/>
          <p:nvPr/>
        </p:nvSpPr>
        <p:spPr>
          <a:xfrm>
            <a:off x="7955279" y="3246120"/>
            <a:ext cx="384048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Sitz</a:t>
            </a:r>
          </a:p>
        </p:txBody>
      </p:sp>
      <p:sp>
        <p:nvSpPr>
          <p:cNvPr id="9" name="TextBox 8"/>
          <p:cNvSpPr txBox="1"/>
          <p:nvPr/>
        </p:nvSpPr>
        <p:spPr>
          <a:xfrm>
            <a:off x="7955279" y="3520440"/>
            <a:ext cx="3840480" cy="457200"/>
          </a:xfrm>
          <a:prstGeom prst="rect">
            <a:avLst/>
          </a:prstGeom>
          <a:noFill/>
        </p:spPr>
        <p:txBody>
          <a:bodyPr wrap="square" lIns="0" rIns="0" tIns="0" bIns="0" anchor="t">
            <a:spAutoFit/>
          </a:bodyPr>
          <a:lstStyle/>
          <a:p>
            <a:pPr algn="l">
              <a:lnSpc>
                <a:spcPct val="115000"/>
              </a:lnSpc>
            </a:pPr>
            <a:r>
              <a:rPr sz="1600" b="0" i="0">
                <a:solidFill>
                  <a:srgbClr val="10101A"/>
                </a:solidFill>
                <a:latin typeface="Helvetica Neue"/>
              </a:rPr>
              <a:t>Köln, Deutschland</a:t>
            </a:r>
          </a:p>
        </p:txBody>
      </p:sp>
      <p:sp>
        <p:nvSpPr>
          <p:cNvPr id="10" name="TextBox 9"/>
          <p:cNvSpPr txBox="1"/>
          <p:nvPr/>
        </p:nvSpPr>
        <p:spPr>
          <a:xfrm>
            <a:off x="7955279" y="4023360"/>
            <a:ext cx="384048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Region</a:t>
            </a:r>
          </a:p>
        </p:txBody>
      </p:sp>
      <p:sp>
        <p:nvSpPr>
          <p:cNvPr id="11" name="TextBox 10"/>
          <p:cNvSpPr txBox="1"/>
          <p:nvPr/>
        </p:nvSpPr>
        <p:spPr>
          <a:xfrm>
            <a:off x="7955279" y="4297680"/>
            <a:ext cx="3840480" cy="457200"/>
          </a:xfrm>
          <a:prstGeom prst="rect">
            <a:avLst/>
          </a:prstGeom>
          <a:noFill/>
        </p:spPr>
        <p:txBody>
          <a:bodyPr wrap="square" lIns="0" rIns="0" tIns="0" bIns="0" anchor="t">
            <a:spAutoFit/>
          </a:bodyPr>
          <a:lstStyle/>
          <a:p>
            <a:pPr algn="l">
              <a:lnSpc>
                <a:spcPct val="115000"/>
              </a:lnSpc>
            </a:pPr>
            <a:r>
              <a:rPr sz="1600" b="0" i="0">
                <a:solidFill>
                  <a:srgbClr val="10101A"/>
                </a:solidFill>
                <a:latin typeface="Helvetica Neue"/>
              </a:rPr>
              <a:t>DACH (DE, AT, CH)</a:t>
            </a:r>
          </a:p>
        </p:txBody>
      </p:sp>
      <p:sp>
        <p:nvSpPr>
          <p:cNvPr id="12" name="TextBox 11"/>
          <p:cNvSpPr txBox="1"/>
          <p:nvPr/>
        </p:nvSpPr>
        <p:spPr>
          <a:xfrm>
            <a:off x="7955279" y="4800600"/>
            <a:ext cx="384048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Spezialisierung</a:t>
            </a:r>
          </a:p>
        </p:txBody>
      </p:sp>
      <p:sp>
        <p:nvSpPr>
          <p:cNvPr id="13" name="TextBox 12"/>
          <p:cNvSpPr txBox="1"/>
          <p:nvPr/>
        </p:nvSpPr>
        <p:spPr>
          <a:xfrm>
            <a:off x="7955279" y="5074920"/>
            <a:ext cx="3840480" cy="457200"/>
          </a:xfrm>
          <a:prstGeom prst="rect">
            <a:avLst/>
          </a:prstGeom>
          <a:noFill/>
        </p:spPr>
        <p:txBody>
          <a:bodyPr wrap="square" lIns="0" rIns="0" tIns="0" bIns="0" anchor="t">
            <a:spAutoFit/>
          </a:bodyPr>
          <a:lstStyle/>
          <a:p>
            <a:pPr algn="l">
              <a:lnSpc>
                <a:spcPct val="115000"/>
              </a:lnSpc>
            </a:pPr>
            <a:r>
              <a:rPr sz="1600" b="0" i="0">
                <a:solidFill>
                  <a:srgbClr val="10101A"/>
                </a:solidFill>
                <a:latin typeface="Helvetica Neue"/>
              </a:rPr>
              <a:t>Praxen für ästhetische Medizin</a:t>
            </a:r>
          </a:p>
        </p:txBody>
      </p:sp>
      <p:sp>
        <p:nvSpPr>
          <p:cNvPr id="14" name="Rounded Rectangle 13"/>
          <p:cNvSpPr/>
          <p:nvPr/>
        </p:nvSpPr>
        <p:spPr>
          <a:xfrm>
            <a:off x="457200" y="5715000"/>
            <a:ext cx="2697480" cy="777240"/>
          </a:xfrm>
          <a:prstGeom prst="roundRect">
            <a:avLst>
              <a:gd name="adj" fmla="val 8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5824728"/>
            <a:ext cx="2423160" cy="274320"/>
          </a:xfrm>
          <a:prstGeom prst="rect">
            <a:avLst/>
          </a:prstGeom>
          <a:noFill/>
        </p:spPr>
        <p:txBody>
          <a:bodyPr wrap="square" lIns="0" rIns="0" tIns="0" bIns="0" anchor="t">
            <a:spAutoFit/>
          </a:bodyPr>
          <a:lstStyle/>
          <a:p>
            <a:pPr algn="l">
              <a:lnSpc>
                <a:spcPct val="115000"/>
              </a:lnSpc>
            </a:pPr>
            <a:r>
              <a:rPr sz="1300" b="1" i="0">
                <a:solidFill>
                  <a:srgbClr val="10101A"/>
                </a:solidFill>
                <a:latin typeface="Helvetica Neue"/>
              </a:rPr>
              <a:t>Content-Fundament</a:t>
            </a:r>
          </a:p>
        </p:txBody>
      </p:sp>
      <p:sp>
        <p:nvSpPr>
          <p:cNvPr id="16" name="TextBox 15"/>
          <p:cNvSpPr txBox="1"/>
          <p:nvPr/>
        </p:nvSpPr>
        <p:spPr>
          <a:xfrm>
            <a:off x="621792" y="6099048"/>
            <a:ext cx="242316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KI-Videos mit Ihrem Klon</a:t>
            </a:r>
          </a:p>
        </p:txBody>
      </p:sp>
      <p:sp>
        <p:nvSpPr>
          <p:cNvPr id="17" name="Rounded Rectangle 16"/>
          <p:cNvSpPr/>
          <p:nvPr/>
        </p:nvSpPr>
        <p:spPr>
          <a:xfrm>
            <a:off x="3319272" y="5715000"/>
            <a:ext cx="2697480" cy="777240"/>
          </a:xfrm>
          <a:prstGeom prst="roundRect">
            <a:avLst>
              <a:gd name="adj" fmla="val 8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83864" y="5824728"/>
            <a:ext cx="2423160" cy="274320"/>
          </a:xfrm>
          <a:prstGeom prst="rect">
            <a:avLst/>
          </a:prstGeom>
          <a:noFill/>
        </p:spPr>
        <p:txBody>
          <a:bodyPr wrap="square" lIns="0" rIns="0" tIns="0" bIns="0" anchor="t">
            <a:spAutoFit/>
          </a:bodyPr>
          <a:lstStyle/>
          <a:p>
            <a:pPr algn="l">
              <a:lnSpc>
                <a:spcPct val="115000"/>
              </a:lnSpc>
            </a:pPr>
            <a:r>
              <a:rPr sz="1300" b="1" i="0">
                <a:solidFill>
                  <a:srgbClr val="10101A"/>
                </a:solidFill>
                <a:latin typeface="Helvetica Neue"/>
              </a:rPr>
              <a:t>Reichweite</a:t>
            </a:r>
          </a:p>
        </p:txBody>
      </p:sp>
      <p:sp>
        <p:nvSpPr>
          <p:cNvPr id="19" name="TextBox 18"/>
          <p:cNvSpPr txBox="1"/>
          <p:nvPr/>
        </p:nvSpPr>
        <p:spPr>
          <a:xfrm>
            <a:off x="3483864" y="6099048"/>
            <a:ext cx="242316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Organisch, Anzeigen optional</a:t>
            </a:r>
          </a:p>
        </p:txBody>
      </p:sp>
      <p:sp>
        <p:nvSpPr>
          <p:cNvPr id="20" name="Rounded Rectangle 19"/>
          <p:cNvSpPr/>
          <p:nvPr/>
        </p:nvSpPr>
        <p:spPr>
          <a:xfrm>
            <a:off x="6181344" y="5715000"/>
            <a:ext cx="2697480" cy="777240"/>
          </a:xfrm>
          <a:prstGeom prst="roundRect">
            <a:avLst>
              <a:gd name="adj" fmla="val 8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5936" y="5824728"/>
            <a:ext cx="2423160" cy="274320"/>
          </a:xfrm>
          <a:prstGeom prst="rect">
            <a:avLst/>
          </a:prstGeom>
          <a:noFill/>
        </p:spPr>
        <p:txBody>
          <a:bodyPr wrap="square" lIns="0" rIns="0" tIns="0" bIns="0" anchor="t">
            <a:spAutoFit/>
          </a:bodyPr>
          <a:lstStyle/>
          <a:p>
            <a:pPr algn="l">
              <a:lnSpc>
                <a:spcPct val="115000"/>
              </a:lnSpc>
            </a:pPr>
            <a:r>
              <a:rPr sz="1300" b="1" i="0">
                <a:solidFill>
                  <a:srgbClr val="10101A"/>
                </a:solidFill>
                <a:latin typeface="Helvetica Neue"/>
              </a:rPr>
              <a:t>KI-Vorqualifizierung</a:t>
            </a:r>
          </a:p>
        </p:txBody>
      </p:sp>
      <p:sp>
        <p:nvSpPr>
          <p:cNvPr id="22" name="TextBox 21"/>
          <p:cNvSpPr txBox="1"/>
          <p:nvPr/>
        </p:nvSpPr>
        <p:spPr>
          <a:xfrm>
            <a:off x="6345936" y="6099048"/>
            <a:ext cx="242316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Echte Patienten, kein Spam</a:t>
            </a:r>
          </a:p>
        </p:txBody>
      </p:sp>
      <p:sp>
        <p:nvSpPr>
          <p:cNvPr id="23" name="Rounded Rectangle 22"/>
          <p:cNvSpPr/>
          <p:nvPr/>
        </p:nvSpPr>
        <p:spPr>
          <a:xfrm>
            <a:off x="9043416" y="5715000"/>
            <a:ext cx="2697480" cy="777240"/>
          </a:xfrm>
          <a:prstGeom prst="roundRect">
            <a:avLst>
              <a:gd name="adj" fmla="val 8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08008" y="5824728"/>
            <a:ext cx="2423160" cy="274320"/>
          </a:xfrm>
          <a:prstGeom prst="rect">
            <a:avLst/>
          </a:prstGeom>
          <a:noFill/>
        </p:spPr>
        <p:txBody>
          <a:bodyPr wrap="square" lIns="0" rIns="0" tIns="0" bIns="0" anchor="t">
            <a:spAutoFit/>
          </a:bodyPr>
          <a:lstStyle/>
          <a:p>
            <a:pPr algn="l">
              <a:lnSpc>
                <a:spcPct val="115000"/>
              </a:lnSpc>
            </a:pPr>
            <a:r>
              <a:rPr sz="1300" b="1" i="0">
                <a:solidFill>
                  <a:srgbClr val="10101A"/>
                </a:solidFill>
                <a:latin typeface="Helvetica Neue"/>
              </a:rPr>
              <a:t>HWG-Prüfung</a:t>
            </a:r>
          </a:p>
        </p:txBody>
      </p:sp>
      <p:sp>
        <p:nvSpPr>
          <p:cNvPr id="25" name="TextBox 24"/>
          <p:cNvSpPr txBox="1"/>
          <p:nvPr/>
        </p:nvSpPr>
        <p:spPr>
          <a:xfrm>
            <a:off x="9208008" y="6099048"/>
            <a:ext cx="242316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Schutz vor Abmahnung</a:t>
            </a:r>
          </a:p>
        </p:txBody>
      </p:sp>
      <p:sp>
        <p:nvSpPr>
          <p:cNvPr id="26" name="TextBox 25"/>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EINS · Strategievorschlag</a:t>
            </a:r>
          </a:p>
        </p:txBody>
      </p:sp>
      <p:sp>
        <p:nvSpPr>
          <p:cNvPr id="27" name="TextBox 26"/>
          <p:cNvSpPr txBox="1"/>
          <p:nvPr/>
        </p:nvSpPr>
        <p:spPr>
          <a:xfrm>
            <a:off x="6400800" y="6492240"/>
            <a:ext cx="5486400" cy="274320"/>
          </a:xfrm>
          <a:prstGeom prst="rect">
            <a:avLst/>
          </a:prstGeom>
          <a:noFill/>
        </p:spPr>
        <p:txBody>
          <a:bodyPr wrap="square" lIns="0" rIns="0" tIns="0" bIns="0" anchor="t">
            <a:spAutoFit/>
          </a:bodyPr>
          <a:lstStyle/>
          <a:p>
            <a:pPr algn="r">
              <a:lnSpc>
                <a:spcPct val="115000"/>
              </a:lnSpc>
            </a:pPr>
            <a:r>
              <a:rPr sz="1000" b="0" i="0">
                <a:solidFill>
                  <a:srgbClr val="6A6A74"/>
                </a:solidFill>
                <a:latin typeface="Consolas"/>
              </a:rPr>
              <a:t>//08</a:t>
            </a:r>
          </a:p>
        </p:txBody>
      </p:sp>
    </p:spTree>
  </p:cSld>
  <p:clrMapOvr>
    <a:masterClrMapping/>
  </p:clrMapOvr>
  <p:transition xmlns:p14="http://schemas.microsoft.com/office/powerpoint/2010/main" spd="med" p14:dur="400">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Oval 3"/>
          <p:cNvSpPr/>
          <p:nvPr/>
        </p:nvSpPr>
        <p:spPr>
          <a:xfrm>
            <a:off x="457200" y="140817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Fallstudie · [QUELLE]</a:t>
            </a:r>
          </a:p>
        </p:txBody>
      </p:sp>
      <p:sp>
        <p:nvSpPr>
          <p:cNvPr id="6" name="TextBox 5"/>
          <p:cNvSpPr txBox="1"/>
          <p:nvPr/>
        </p:nvSpPr>
        <p:spPr>
          <a:xfrm>
            <a:off x="457200" y="1783080"/>
            <a:ext cx="10972800" cy="1280160"/>
          </a:xfrm>
          <a:prstGeom prst="rect">
            <a:avLst/>
          </a:prstGeom>
          <a:noFill/>
        </p:spPr>
        <p:txBody>
          <a:bodyPr wrap="square" lIns="0" rIns="0" tIns="0" bIns="0" anchor="t">
            <a:spAutoFit/>
          </a:bodyPr>
          <a:lstStyle/>
          <a:p>
            <a:pPr algn="l">
              <a:lnSpc>
                <a:spcPct val="100000"/>
              </a:lnSpc>
            </a:pPr>
            <a:r>
              <a:rPr sz="3800" b="1" i="0">
                <a:solidFill>
                  <a:srgbClr val="10101A"/>
                </a:solidFill>
                <a:latin typeface="Helvetica Neue"/>
              </a:rPr>
              <a:t>Was in [ZEITRAUM] möglich war.</a:t>
            </a:r>
          </a:p>
        </p:txBody>
      </p:sp>
      <p:sp>
        <p:nvSpPr>
          <p:cNvPr id="7" name="Rounded Rectangle 6"/>
          <p:cNvSpPr/>
          <p:nvPr/>
        </p:nvSpPr>
        <p:spPr>
          <a:xfrm>
            <a:off x="457200" y="3108960"/>
            <a:ext cx="11338560" cy="228600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68680" y="3520440"/>
            <a:ext cx="1371600" cy="1371600"/>
          </a:xfrm>
          <a:prstGeom prst="ellipse">
            <a:avLst/>
          </a:prstGeom>
          <a:solidFill>
            <a:srgbClr val="EBEBEF"/>
          </a:solidFill>
          <a:ln w="12700">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68880" y="3383280"/>
            <a:ext cx="9144000" cy="914400"/>
          </a:xfrm>
          <a:prstGeom prst="rect">
            <a:avLst/>
          </a:prstGeom>
          <a:noFill/>
        </p:spPr>
        <p:txBody>
          <a:bodyPr wrap="square" lIns="0" rIns="0" tIns="0" bIns="0" anchor="t">
            <a:spAutoFit/>
          </a:bodyPr>
          <a:lstStyle/>
          <a:p>
            <a:pPr algn="l">
              <a:lnSpc>
                <a:spcPct val="125000"/>
              </a:lnSpc>
            </a:pPr>
            <a:r>
              <a:rPr sz="2200" b="0" i="1">
                <a:solidFill>
                  <a:srgbClr val="10101A"/>
                </a:solidFill>
                <a:latin typeface="Helvetica Neue"/>
              </a:rPr>
              <a:t>„[ZITAT_DER_PRAXIS]“</a:t>
            </a:r>
          </a:p>
        </p:txBody>
      </p:sp>
      <p:sp>
        <p:nvSpPr>
          <p:cNvPr id="10" name="TextBox 9"/>
          <p:cNvSpPr txBox="1"/>
          <p:nvPr/>
        </p:nvSpPr>
        <p:spPr>
          <a:xfrm>
            <a:off x="2468880" y="4572000"/>
            <a:ext cx="9144000" cy="365760"/>
          </a:xfrm>
          <a:prstGeom prst="rect">
            <a:avLst/>
          </a:prstGeom>
          <a:noFill/>
        </p:spPr>
        <p:txBody>
          <a:bodyPr wrap="square" lIns="0" rIns="0" tIns="0" bIns="0" anchor="t">
            <a:spAutoFit/>
          </a:bodyPr>
          <a:lstStyle/>
          <a:p>
            <a:pPr algn="l">
              <a:lnSpc>
                <a:spcPct val="115000"/>
              </a:lnSpc>
            </a:pPr>
            <a:r>
              <a:rPr sz="1100" b="0" i="0">
                <a:solidFill>
                  <a:srgbClr val="4A4A52"/>
                </a:solidFill>
                <a:latin typeface="Consolas"/>
              </a:rPr>
              <a:t>Dr. med. [NAME], Praxis für Ästhetische Medizin, [STADT]</a:t>
            </a:r>
          </a:p>
        </p:txBody>
      </p:sp>
      <p:sp>
        <p:nvSpPr>
          <p:cNvPr id="11" name="Rounded Rectangle 10"/>
          <p:cNvSpPr/>
          <p:nvPr/>
        </p:nvSpPr>
        <p:spPr>
          <a:xfrm>
            <a:off x="457200" y="5486400"/>
            <a:ext cx="3657600" cy="685800"/>
          </a:xfrm>
          <a:prstGeom prst="roundRect">
            <a:avLst>
              <a:gd name="adj" fmla="val 8000"/>
            </a:avLst>
          </a:prstGeom>
          <a:solidFill>
            <a:srgbClr val="E7F6F5"/>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5559552"/>
            <a:ext cx="338328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Qualifizierte Anfragen / Monat</a:t>
            </a:r>
          </a:p>
        </p:txBody>
      </p:sp>
      <p:sp>
        <p:nvSpPr>
          <p:cNvPr id="13" name="TextBox 12"/>
          <p:cNvSpPr txBox="1"/>
          <p:nvPr/>
        </p:nvSpPr>
        <p:spPr>
          <a:xfrm>
            <a:off x="640080" y="5779008"/>
            <a:ext cx="3383280" cy="365760"/>
          </a:xfrm>
          <a:prstGeom prst="rect">
            <a:avLst/>
          </a:prstGeom>
          <a:noFill/>
        </p:spPr>
        <p:txBody>
          <a:bodyPr wrap="square" lIns="0" rIns="0" tIns="0" bIns="0" anchor="t">
            <a:spAutoFit/>
          </a:bodyPr>
          <a:lstStyle/>
          <a:p>
            <a:pPr algn="l">
              <a:lnSpc>
                <a:spcPct val="115000"/>
              </a:lnSpc>
            </a:pPr>
            <a:r>
              <a:rPr sz="1800" b="1" i="0">
                <a:solidFill>
                  <a:srgbClr val="58BAB5"/>
                </a:solidFill>
                <a:latin typeface="Helvetica Neue"/>
              </a:rPr>
              <a:t>[ZAHL_1]</a:t>
            </a:r>
          </a:p>
        </p:txBody>
      </p:sp>
      <p:sp>
        <p:nvSpPr>
          <p:cNvPr id="14" name="Rounded Rectangle 13"/>
          <p:cNvSpPr/>
          <p:nvPr/>
        </p:nvSpPr>
        <p:spPr>
          <a:xfrm>
            <a:off x="4297680" y="5486400"/>
            <a:ext cx="3657600" cy="685800"/>
          </a:xfrm>
          <a:prstGeom prst="roundRect">
            <a:avLst>
              <a:gd name="adj" fmla="val 8000"/>
            </a:avLst>
          </a:prstGeom>
          <a:solidFill>
            <a:srgbClr val="E7F6F5"/>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5559552"/>
            <a:ext cx="338328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Kosten pro Anfrage</a:t>
            </a:r>
          </a:p>
        </p:txBody>
      </p:sp>
      <p:sp>
        <p:nvSpPr>
          <p:cNvPr id="16" name="TextBox 15"/>
          <p:cNvSpPr txBox="1"/>
          <p:nvPr/>
        </p:nvSpPr>
        <p:spPr>
          <a:xfrm>
            <a:off x="4480560" y="5779008"/>
            <a:ext cx="3383280" cy="365760"/>
          </a:xfrm>
          <a:prstGeom prst="rect">
            <a:avLst/>
          </a:prstGeom>
          <a:noFill/>
        </p:spPr>
        <p:txBody>
          <a:bodyPr wrap="square" lIns="0" rIns="0" tIns="0" bIns="0" anchor="t">
            <a:spAutoFit/>
          </a:bodyPr>
          <a:lstStyle/>
          <a:p>
            <a:pPr algn="l">
              <a:lnSpc>
                <a:spcPct val="115000"/>
              </a:lnSpc>
            </a:pPr>
            <a:r>
              <a:rPr sz="1800" b="1" i="0">
                <a:solidFill>
                  <a:srgbClr val="58BAB5"/>
                </a:solidFill>
                <a:latin typeface="Helvetica Neue"/>
              </a:rPr>
              <a:t>[ZAHL_2]</a:t>
            </a:r>
          </a:p>
        </p:txBody>
      </p:sp>
      <p:sp>
        <p:nvSpPr>
          <p:cNvPr id="17" name="Rounded Rectangle 16"/>
          <p:cNvSpPr/>
          <p:nvPr/>
        </p:nvSpPr>
        <p:spPr>
          <a:xfrm>
            <a:off x="8138160" y="5486400"/>
            <a:ext cx="3657600" cy="685800"/>
          </a:xfrm>
          <a:prstGeom prst="roundRect">
            <a:avLst>
              <a:gd name="adj" fmla="val 8000"/>
            </a:avLst>
          </a:prstGeom>
          <a:solidFill>
            <a:srgbClr val="E7F6F5"/>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5559552"/>
            <a:ext cx="338328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Werbeertrag</a:t>
            </a:r>
          </a:p>
        </p:txBody>
      </p:sp>
      <p:sp>
        <p:nvSpPr>
          <p:cNvPr id="19" name="TextBox 18"/>
          <p:cNvSpPr txBox="1"/>
          <p:nvPr/>
        </p:nvSpPr>
        <p:spPr>
          <a:xfrm>
            <a:off x="8321040" y="5779008"/>
            <a:ext cx="3383280" cy="365760"/>
          </a:xfrm>
          <a:prstGeom prst="rect">
            <a:avLst/>
          </a:prstGeom>
          <a:noFill/>
        </p:spPr>
        <p:txBody>
          <a:bodyPr wrap="square" lIns="0" rIns="0" tIns="0" bIns="0" anchor="t">
            <a:spAutoFit/>
          </a:bodyPr>
          <a:lstStyle/>
          <a:p>
            <a:pPr algn="l">
              <a:lnSpc>
                <a:spcPct val="115000"/>
              </a:lnSpc>
            </a:pPr>
            <a:r>
              <a:rPr sz="1800" b="1" i="0">
                <a:solidFill>
                  <a:srgbClr val="58BAB5"/>
                </a:solidFill>
                <a:latin typeface="Helvetica Neue"/>
              </a:rPr>
              <a:t>[ZAHL_3]</a:t>
            </a:r>
          </a:p>
        </p:txBody>
      </p:sp>
      <p:sp>
        <p:nvSpPr>
          <p:cNvPr id="20" name="TextBox 19"/>
          <p:cNvSpPr txBox="1"/>
          <p:nvPr/>
        </p:nvSpPr>
        <p:spPr>
          <a:xfrm>
            <a:off x="457200" y="6236208"/>
            <a:ext cx="10972800" cy="274320"/>
          </a:xfrm>
          <a:prstGeom prst="rect">
            <a:avLst/>
          </a:prstGeom>
          <a:noFill/>
        </p:spPr>
        <p:txBody>
          <a:bodyPr wrap="square" lIns="0" rIns="0" tIns="0" bIns="0" anchor="t">
            <a:spAutoFit/>
          </a:bodyPr>
          <a:lstStyle/>
          <a:p>
            <a:pPr algn="l">
              <a:lnSpc>
                <a:spcPct val="115000"/>
              </a:lnSpc>
            </a:pPr>
            <a:r>
              <a:rPr sz="1000" b="0" i="1">
                <a:solidFill>
                  <a:srgbClr val="6A6A74"/>
                </a:solidFill>
                <a:latin typeface="Consolas"/>
              </a:rPr>
              <a:t>[INTERN: Platzhalter · vor echtem Pitch durch echte Praxis-Daten ersetzen]</a:t>
            </a:r>
          </a:p>
        </p:txBody>
      </p:sp>
      <p:sp>
        <p:nvSpPr>
          <p:cNvPr id="21" name="TextBox 20"/>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EINS · Strategievorschlag</a:t>
            </a:r>
          </a:p>
        </p:txBody>
      </p:sp>
      <p:sp>
        <p:nvSpPr>
          <p:cNvPr id="22" name="TextBox 21"/>
          <p:cNvSpPr txBox="1"/>
          <p:nvPr/>
        </p:nvSpPr>
        <p:spPr>
          <a:xfrm>
            <a:off x="6400800" y="6492240"/>
            <a:ext cx="5486400" cy="274320"/>
          </a:xfrm>
          <a:prstGeom prst="rect">
            <a:avLst/>
          </a:prstGeom>
          <a:noFill/>
        </p:spPr>
        <p:txBody>
          <a:bodyPr wrap="square" lIns="0" rIns="0" tIns="0" bIns="0" anchor="t">
            <a:spAutoFit/>
          </a:bodyPr>
          <a:lstStyle/>
          <a:p>
            <a:pPr algn="r">
              <a:lnSpc>
                <a:spcPct val="115000"/>
              </a:lnSpc>
            </a:pPr>
            <a:r>
              <a:rPr sz="1000" b="0" i="0">
                <a:solidFill>
                  <a:srgbClr val="6A6A74"/>
                </a:solidFill>
                <a:latin typeface="Consolas"/>
              </a:rPr>
              <a:t>//09</a:t>
            </a:r>
          </a:p>
        </p:txBody>
      </p:sp>
    </p:spTree>
  </p:cSld>
  <p:clrMapOvr>
    <a:masterClrMapping/>
  </p:clrMapOvr>
  <p:transition xmlns:p14="http://schemas.microsoft.com/office/powerpoint/2010/main" spd="med" p14:dur="400">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Oval 3"/>
          <p:cNvSpPr/>
          <p:nvPr/>
        </p:nvSpPr>
        <p:spPr>
          <a:xfrm>
            <a:off x="457200" y="140817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Vorgeschlagene Leistungen</a:t>
            </a:r>
          </a:p>
        </p:txBody>
      </p:sp>
      <p:sp>
        <p:nvSpPr>
          <p:cNvPr id="6" name="TextBox 5"/>
          <p:cNvSpPr txBox="1"/>
          <p:nvPr/>
        </p:nvSpPr>
        <p:spPr>
          <a:xfrm>
            <a:off x="457200" y="1783080"/>
            <a:ext cx="10972800" cy="822960"/>
          </a:xfrm>
          <a:prstGeom prst="rect">
            <a:avLst/>
          </a:prstGeom>
          <a:noFill/>
        </p:spPr>
        <p:txBody>
          <a:bodyPr wrap="square" lIns="0" rIns="0" tIns="0" bIns="0" anchor="t">
            <a:spAutoFit/>
          </a:bodyPr>
          <a:lstStyle/>
          <a:p>
            <a:pPr algn="l">
              <a:lnSpc>
                <a:spcPct val="100000"/>
              </a:lnSpc>
            </a:pPr>
            <a:r>
              <a:rPr sz="4200" b="1" i="0">
                <a:solidFill>
                  <a:srgbClr val="10101A"/>
                </a:solidFill>
                <a:latin typeface="Helvetica Neue"/>
              </a:rPr>
              <a:t>Jede Lücke bekommt ein Werkzeug.</a:t>
            </a:r>
          </a:p>
        </p:txBody>
      </p:sp>
      <p:sp>
        <p:nvSpPr>
          <p:cNvPr id="7" name="TextBox 6"/>
          <p:cNvSpPr txBox="1"/>
          <p:nvPr/>
        </p:nvSpPr>
        <p:spPr>
          <a:xfrm>
            <a:off x="457200" y="2468880"/>
            <a:ext cx="10972800" cy="365760"/>
          </a:xfrm>
          <a:prstGeom prst="rect">
            <a:avLst/>
          </a:prstGeom>
          <a:noFill/>
        </p:spPr>
        <p:txBody>
          <a:bodyPr wrap="square" lIns="0" rIns="0" tIns="0" bIns="0" anchor="t">
            <a:spAutoFit/>
          </a:bodyPr>
          <a:lstStyle/>
          <a:p>
            <a:pPr algn="l">
              <a:lnSpc>
                <a:spcPct val="115000"/>
              </a:lnSpc>
            </a:pPr>
            <a:r>
              <a:rPr sz="1200" b="0" i="0">
                <a:solidFill>
                  <a:srgbClr val="58BAB5"/>
                </a:solidFill>
                <a:latin typeface="Consolas"/>
              </a:rPr>
              <a:t>Drei Ebenen, nie einzeln verkauft: ein Paket.</a:t>
            </a:r>
          </a:p>
        </p:txBody>
      </p:sp>
      <p:sp>
        <p:nvSpPr>
          <p:cNvPr id="8" name="Rounded Rectangle 7"/>
          <p:cNvSpPr/>
          <p:nvPr/>
        </p:nvSpPr>
        <p:spPr>
          <a:xfrm>
            <a:off x="457200" y="2880360"/>
            <a:ext cx="3657600" cy="315468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81528"/>
            <a:ext cx="3108960" cy="274320"/>
          </a:xfrm>
          <a:prstGeom prst="rect">
            <a:avLst/>
          </a:prstGeom>
          <a:noFill/>
        </p:spPr>
        <p:txBody>
          <a:bodyPr wrap="square" lIns="0" rIns="0" tIns="0" bIns="0" anchor="t">
            <a:spAutoFit/>
          </a:bodyPr>
          <a:lstStyle/>
          <a:p>
            <a:pPr algn="l">
              <a:lnSpc>
                <a:spcPct val="115000"/>
              </a:lnSpc>
            </a:pPr>
            <a:r>
              <a:rPr sz="1100" b="1" i="0">
                <a:solidFill>
                  <a:srgbClr val="58BAB5"/>
                </a:solidFill>
                <a:latin typeface="Consolas"/>
              </a:rPr>
              <a:t>Ebene 1</a:t>
            </a:r>
          </a:p>
        </p:txBody>
      </p:sp>
      <p:sp>
        <p:nvSpPr>
          <p:cNvPr id="10" name="TextBox 9"/>
          <p:cNvSpPr txBox="1"/>
          <p:nvPr/>
        </p:nvSpPr>
        <p:spPr>
          <a:xfrm>
            <a:off x="731520" y="3337560"/>
            <a:ext cx="3108960" cy="365760"/>
          </a:xfrm>
          <a:prstGeom prst="rect">
            <a:avLst/>
          </a:prstGeom>
          <a:noFill/>
        </p:spPr>
        <p:txBody>
          <a:bodyPr wrap="square" lIns="0" rIns="0" tIns="0" bIns="0" anchor="t">
            <a:spAutoFit/>
          </a:bodyPr>
          <a:lstStyle/>
          <a:p>
            <a:pPr algn="l">
              <a:lnSpc>
                <a:spcPct val="115000"/>
              </a:lnSpc>
            </a:pPr>
            <a:r>
              <a:rPr sz="1800" b="1" i="0">
                <a:solidFill>
                  <a:srgbClr val="10101A"/>
                </a:solidFill>
                <a:latin typeface="Helvetica Neue"/>
              </a:rPr>
              <a:t>Content-Fundament</a:t>
            </a:r>
          </a:p>
        </p:txBody>
      </p:sp>
      <p:sp>
        <p:nvSpPr>
          <p:cNvPr id="11" name="TextBox 10"/>
          <p:cNvSpPr txBox="1"/>
          <p:nvPr/>
        </p:nvSpPr>
        <p:spPr>
          <a:xfrm>
            <a:off x="731520" y="3721608"/>
            <a:ext cx="310896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KI-gemacht</a:t>
            </a:r>
          </a:p>
        </p:txBody>
      </p:sp>
      <p:sp>
        <p:nvSpPr>
          <p:cNvPr id="12" name="TextBox 11"/>
          <p:cNvSpPr txBox="1"/>
          <p:nvPr/>
        </p:nvSpPr>
        <p:spPr>
          <a:xfrm>
            <a:off x="731520" y="4023360"/>
            <a:ext cx="3108960" cy="1463040"/>
          </a:xfrm>
          <a:prstGeom prst="rect">
            <a:avLst/>
          </a:prstGeom>
          <a:noFill/>
        </p:spPr>
        <p:txBody>
          <a:bodyPr wrap="square" lIns="0" rIns="0" tIns="0" bIns="0" anchor="t">
            <a:spAutoFit/>
          </a:bodyPr>
          <a:lstStyle/>
          <a:p>
            <a:pPr algn="l">
              <a:lnSpc>
                <a:spcPct val="125000"/>
              </a:lnSpc>
            </a:pPr>
            <a:r>
              <a:rPr sz="1050" b="0" i="0">
                <a:solidFill>
                  <a:srgbClr val="10101A"/>
                </a:solidFill>
                <a:latin typeface="Inter"/>
              </a:rPr>
              <a:t>Medizinisch seriöse Videos, in denen Ihr KI-Klon die Fragen beantwortet, die Patientinnen sich nicht zu stellen trauen, dazu Erklär-Animationen und Bildmaterial für Ihre profitabelste Behandlung. HWG-geprüft, als KI-generiert gekennzeichnet und erst nach Ihrer Freigabe veröffentlicht. Sie müssen nie vor die Kamera.</a:t>
            </a:r>
          </a:p>
        </p:txBody>
      </p:sp>
      <p:sp>
        <p:nvSpPr>
          <p:cNvPr id="13" name="TextBox 12"/>
          <p:cNvSpPr txBox="1"/>
          <p:nvPr/>
        </p:nvSpPr>
        <p:spPr>
          <a:xfrm>
            <a:off x="731520" y="5715000"/>
            <a:ext cx="3108960" cy="274320"/>
          </a:xfrm>
          <a:prstGeom prst="rect">
            <a:avLst/>
          </a:prstGeom>
          <a:noFill/>
        </p:spPr>
        <p:txBody>
          <a:bodyPr wrap="square" lIns="0" rIns="0" tIns="0" bIns="0" anchor="t">
            <a:spAutoFit/>
          </a:bodyPr>
          <a:lstStyle/>
          <a:p>
            <a:pPr algn="l">
              <a:lnSpc>
                <a:spcPct val="115000"/>
              </a:lnSpc>
            </a:pPr>
            <a:r>
              <a:rPr sz="900" b="0" i="0">
                <a:solidFill>
                  <a:srgbClr val="4A4A52"/>
                </a:solidFill>
                <a:latin typeface="Consolas"/>
              </a:rPr>
              <a:t>Schließt Lücke 1 und 6 aus Folie 6</a:t>
            </a:r>
          </a:p>
        </p:txBody>
      </p:sp>
      <p:sp>
        <p:nvSpPr>
          <p:cNvPr id="14" name="Rounded Rectangle 13"/>
          <p:cNvSpPr/>
          <p:nvPr/>
        </p:nvSpPr>
        <p:spPr>
          <a:xfrm>
            <a:off x="4297680" y="2880360"/>
            <a:ext cx="3657600" cy="315468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3081528"/>
            <a:ext cx="3108960" cy="274320"/>
          </a:xfrm>
          <a:prstGeom prst="rect">
            <a:avLst/>
          </a:prstGeom>
          <a:noFill/>
        </p:spPr>
        <p:txBody>
          <a:bodyPr wrap="square" lIns="0" rIns="0" tIns="0" bIns="0" anchor="t">
            <a:spAutoFit/>
          </a:bodyPr>
          <a:lstStyle/>
          <a:p>
            <a:pPr algn="l">
              <a:lnSpc>
                <a:spcPct val="115000"/>
              </a:lnSpc>
            </a:pPr>
            <a:r>
              <a:rPr sz="1100" b="1" i="0">
                <a:solidFill>
                  <a:srgbClr val="58BAB5"/>
                </a:solidFill>
                <a:latin typeface="Consolas"/>
              </a:rPr>
              <a:t>Ebene 2</a:t>
            </a:r>
          </a:p>
        </p:txBody>
      </p:sp>
      <p:sp>
        <p:nvSpPr>
          <p:cNvPr id="16" name="TextBox 15"/>
          <p:cNvSpPr txBox="1"/>
          <p:nvPr/>
        </p:nvSpPr>
        <p:spPr>
          <a:xfrm>
            <a:off x="4572000" y="3337560"/>
            <a:ext cx="3108960" cy="365760"/>
          </a:xfrm>
          <a:prstGeom prst="rect">
            <a:avLst/>
          </a:prstGeom>
          <a:noFill/>
        </p:spPr>
        <p:txBody>
          <a:bodyPr wrap="square" lIns="0" rIns="0" tIns="0" bIns="0" anchor="t">
            <a:spAutoFit/>
          </a:bodyPr>
          <a:lstStyle/>
          <a:p>
            <a:pPr algn="l">
              <a:lnSpc>
                <a:spcPct val="115000"/>
              </a:lnSpc>
            </a:pPr>
            <a:r>
              <a:rPr sz="1800" b="1" i="0">
                <a:solidFill>
                  <a:srgbClr val="10101A"/>
                </a:solidFill>
                <a:latin typeface="Helvetica Neue"/>
              </a:rPr>
              <a:t>Reichweite</a:t>
            </a:r>
          </a:p>
        </p:txBody>
      </p:sp>
      <p:sp>
        <p:nvSpPr>
          <p:cNvPr id="17" name="TextBox 16"/>
          <p:cNvSpPr txBox="1"/>
          <p:nvPr/>
        </p:nvSpPr>
        <p:spPr>
          <a:xfrm>
            <a:off x="4572000" y="3721608"/>
            <a:ext cx="310896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Organisch zuerst, Anzeigen optional</a:t>
            </a:r>
          </a:p>
        </p:txBody>
      </p:sp>
      <p:sp>
        <p:nvSpPr>
          <p:cNvPr id="18" name="TextBox 17"/>
          <p:cNvSpPr txBox="1"/>
          <p:nvPr/>
        </p:nvSpPr>
        <p:spPr>
          <a:xfrm>
            <a:off x="4572000" y="4023360"/>
            <a:ext cx="3108960" cy="1463040"/>
          </a:xfrm>
          <a:prstGeom prst="rect">
            <a:avLst/>
          </a:prstGeom>
          <a:noFill/>
        </p:spPr>
        <p:txBody>
          <a:bodyPr wrap="square" lIns="0" rIns="0" tIns="0" bIns="0" anchor="t">
            <a:spAutoFit/>
          </a:bodyPr>
          <a:lstStyle/>
          <a:p>
            <a:pPr algn="l">
              <a:lnSpc>
                <a:spcPct val="125000"/>
              </a:lnSpc>
            </a:pPr>
            <a:r>
              <a:rPr sz="1050" b="0" i="0">
                <a:solidFill>
                  <a:srgbClr val="10101A"/>
                </a:solidFill>
                <a:latin typeface="Inter"/>
              </a:rPr>
              <a:t>Wir veröffentlichen die Beiträge organisch auf den Kanälen Ihrer Praxis. Sobald sichtbar ist, welche Beiträge Anfragen bringen, setzen wir bezahlte Anzeigen auf Meta und Google genau dahinter. Das Werbebudget zahlen Sie direkt an die Plattformen. Zu Beginn ist es keine Pflicht. Die Betreuung der Anzeigen ist im Preis enthalten.</a:t>
            </a:r>
          </a:p>
        </p:txBody>
      </p:sp>
      <p:sp>
        <p:nvSpPr>
          <p:cNvPr id="19" name="TextBox 18"/>
          <p:cNvSpPr txBox="1"/>
          <p:nvPr/>
        </p:nvSpPr>
        <p:spPr>
          <a:xfrm>
            <a:off x="4572000" y="5715000"/>
            <a:ext cx="3108960" cy="274320"/>
          </a:xfrm>
          <a:prstGeom prst="rect">
            <a:avLst/>
          </a:prstGeom>
          <a:noFill/>
        </p:spPr>
        <p:txBody>
          <a:bodyPr wrap="square" lIns="0" rIns="0" tIns="0" bIns="0" anchor="t">
            <a:spAutoFit/>
          </a:bodyPr>
          <a:lstStyle/>
          <a:p>
            <a:pPr algn="l">
              <a:lnSpc>
                <a:spcPct val="115000"/>
              </a:lnSpc>
            </a:pPr>
            <a:r>
              <a:rPr sz="900" b="0" i="0">
                <a:solidFill>
                  <a:srgbClr val="4A4A52"/>
                </a:solidFill>
                <a:latin typeface="Consolas"/>
              </a:rPr>
              <a:t>Bringt die Beiträge zu den Patientinnen</a:t>
            </a:r>
          </a:p>
        </p:txBody>
      </p:sp>
      <p:sp>
        <p:nvSpPr>
          <p:cNvPr id="20" name="Rounded Rectangle 19"/>
          <p:cNvSpPr/>
          <p:nvPr/>
        </p:nvSpPr>
        <p:spPr>
          <a:xfrm>
            <a:off x="8138160" y="2880360"/>
            <a:ext cx="3657600" cy="315468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3081528"/>
            <a:ext cx="3108960" cy="274320"/>
          </a:xfrm>
          <a:prstGeom prst="rect">
            <a:avLst/>
          </a:prstGeom>
          <a:noFill/>
        </p:spPr>
        <p:txBody>
          <a:bodyPr wrap="square" lIns="0" rIns="0" tIns="0" bIns="0" anchor="t">
            <a:spAutoFit/>
          </a:bodyPr>
          <a:lstStyle/>
          <a:p>
            <a:pPr algn="l">
              <a:lnSpc>
                <a:spcPct val="115000"/>
              </a:lnSpc>
            </a:pPr>
            <a:r>
              <a:rPr sz="1100" b="1" i="0">
                <a:solidFill>
                  <a:srgbClr val="58BAB5"/>
                </a:solidFill>
                <a:latin typeface="Consolas"/>
              </a:rPr>
              <a:t>Ebene 3</a:t>
            </a:r>
          </a:p>
        </p:txBody>
      </p:sp>
      <p:sp>
        <p:nvSpPr>
          <p:cNvPr id="22" name="TextBox 21"/>
          <p:cNvSpPr txBox="1"/>
          <p:nvPr/>
        </p:nvSpPr>
        <p:spPr>
          <a:xfrm>
            <a:off x="8412480" y="3337560"/>
            <a:ext cx="3108960" cy="365760"/>
          </a:xfrm>
          <a:prstGeom prst="rect">
            <a:avLst/>
          </a:prstGeom>
          <a:noFill/>
        </p:spPr>
        <p:txBody>
          <a:bodyPr wrap="square" lIns="0" rIns="0" tIns="0" bIns="0" anchor="t">
            <a:spAutoFit/>
          </a:bodyPr>
          <a:lstStyle/>
          <a:p>
            <a:pPr algn="l">
              <a:lnSpc>
                <a:spcPct val="115000"/>
              </a:lnSpc>
            </a:pPr>
            <a:r>
              <a:rPr sz="1800" b="1" i="0">
                <a:solidFill>
                  <a:srgbClr val="10101A"/>
                </a:solidFill>
                <a:latin typeface="Helvetica Neue"/>
              </a:rPr>
              <a:t>Anfragen-Infrastruktur</a:t>
            </a:r>
          </a:p>
        </p:txBody>
      </p:sp>
      <p:sp>
        <p:nvSpPr>
          <p:cNvPr id="23" name="TextBox 22"/>
          <p:cNvSpPr txBox="1"/>
          <p:nvPr/>
        </p:nvSpPr>
        <p:spPr>
          <a:xfrm>
            <a:off x="8412480" y="3721608"/>
            <a:ext cx="310896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Von der Anfrage bis zur Behandlung</a:t>
            </a:r>
          </a:p>
        </p:txBody>
      </p:sp>
      <p:sp>
        <p:nvSpPr>
          <p:cNvPr id="24" name="TextBox 23"/>
          <p:cNvSpPr txBox="1"/>
          <p:nvPr/>
        </p:nvSpPr>
        <p:spPr>
          <a:xfrm>
            <a:off x="8412480" y="4023360"/>
            <a:ext cx="3108960" cy="1463040"/>
          </a:xfrm>
          <a:prstGeom prst="rect">
            <a:avLst/>
          </a:prstGeom>
          <a:noFill/>
        </p:spPr>
        <p:txBody>
          <a:bodyPr wrap="square" lIns="0" rIns="0" tIns="0" bIns="0" anchor="t">
            <a:spAutoFit/>
          </a:bodyPr>
          <a:lstStyle/>
          <a:p>
            <a:pPr algn="l">
              <a:lnSpc>
                <a:spcPct val="125000"/>
              </a:lnSpc>
            </a:pPr>
            <a:r>
              <a:rPr sz="1050" b="0" i="0">
                <a:solidFill>
                  <a:srgbClr val="10101A"/>
                </a:solidFill>
                <a:latin typeface="Inter"/>
              </a:rPr>
              <a:t>Zielseiten (auch Ziel Ihres Profil-Links), KI-Vorqualifizierung (Budget, Indikation, Erwartung), Weiterleitung (niedrige Preise zur Online-Buchung, hohe zum Team ans Telefon), Erinnerungen, Nachfassen, Bewertungsanfragen. Auswertung bis zu Buchung und Umsatz im Portal, angebunden an Ihre Praxissoftware (PVS-Bridge).</a:t>
            </a:r>
          </a:p>
        </p:txBody>
      </p:sp>
      <p:sp>
        <p:nvSpPr>
          <p:cNvPr id="25" name="TextBox 24"/>
          <p:cNvSpPr txBox="1"/>
          <p:nvPr/>
        </p:nvSpPr>
        <p:spPr>
          <a:xfrm>
            <a:off x="8412480" y="5715000"/>
            <a:ext cx="3108960" cy="274320"/>
          </a:xfrm>
          <a:prstGeom prst="rect">
            <a:avLst/>
          </a:prstGeom>
          <a:noFill/>
        </p:spPr>
        <p:txBody>
          <a:bodyPr wrap="square" lIns="0" rIns="0" tIns="0" bIns="0" anchor="t">
            <a:spAutoFit/>
          </a:bodyPr>
          <a:lstStyle/>
          <a:p>
            <a:pPr algn="l">
              <a:lnSpc>
                <a:spcPct val="115000"/>
              </a:lnSpc>
            </a:pPr>
            <a:r>
              <a:rPr sz="900" b="0" i="0">
                <a:solidFill>
                  <a:srgbClr val="4A4A52"/>
                </a:solidFill>
                <a:latin typeface="Consolas"/>
              </a:rPr>
              <a:t>Schließt Lücke 2, 3, 4 und 5</a:t>
            </a:r>
          </a:p>
        </p:txBody>
      </p:sp>
      <p:sp>
        <p:nvSpPr>
          <p:cNvPr id="26" name="TextBox 25"/>
          <p:cNvSpPr txBox="1"/>
          <p:nvPr/>
        </p:nvSpPr>
        <p:spPr>
          <a:xfrm>
            <a:off x="457200" y="6172200"/>
            <a:ext cx="11338560" cy="274320"/>
          </a:xfrm>
          <a:prstGeom prst="rect">
            <a:avLst/>
          </a:prstGeom>
          <a:noFill/>
        </p:spPr>
        <p:txBody>
          <a:bodyPr wrap="square" lIns="0" rIns="0" tIns="0" bIns="0" anchor="t">
            <a:spAutoFit/>
          </a:bodyPr>
          <a:lstStyle/>
          <a:p>
            <a:pPr algn="l">
              <a:lnSpc>
                <a:spcPct val="115000"/>
              </a:lnSpc>
            </a:pPr>
            <a:r>
              <a:rPr sz="1100" b="0" i="0">
                <a:solidFill>
                  <a:srgbClr val="10101A"/>
                </a:solidFill>
                <a:latin typeface="Consolas"/>
              </a:rPr>
              <a:t>EINS bewertet Beiträge und Anzeigen nach behandelten Patienten, nicht nach Klicks.</a:t>
            </a:r>
          </a:p>
        </p:txBody>
      </p:sp>
      <p:sp>
        <p:nvSpPr>
          <p:cNvPr id="27" name="TextBox 26"/>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EINS · Strategievorschlag</a:t>
            </a:r>
          </a:p>
        </p:txBody>
      </p:sp>
      <p:sp>
        <p:nvSpPr>
          <p:cNvPr id="28" name="TextBox 27"/>
          <p:cNvSpPr txBox="1"/>
          <p:nvPr/>
        </p:nvSpPr>
        <p:spPr>
          <a:xfrm>
            <a:off x="6400800" y="6492240"/>
            <a:ext cx="5486400" cy="274320"/>
          </a:xfrm>
          <a:prstGeom prst="rect">
            <a:avLst/>
          </a:prstGeom>
          <a:noFill/>
        </p:spPr>
        <p:txBody>
          <a:bodyPr wrap="square" lIns="0" rIns="0" tIns="0" bIns="0" anchor="t">
            <a:spAutoFit/>
          </a:bodyPr>
          <a:lstStyle/>
          <a:p>
            <a:pPr algn="r">
              <a:lnSpc>
                <a:spcPct val="115000"/>
              </a:lnSpc>
            </a:pPr>
            <a:r>
              <a:rPr sz="1000" b="0" i="0">
                <a:solidFill>
                  <a:srgbClr val="6A6A74"/>
                </a:solidFill>
                <a:latin typeface="Consolas"/>
              </a:rPr>
              <a:t>//10</a:t>
            </a:r>
          </a:p>
        </p:txBody>
      </p:sp>
    </p:spTree>
  </p:cSld>
  <p:clrMapOvr>
    <a:masterClrMapping/>
  </p:clrMapOvr>
  <p:transition xmlns:p14="http://schemas.microsoft.com/office/powerpoint/2010/main" spd="med" p14:dur="400">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Oval 3"/>
          <p:cNvSpPr/>
          <p:nvPr/>
        </p:nvSpPr>
        <p:spPr>
          <a:xfrm>
            <a:off x="457200" y="140817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Wert für Sie</a:t>
            </a:r>
          </a:p>
        </p:txBody>
      </p:sp>
      <p:sp>
        <p:nvSpPr>
          <p:cNvPr id="6" name="TextBox 5"/>
          <p:cNvSpPr txBox="1"/>
          <p:nvPr/>
        </p:nvSpPr>
        <p:spPr>
          <a:xfrm>
            <a:off x="457200" y="1783080"/>
            <a:ext cx="10972800" cy="822960"/>
          </a:xfrm>
          <a:prstGeom prst="rect">
            <a:avLst/>
          </a:prstGeom>
          <a:noFill/>
        </p:spPr>
        <p:txBody>
          <a:bodyPr wrap="square" lIns="0" rIns="0" tIns="0" bIns="0" anchor="t">
            <a:spAutoFit/>
          </a:bodyPr>
          <a:lstStyle/>
          <a:p>
            <a:pPr algn="l">
              <a:lnSpc>
                <a:spcPct val="100000"/>
              </a:lnSpc>
            </a:pPr>
            <a:r>
              <a:rPr sz="4600" b="1" i="0">
                <a:solidFill>
                  <a:srgbClr val="10101A"/>
                </a:solidFill>
                <a:latin typeface="Helvetica Neue"/>
              </a:rPr>
              <a:t>Die Rechnung, ehrlich.</a:t>
            </a:r>
          </a:p>
        </p:txBody>
      </p:sp>
      <p:sp>
        <p:nvSpPr>
          <p:cNvPr id="7" name="Rounded Rectangle 6"/>
          <p:cNvSpPr/>
          <p:nvPr/>
        </p:nvSpPr>
        <p:spPr>
          <a:xfrm>
            <a:off x="457200" y="2606040"/>
            <a:ext cx="11338560" cy="1097280"/>
          </a:xfrm>
          <a:prstGeom prst="roundRect">
            <a:avLst>
              <a:gd name="adj" fmla="val 6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743200"/>
            <a:ext cx="11338560" cy="365760"/>
          </a:xfrm>
          <a:prstGeom prst="rect">
            <a:avLst/>
          </a:prstGeom>
          <a:noFill/>
        </p:spPr>
        <p:txBody>
          <a:bodyPr wrap="square" lIns="0" rIns="0" tIns="0" bIns="0" anchor="t">
            <a:spAutoFit/>
          </a:bodyPr>
          <a:lstStyle/>
          <a:p>
            <a:pPr algn="ctr">
              <a:lnSpc>
                <a:spcPct val="115000"/>
              </a:lnSpc>
            </a:pPr>
            <a:r>
              <a:rPr sz="2000" b="1" i="0">
                <a:solidFill>
                  <a:srgbClr val="10101A"/>
                </a:solidFill>
                <a:latin typeface="Helvetica Neue"/>
              </a:rPr>
              <a:t>Wert  =  (Traum-Ergebnis  ×  Wahrscheinlichkeit)  ÷  (Zeit bis Erfolg  ×  Aufwand)</a:t>
            </a:r>
          </a:p>
        </p:txBody>
      </p:sp>
      <p:sp>
        <p:nvSpPr>
          <p:cNvPr id="9" name="TextBox 8"/>
          <p:cNvSpPr txBox="1"/>
          <p:nvPr/>
        </p:nvSpPr>
        <p:spPr>
          <a:xfrm>
            <a:off x="457200" y="3200400"/>
            <a:ext cx="11338560" cy="365760"/>
          </a:xfrm>
          <a:prstGeom prst="rect">
            <a:avLst/>
          </a:prstGeom>
          <a:noFill/>
        </p:spPr>
        <p:txBody>
          <a:bodyPr wrap="square" lIns="0" rIns="0" tIns="0" bIns="0" anchor="t">
            <a:spAutoFit/>
          </a:bodyPr>
          <a:lstStyle/>
          <a:p>
            <a:pPr algn="ctr">
              <a:lnSpc>
                <a:spcPct val="115000"/>
              </a:lnSpc>
            </a:pPr>
            <a:r>
              <a:rPr sz="1100" b="0" i="0">
                <a:solidFill>
                  <a:srgbClr val="58BAB5"/>
                </a:solidFill>
                <a:latin typeface="Consolas"/>
              </a:rPr>
              <a:t>Hormozi Value Equation · konkret auf Ihre Praxis gerechnet</a:t>
            </a:r>
          </a:p>
        </p:txBody>
      </p:sp>
      <p:sp>
        <p:nvSpPr>
          <p:cNvPr id="10" name="TextBox 9"/>
          <p:cNvSpPr txBox="1"/>
          <p:nvPr/>
        </p:nvSpPr>
        <p:spPr>
          <a:xfrm>
            <a:off x="640080" y="3886200"/>
            <a:ext cx="5029200" cy="274320"/>
          </a:xfrm>
          <a:prstGeom prst="rect">
            <a:avLst/>
          </a:prstGeom>
          <a:noFill/>
        </p:spPr>
        <p:txBody>
          <a:bodyPr wrap="square" lIns="0" rIns="0" tIns="0" bIns="0" anchor="t">
            <a:spAutoFit/>
          </a:bodyPr>
          <a:lstStyle/>
          <a:p>
            <a:pPr algn="l">
              <a:lnSpc>
                <a:spcPct val="115000"/>
              </a:lnSpc>
            </a:pPr>
            <a:r>
              <a:rPr sz="1300" b="0" i="0">
                <a:solidFill>
                  <a:srgbClr val="10101A"/>
                </a:solidFill>
                <a:latin typeface="Consolas"/>
              </a:rPr>
              <a:t>Traum-Ergebnis</a:t>
            </a:r>
          </a:p>
        </p:txBody>
      </p:sp>
      <p:sp>
        <p:nvSpPr>
          <p:cNvPr id="11" name="TextBox 10"/>
          <p:cNvSpPr txBox="1"/>
          <p:nvPr/>
        </p:nvSpPr>
        <p:spPr>
          <a:xfrm>
            <a:off x="5943600" y="3886200"/>
            <a:ext cx="5852160" cy="274320"/>
          </a:xfrm>
          <a:prstGeom prst="rect">
            <a:avLst/>
          </a:prstGeom>
          <a:noFill/>
        </p:spPr>
        <p:txBody>
          <a:bodyPr wrap="square" lIns="0" rIns="0" tIns="0" bIns="0" anchor="t">
            <a:spAutoFit/>
          </a:bodyPr>
          <a:lstStyle/>
          <a:p>
            <a:pPr algn="l">
              <a:lnSpc>
                <a:spcPct val="115000"/>
              </a:lnSpc>
            </a:pPr>
            <a:r>
              <a:rPr sz="1300" b="0" i="0">
                <a:solidFill>
                  <a:srgbClr val="10101A"/>
                </a:solidFill>
                <a:latin typeface="Consolas"/>
              </a:rPr>
              <a:t>[N_PATIENTEN] zusätzliche Patienten / Monat</a:t>
            </a:r>
          </a:p>
        </p:txBody>
      </p:sp>
      <p:sp>
        <p:nvSpPr>
          <p:cNvPr id="12" name="TextBox 11"/>
          <p:cNvSpPr txBox="1"/>
          <p:nvPr/>
        </p:nvSpPr>
        <p:spPr>
          <a:xfrm>
            <a:off x="640080" y="4160520"/>
            <a:ext cx="5029200" cy="274320"/>
          </a:xfrm>
          <a:prstGeom prst="rect">
            <a:avLst/>
          </a:prstGeom>
          <a:noFill/>
        </p:spPr>
        <p:txBody>
          <a:bodyPr wrap="square" lIns="0" rIns="0" tIns="0" bIns="0" anchor="t">
            <a:spAutoFit/>
          </a:bodyPr>
          <a:lstStyle/>
          <a:p>
            <a:pPr algn="l">
              <a:lnSpc>
                <a:spcPct val="115000"/>
              </a:lnSpc>
            </a:pPr>
            <a:r>
              <a:rPr sz="1300" b="0" i="0">
                <a:solidFill>
                  <a:srgbClr val="10101A"/>
                </a:solidFill>
                <a:latin typeface="Consolas"/>
              </a:rPr>
              <a:t>× Ø Behandlungswert</a:t>
            </a:r>
          </a:p>
        </p:txBody>
      </p:sp>
      <p:sp>
        <p:nvSpPr>
          <p:cNvPr id="13" name="TextBox 12"/>
          <p:cNvSpPr txBox="1"/>
          <p:nvPr/>
        </p:nvSpPr>
        <p:spPr>
          <a:xfrm>
            <a:off x="5943600" y="4160520"/>
            <a:ext cx="5852160" cy="274320"/>
          </a:xfrm>
          <a:prstGeom prst="rect">
            <a:avLst/>
          </a:prstGeom>
          <a:noFill/>
        </p:spPr>
        <p:txBody>
          <a:bodyPr wrap="square" lIns="0" rIns="0" tIns="0" bIns="0" anchor="t">
            <a:spAutoFit/>
          </a:bodyPr>
          <a:lstStyle/>
          <a:p>
            <a:pPr algn="l">
              <a:lnSpc>
                <a:spcPct val="115000"/>
              </a:lnSpc>
            </a:pPr>
            <a:r>
              <a:rPr sz="1300" b="0" i="0">
                <a:solidFill>
                  <a:srgbClr val="10101A"/>
                </a:solidFill>
                <a:latin typeface="Consolas"/>
              </a:rPr>
              <a:t>[Ø_BEHANDLUNGSWERT] €</a:t>
            </a:r>
          </a:p>
        </p:txBody>
      </p:sp>
      <p:sp>
        <p:nvSpPr>
          <p:cNvPr id="14" name="Rectangle 13"/>
          <p:cNvSpPr/>
          <p:nvPr/>
        </p:nvSpPr>
        <p:spPr>
          <a:xfrm>
            <a:off x="640080" y="4398264"/>
            <a:ext cx="10972800" cy="9525"/>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434840"/>
            <a:ext cx="5029200" cy="274320"/>
          </a:xfrm>
          <a:prstGeom prst="rect">
            <a:avLst/>
          </a:prstGeom>
          <a:noFill/>
        </p:spPr>
        <p:txBody>
          <a:bodyPr wrap="square" lIns="0" rIns="0" tIns="0" bIns="0" anchor="t">
            <a:spAutoFit/>
          </a:bodyPr>
          <a:lstStyle/>
          <a:p>
            <a:pPr algn="l">
              <a:lnSpc>
                <a:spcPct val="115000"/>
              </a:lnSpc>
            </a:pPr>
            <a:r>
              <a:rPr sz="1300" b="0" i="0">
                <a:solidFill>
                  <a:srgbClr val="10101A"/>
                </a:solidFill>
                <a:latin typeface="Consolas"/>
              </a:rPr>
              <a:t>= Mehrwert / Monat</a:t>
            </a:r>
          </a:p>
        </p:txBody>
      </p:sp>
      <p:sp>
        <p:nvSpPr>
          <p:cNvPr id="16" name="TextBox 15"/>
          <p:cNvSpPr txBox="1"/>
          <p:nvPr/>
        </p:nvSpPr>
        <p:spPr>
          <a:xfrm>
            <a:off x="5943600" y="4434840"/>
            <a:ext cx="5852160" cy="274320"/>
          </a:xfrm>
          <a:prstGeom prst="rect">
            <a:avLst/>
          </a:prstGeom>
          <a:noFill/>
        </p:spPr>
        <p:txBody>
          <a:bodyPr wrap="square" lIns="0" rIns="0" tIns="0" bIns="0" anchor="t">
            <a:spAutoFit/>
          </a:bodyPr>
          <a:lstStyle/>
          <a:p>
            <a:pPr algn="l">
              <a:lnSpc>
                <a:spcPct val="115000"/>
              </a:lnSpc>
            </a:pPr>
            <a:r>
              <a:rPr sz="1300" b="0" i="0">
                <a:solidFill>
                  <a:srgbClr val="10101A"/>
                </a:solidFill>
                <a:latin typeface="Consolas"/>
              </a:rPr>
              <a:t>[MEHRWERT_MONAT] €</a:t>
            </a:r>
          </a:p>
        </p:txBody>
      </p:sp>
      <p:sp>
        <p:nvSpPr>
          <p:cNvPr id="17" name="TextBox 16"/>
          <p:cNvSpPr txBox="1"/>
          <p:nvPr/>
        </p:nvSpPr>
        <p:spPr>
          <a:xfrm>
            <a:off x="640080" y="4709160"/>
            <a:ext cx="5029200" cy="274320"/>
          </a:xfrm>
          <a:prstGeom prst="rect">
            <a:avLst/>
          </a:prstGeom>
          <a:noFill/>
        </p:spPr>
        <p:txBody>
          <a:bodyPr wrap="square" lIns="0" rIns="0" tIns="0" bIns="0" anchor="t">
            <a:spAutoFit/>
          </a:bodyPr>
          <a:lstStyle/>
          <a:p>
            <a:pPr algn="l">
              <a:lnSpc>
                <a:spcPct val="115000"/>
              </a:lnSpc>
            </a:pPr>
            <a:r>
              <a:rPr sz="1300" b="0" i="0">
                <a:solidFill>
                  <a:srgbClr val="10101A"/>
                </a:solidFill>
                <a:latin typeface="Consolas"/>
              </a:rPr>
              <a:t>× 12 Monate</a:t>
            </a:r>
          </a:p>
        </p:txBody>
      </p:sp>
      <p:sp>
        <p:nvSpPr>
          <p:cNvPr id="18" name="TextBox 17"/>
          <p:cNvSpPr txBox="1"/>
          <p:nvPr/>
        </p:nvSpPr>
        <p:spPr>
          <a:xfrm>
            <a:off x="5943600" y="4709160"/>
            <a:ext cx="5852160" cy="274320"/>
          </a:xfrm>
          <a:prstGeom prst="rect">
            <a:avLst/>
          </a:prstGeom>
          <a:noFill/>
        </p:spPr>
        <p:txBody>
          <a:bodyPr wrap="square" lIns="0" rIns="0" tIns="0" bIns="0" anchor="t">
            <a:spAutoFit/>
          </a:bodyPr>
          <a:lstStyle/>
          <a:p>
            <a:pPr algn="l">
              <a:lnSpc>
                <a:spcPct val="115000"/>
              </a:lnSpc>
            </a:pPr>
            <a:r>
              <a:rPr sz="1300" b="0" i="0">
                <a:solidFill>
                  <a:srgbClr val="10101A"/>
                </a:solidFill>
                <a:latin typeface="Consolas"/>
              </a:rPr>
              <a:t>[MEHRWERT_JAHR] €</a:t>
            </a:r>
          </a:p>
        </p:txBody>
      </p:sp>
      <p:sp>
        <p:nvSpPr>
          <p:cNvPr id="19" name="TextBox 18"/>
          <p:cNvSpPr txBox="1"/>
          <p:nvPr/>
        </p:nvSpPr>
        <p:spPr>
          <a:xfrm>
            <a:off x="640080" y="4983480"/>
            <a:ext cx="5029200" cy="274320"/>
          </a:xfrm>
          <a:prstGeom prst="rect">
            <a:avLst/>
          </a:prstGeom>
          <a:noFill/>
        </p:spPr>
        <p:txBody>
          <a:bodyPr wrap="square" lIns="0" rIns="0" tIns="0" bIns="0" anchor="t">
            <a:spAutoFit/>
          </a:bodyPr>
          <a:lstStyle/>
          <a:p>
            <a:pPr algn="l">
              <a:lnSpc>
                <a:spcPct val="115000"/>
              </a:lnSpc>
            </a:pPr>
            <a:r>
              <a:rPr sz="1300" b="0" i="0">
                <a:solidFill>
                  <a:srgbClr val="10101A"/>
                </a:solidFill>
                <a:latin typeface="Consolas"/>
              </a:rPr>
              <a:t>− EINS-Investition</a:t>
            </a:r>
          </a:p>
        </p:txBody>
      </p:sp>
      <p:sp>
        <p:nvSpPr>
          <p:cNvPr id="20" name="TextBox 19"/>
          <p:cNvSpPr txBox="1"/>
          <p:nvPr/>
        </p:nvSpPr>
        <p:spPr>
          <a:xfrm>
            <a:off x="5943600" y="4983480"/>
            <a:ext cx="5852160" cy="274320"/>
          </a:xfrm>
          <a:prstGeom prst="rect">
            <a:avLst/>
          </a:prstGeom>
          <a:noFill/>
        </p:spPr>
        <p:txBody>
          <a:bodyPr wrap="square" lIns="0" rIns="0" tIns="0" bIns="0" anchor="t">
            <a:spAutoFit/>
          </a:bodyPr>
          <a:lstStyle/>
          <a:p>
            <a:pPr algn="l">
              <a:lnSpc>
                <a:spcPct val="115000"/>
              </a:lnSpc>
            </a:pPr>
            <a:r>
              <a:rPr sz="1300" b="0" i="0">
                <a:solidFill>
                  <a:srgbClr val="10101A"/>
                </a:solidFill>
                <a:latin typeface="Consolas"/>
              </a:rPr>
              <a:t>22.800 € (12 × 1.900 € netto, keine Einrichtungsgebühr)</a:t>
            </a:r>
          </a:p>
        </p:txBody>
      </p:sp>
      <p:sp>
        <p:nvSpPr>
          <p:cNvPr id="21" name="TextBox 20"/>
          <p:cNvSpPr txBox="1"/>
          <p:nvPr/>
        </p:nvSpPr>
        <p:spPr>
          <a:xfrm>
            <a:off x="640080" y="5257800"/>
            <a:ext cx="5029200" cy="274320"/>
          </a:xfrm>
          <a:prstGeom prst="rect">
            <a:avLst/>
          </a:prstGeom>
          <a:noFill/>
        </p:spPr>
        <p:txBody>
          <a:bodyPr wrap="square" lIns="0" rIns="0" tIns="0" bIns="0" anchor="t">
            <a:spAutoFit/>
          </a:bodyPr>
          <a:lstStyle/>
          <a:p>
            <a:pPr algn="l">
              <a:lnSpc>
                <a:spcPct val="115000"/>
              </a:lnSpc>
            </a:pPr>
            <a:r>
              <a:rPr sz="1300" b="0" i="0">
                <a:solidFill>
                  <a:srgbClr val="10101A"/>
                </a:solidFill>
                <a:latin typeface="Consolas"/>
              </a:rPr>
              <a:t>− Werbebudget</a:t>
            </a:r>
          </a:p>
        </p:txBody>
      </p:sp>
      <p:sp>
        <p:nvSpPr>
          <p:cNvPr id="22" name="TextBox 21"/>
          <p:cNvSpPr txBox="1"/>
          <p:nvPr/>
        </p:nvSpPr>
        <p:spPr>
          <a:xfrm>
            <a:off x="5943600" y="5257800"/>
            <a:ext cx="5852160" cy="274320"/>
          </a:xfrm>
          <a:prstGeom prst="rect">
            <a:avLst/>
          </a:prstGeom>
          <a:noFill/>
        </p:spPr>
        <p:txBody>
          <a:bodyPr wrap="square" lIns="0" rIns="0" tIns="0" bIns="0" anchor="t">
            <a:spAutoFit/>
          </a:bodyPr>
          <a:lstStyle/>
          <a:p>
            <a:pPr algn="l">
              <a:lnSpc>
                <a:spcPct val="115000"/>
              </a:lnSpc>
            </a:pPr>
            <a:r>
              <a:rPr sz="1300" b="0" i="0">
                <a:solidFill>
                  <a:srgbClr val="10101A"/>
                </a:solidFill>
                <a:latin typeface="Consolas"/>
              </a:rPr>
              <a:t>zu Beginn keine Pflicht</a:t>
            </a:r>
          </a:p>
        </p:txBody>
      </p:sp>
      <p:sp>
        <p:nvSpPr>
          <p:cNvPr id="23" name="Rectangle 22"/>
          <p:cNvSpPr/>
          <p:nvPr/>
        </p:nvSpPr>
        <p:spPr>
          <a:xfrm>
            <a:off x="640080" y="5495544"/>
            <a:ext cx="10972800" cy="9525"/>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532120"/>
            <a:ext cx="5029200" cy="274320"/>
          </a:xfrm>
          <a:prstGeom prst="rect">
            <a:avLst/>
          </a:prstGeom>
          <a:noFill/>
        </p:spPr>
        <p:txBody>
          <a:bodyPr wrap="square" lIns="0" rIns="0" tIns="0" bIns="0" anchor="t">
            <a:spAutoFit/>
          </a:bodyPr>
          <a:lstStyle/>
          <a:p>
            <a:pPr algn="l">
              <a:lnSpc>
                <a:spcPct val="115000"/>
              </a:lnSpc>
            </a:pPr>
            <a:r>
              <a:rPr sz="1300" b="1" i="0">
                <a:solidFill>
                  <a:srgbClr val="58BAB5"/>
                </a:solidFill>
                <a:latin typeface="Consolas"/>
              </a:rPr>
              <a:t>= Netto-Wert Jahr 1</a:t>
            </a:r>
          </a:p>
        </p:txBody>
      </p:sp>
      <p:sp>
        <p:nvSpPr>
          <p:cNvPr id="25" name="TextBox 24"/>
          <p:cNvSpPr txBox="1"/>
          <p:nvPr/>
        </p:nvSpPr>
        <p:spPr>
          <a:xfrm>
            <a:off x="5943600" y="5532120"/>
            <a:ext cx="5852160" cy="274320"/>
          </a:xfrm>
          <a:prstGeom prst="rect">
            <a:avLst/>
          </a:prstGeom>
          <a:noFill/>
        </p:spPr>
        <p:txBody>
          <a:bodyPr wrap="square" lIns="0" rIns="0" tIns="0" bIns="0" anchor="t">
            <a:spAutoFit/>
          </a:bodyPr>
          <a:lstStyle/>
          <a:p>
            <a:pPr algn="l">
              <a:lnSpc>
                <a:spcPct val="115000"/>
              </a:lnSpc>
            </a:pPr>
            <a:r>
              <a:rPr sz="1300" b="1" i="0">
                <a:solidFill>
                  <a:srgbClr val="58BAB5"/>
                </a:solidFill>
                <a:latin typeface="Consolas"/>
              </a:rPr>
              <a:t>ca. [NETTO_WERT_JAHR_1] €</a:t>
            </a:r>
          </a:p>
        </p:txBody>
      </p:sp>
      <p:sp>
        <p:nvSpPr>
          <p:cNvPr id="26" name="TextBox 25"/>
          <p:cNvSpPr txBox="1"/>
          <p:nvPr/>
        </p:nvSpPr>
        <p:spPr>
          <a:xfrm>
            <a:off x="457200" y="5943600"/>
            <a:ext cx="1133856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Rechenbeispiel mit Ihren Zahlen, keine Umsatz-Zusage.</a:t>
            </a:r>
          </a:p>
        </p:txBody>
      </p:sp>
      <p:sp>
        <p:nvSpPr>
          <p:cNvPr id="27" name="TextBox 26"/>
          <p:cNvSpPr txBox="1"/>
          <p:nvPr/>
        </p:nvSpPr>
        <p:spPr>
          <a:xfrm>
            <a:off x="457200" y="6144768"/>
            <a:ext cx="1133856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Erste Rechnung erst mit der ersten qualifizierten Anfrage über EINS. Kommt in 90 Tagen keine, endet die Zusammenarbeit ohne Kosten.</a:t>
            </a:r>
          </a:p>
        </p:txBody>
      </p:sp>
      <p:sp>
        <p:nvSpPr>
          <p:cNvPr id="28" name="TextBox 27"/>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EINS · Strategievorschlag</a:t>
            </a:r>
          </a:p>
        </p:txBody>
      </p:sp>
      <p:sp>
        <p:nvSpPr>
          <p:cNvPr id="29" name="TextBox 28"/>
          <p:cNvSpPr txBox="1"/>
          <p:nvPr/>
        </p:nvSpPr>
        <p:spPr>
          <a:xfrm>
            <a:off x="6400800" y="6492240"/>
            <a:ext cx="5486400" cy="274320"/>
          </a:xfrm>
          <a:prstGeom prst="rect">
            <a:avLst/>
          </a:prstGeom>
          <a:noFill/>
        </p:spPr>
        <p:txBody>
          <a:bodyPr wrap="square" lIns="0" rIns="0" tIns="0" bIns="0" anchor="t">
            <a:spAutoFit/>
          </a:bodyPr>
          <a:lstStyle/>
          <a:p>
            <a:pPr algn="r">
              <a:lnSpc>
                <a:spcPct val="115000"/>
              </a:lnSpc>
            </a:pPr>
            <a:r>
              <a:rPr sz="1000" b="0" i="0">
                <a:solidFill>
                  <a:srgbClr val="6A6A74"/>
                </a:solidFill>
                <a:latin typeface="Consolas"/>
              </a:rPr>
              <a:t>//11</a:t>
            </a:r>
          </a:p>
        </p:txBody>
      </p:sp>
    </p:spTree>
  </p:cSld>
  <p:clrMapOvr>
    <a:masterClrMapping/>
  </p:clrMapOvr>
  <p:transition xmlns:p14="http://schemas.microsoft.com/office/powerpoint/2010/main" spd="med" p14:dur="400">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Oval 3"/>
          <p:cNvSpPr/>
          <p:nvPr/>
        </p:nvSpPr>
        <p:spPr>
          <a:xfrm>
            <a:off x="457200" y="140817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Die Garantie</a:t>
            </a:r>
          </a:p>
        </p:txBody>
      </p:sp>
      <p:sp>
        <p:nvSpPr>
          <p:cNvPr id="6" name="TextBox 5"/>
          <p:cNvSpPr txBox="1"/>
          <p:nvPr/>
        </p:nvSpPr>
        <p:spPr>
          <a:xfrm>
            <a:off x="457200" y="1783080"/>
            <a:ext cx="10972800" cy="822960"/>
          </a:xfrm>
          <a:prstGeom prst="rect">
            <a:avLst/>
          </a:prstGeom>
          <a:noFill/>
        </p:spPr>
        <p:txBody>
          <a:bodyPr wrap="square" lIns="0" rIns="0" tIns="0" bIns="0" anchor="t">
            <a:spAutoFit/>
          </a:bodyPr>
          <a:lstStyle/>
          <a:p>
            <a:pPr algn="l">
              <a:lnSpc>
                <a:spcPct val="100000"/>
              </a:lnSpc>
            </a:pPr>
            <a:r>
              <a:rPr sz="4200" b="1" i="0">
                <a:solidFill>
                  <a:srgbClr val="10101A"/>
                </a:solidFill>
                <a:latin typeface="Helvetica Neue"/>
              </a:rPr>
              <a:t>Keine Anfrage, keine Rechnung.</a:t>
            </a:r>
          </a:p>
        </p:txBody>
      </p:sp>
      <p:sp>
        <p:nvSpPr>
          <p:cNvPr id="7" name="Rounded Rectangle 6"/>
          <p:cNvSpPr/>
          <p:nvPr/>
        </p:nvSpPr>
        <p:spPr>
          <a:xfrm>
            <a:off x="457200" y="2606040"/>
            <a:ext cx="11338560" cy="1371600"/>
          </a:xfrm>
          <a:prstGeom prst="roundRect">
            <a:avLst>
              <a:gd name="adj" fmla="val 6000"/>
            </a:avLst>
          </a:prstGeom>
          <a:solidFill>
            <a:srgbClr val="E7F6F5"/>
          </a:solidFill>
          <a:ln w="9525">
            <a:solidFill>
              <a:srgbClr val="58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adshot.png"/>
          <p:cNvPicPr>
            <a:picLocks noChangeAspect="1"/>
          </p:cNvPicPr>
          <p:nvPr/>
        </p:nvPicPr>
        <p:blipFill>
          <a:blip r:embed="rId3"/>
          <a:stretch>
            <a:fillRect/>
          </a:stretch>
        </p:blipFill>
        <p:spPr>
          <a:xfrm>
            <a:off x="731520" y="2743200"/>
            <a:ext cx="822730" cy="1097280"/>
          </a:xfrm>
          <a:prstGeom prst="rect">
            <a:avLst/>
          </a:prstGeom>
        </p:spPr>
      </p:pic>
      <p:sp>
        <p:nvSpPr>
          <p:cNvPr id="9" name="TextBox 8"/>
          <p:cNvSpPr txBox="1"/>
          <p:nvPr/>
        </p:nvSpPr>
        <p:spPr>
          <a:xfrm>
            <a:off x="2011680" y="2788920"/>
            <a:ext cx="9509760" cy="822960"/>
          </a:xfrm>
          <a:prstGeom prst="rect">
            <a:avLst/>
          </a:prstGeom>
          <a:noFill/>
        </p:spPr>
        <p:txBody>
          <a:bodyPr wrap="square" lIns="0" rIns="0" tIns="0" bIns="0" anchor="t">
            <a:spAutoFit/>
          </a:bodyPr>
          <a:lstStyle/>
          <a:p>
            <a:pPr algn="l">
              <a:lnSpc>
                <a:spcPct val="125000"/>
              </a:lnSpc>
            </a:pPr>
            <a:r>
              <a:rPr sz="1700" b="0" i="1">
                <a:solidFill>
                  <a:srgbClr val="10101A"/>
                </a:solidFill>
                <a:latin typeface="Helvetica Neue"/>
              </a:rPr>
              <a:t>Sie zahlen nichts, bis die erste qualifizierte Anfrage über EINS in Ihrem Portal liegt. Kommt in 90 Tagen keine, endet die Zusammenarbeit, und Sie haben nichts bezahlt.</a:t>
            </a:r>
          </a:p>
        </p:txBody>
      </p:sp>
      <p:sp>
        <p:nvSpPr>
          <p:cNvPr id="10" name="TextBox 9"/>
          <p:cNvSpPr txBox="1"/>
          <p:nvPr/>
        </p:nvSpPr>
        <p:spPr>
          <a:xfrm>
            <a:off x="2011680" y="3611880"/>
            <a:ext cx="950976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Karam Issa · Gründer, EINS</a:t>
            </a:r>
          </a:p>
        </p:txBody>
      </p:sp>
      <p:sp>
        <p:nvSpPr>
          <p:cNvPr id="11" name="Rounded Rectangle 10"/>
          <p:cNvSpPr/>
          <p:nvPr/>
        </p:nvSpPr>
        <p:spPr>
          <a:xfrm>
            <a:off x="457200" y="4114800"/>
            <a:ext cx="2697480" cy="201168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279392"/>
            <a:ext cx="457200" cy="274320"/>
          </a:xfrm>
          <a:prstGeom prst="rect">
            <a:avLst/>
          </a:prstGeom>
          <a:noFill/>
        </p:spPr>
        <p:txBody>
          <a:bodyPr wrap="square" lIns="0" rIns="0" tIns="0" bIns="0" anchor="t">
            <a:spAutoFit/>
          </a:bodyPr>
          <a:lstStyle/>
          <a:p>
            <a:pPr algn="l">
              <a:lnSpc>
                <a:spcPct val="115000"/>
              </a:lnSpc>
            </a:pPr>
            <a:r>
              <a:rPr sz="1100" b="1" i="0">
                <a:solidFill>
                  <a:srgbClr val="58BAB5"/>
                </a:solidFill>
                <a:latin typeface="Consolas"/>
              </a:rPr>
              <a:t>01</a:t>
            </a:r>
          </a:p>
        </p:txBody>
      </p:sp>
      <p:sp>
        <p:nvSpPr>
          <p:cNvPr id="13" name="TextBox 12"/>
          <p:cNvSpPr txBox="1"/>
          <p:nvPr/>
        </p:nvSpPr>
        <p:spPr>
          <a:xfrm>
            <a:off x="1097280" y="4251960"/>
            <a:ext cx="1920240" cy="292608"/>
          </a:xfrm>
          <a:prstGeom prst="rect">
            <a:avLst/>
          </a:prstGeom>
          <a:noFill/>
        </p:spPr>
        <p:txBody>
          <a:bodyPr wrap="square" lIns="0" rIns="0" tIns="0" bIns="0" anchor="t">
            <a:spAutoFit/>
          </a:bodyPr>
          <a:lstStyle/>
          <a:p>
            <a:pPr algn="l">
              <a:lnSpc>
                <a:spcPct val="115000"/>
              </a:lnSpc>
            </a:pPr>
            <a:r>
              <a:rPr sz="1300" b="1" i="0">
                <a:solidFill>
                  <a:srgbClr val="10101A"/>
                </a:solidFill>
                <a:latin typeface="Helvetica Neue"/>
              </a:rPr>
              <a:t>Was zählt</a:t>
            </a:r>
          </a:p>
        </p:txBody>
      </p:sp>
      <p:sp>
        <p:nvSpPr>
          <p:cNvPr id="14" name="TextBox 13"/>
          <p:cNvSpPr txBox="1"/>
          <p:nvPr/>
        </p:nvSpPr>
        <p:spPr>
          <a:xfrm>
            <a:off x="640080" y="4617720"/>
            <a:ext cx="2331720" cy="1463040"/>
          </a:xfrm>
          <a:prstGeom prst="rect">
            <a:avLst/>
          </a:prstGeom>
          <a:noFill/>
        </p:spPr>
        <p:txBody>
          <a:bodyPr wrap="square" lIns="0" rIns="0" tIns="0" bIns="0" anchor="t">
            <a:spAutoFit/>
          </a:bodyPr>
          <a:lstStyle/>
          <a:p>
            <a:pPr algn="l">
              <a:lnSpc>
                <a:spcPct val="115000"/>
              </a:lnSpc>
            </a:pPr>
            <a:r>
              <a:rPr sz="1000" b="0" i="0">
                <a:solidFill>
                  <a:srgbClr val="10101A"/>
                </a:solidFill>
                <a:latin typeface="Inter"/>
              </a:rPr>
              <a:t>Als erste qualifizierte Anfrage über EINS zählt: Formular auf einer EINS-Zielseite, Anruf auf einer EINS-Tracking-Nummer oder Buchung über den EINS-Buchungslink. Eine echte Person fragt nach einer Behandlung Ihrer Praxis und hinterlässt Telefon oder E-Mail.</a:t>
            </a:r>
          </a:p>
        </p:txBody>
      </p:sp>
      <p:sp>
        <p:nvSpPr>
          <p:cNvPr id="15" name="Rounded Rectangle 14"/>
          <p:cNvSpPr/>
          <p:nvPr/>
        </p:nvSpPr>
        <p:spPr>
          <a:xfrm>
            <a:off x="3337560" y="4114800"/>
            <a:ext cx="2697480" cy="201168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4279392"/>
            <a:ext cx="457200" cy="274320"/>
          </a:xfrm>
          <a:prstGeom prst="rect">
            <a:avLst/>
          </a:prstGeom>
          <a:noFill/>
        </p:spPr>
        <p:txBody>
          <a:bodyPr wrap="square" lIns="0" rIns="0" tIns="0" bIns="0" anchor="t">
            <a:spAutoFit/>
          </a:bodyPr>
          <a:lstStyle/>
          <a:p>
            <a:pPr algn="l">
              <a:lnSpc>
                <a:spcPct val="115000"/>
              </a:lnSpc>
            </a:pPr>
            <a:r>
              <a:rPr sz="1100" b="1" i="0">
                <a:solidFill>
                  <a:srgbClr val="58BAB5"/>
                </a:solidFill>
                <a:latin typeface="Consolas"/>
              </a:rPr>
              <a:t>02</a:t>
            </a:r>
          </a:p>
        </p:txBody>
      </p:sp>
      <p:sp>
        <p:nvSpPr>
          <p:cNvPr id="17" name="TextBox 16"/>
          <p:cNvSpPr txBox="1"/>
          <p:nvPr/>
        </p:nvSpPr>
        <p:spPr>
          <a:xfrm>
            <a:off x="3977640" y="4251960"/>
            <a:ext cx="1920240" cy="292608"/>
          </a:xfrm>
          <a:prstGeom prst="rect">
            <a:avLst/>
          </a:prstGeom>
          <a:noFill/>
        </p:spPr>
        <p:txBody>
          <a:bodyPr wrap="square" lIns="0" rIns="0" tIns="0" bIns="0" anchor="t">
            <a:spAutoFit/>
          </a:bodyPr>
          <a:lstStyle/>
          <a:p>
            <a:pPr algn="l">
              <a:lnSpc>
                <a:spcPct val="115000"/>
              </a:lnSpc>
            </a:pPr>
            <a:r>
              <a:rPr sz="1300" b="1" i="0">
                <a:solidFill>
                  <a:srgbClr val="10101A"/>
                </a:solidFill>
                <a:latin typeface="Helvetica Neue"/>
              </a:rPr>
              <a:t>Die Frist</a:t>
            </a:r>
          </a:p>
        </p:txBody>
      </p:sp>
      <p:sp>
        <p:nvSpPr>
          <p:cNvPr id="18" name="TextBox 17"/>
          <p:cNvSpPr txBox="1"/>
          <p:nvPr/>
        </p:nvSpPr>
        <p:spPr>
          <a:xfrm>
            <a:off x="3520440" y="4617720"/>
            <a:ext cx="2331720" cy="1463040"/>
          </a:xfrm>
          <a:prstGeom prst="rect">
            <a:avLst/>
          </a:prstGeom>
          <a:noFill/>
        </p:spPr>
        <p:txBody>
          <a:bodyPr wrap="square" lIns="0" rIns="0" tIns="0" bIns="0" anchor="t">
            <a:spAutoFit/>
          </a:bodyPr>
          <a:lstStyle/>
          <a:p>
            <a:pPr algn="l">
              <a:lnSpc>
                <a:spcPct val="115000"/>
              </a:lnSpc>
            </a:pPr>
            <a:r>
              <a:rPr sz="1000" b="0" i="0">
                <a:solidFill>
                  <a:srgbClr val="10101A"/>
                </a:solidFill>
                <a:latin typeface="Inter"/>
              </a:rPr>
              <a:t>90 Kalendertage ab dem Tag der Unterschrift für die erste qualifizierte Anfrage über EINS. Jeder Tag, an dem Sie mit einer Mitwirkung in Verzug sind, verlängert die 90 Tage um einen Tag. Wir teilen jeden Verzug per E-Mail mit.</a:t>
            </a:r>
          </a:p>
        </p:txBody>
      </p:sp>
      <p:sp>
        <p:nvSpPr>
          <p:cNvPr id="19" name="Rounded Rectangle 18"/>
          <p:cNvSpPr/>
          <p:nvPr/>
        </p:nvSpPr>
        <p:spPr>
          <a:xfrm>
            <a:off x="6217920" y="4114800"/>
            <a:ext cx="2697480" cy="201168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279392"/>
            <a:ext cx="457200" cy="274320"/>
          </a:xfrm>
          <a:prstGeom prst="rect">
            <a:avLst/>
          </a:prstGeom>
          <a:noFill/>
        </p:spPr>
        <p:txBody>
          <a:bodyPr wrap="square" lIns="0" rIns="0" tIns="0" bIns="0" anchor="t">
            <a:spAutoFit/>
          </a:bodyPr>
          <a:lstStyle/>
          <a:p>
            <a:pPr algn="l">
              <a:lnSpc>
                <a:spcPct val="115000"/>
              </a:lnSpc>
            </a:pPr>
            <a:r>
              <a:rPr sz="1100" b="1" i="0">
                <a:solidFill>
                  <a:srgbClr val="58BAB5"/>
                </a:solidFill>
                <a:latin typeface="Consolas"/>
              </a:rPr>
              <a:t>03</a:t>
            </a:r>
          </a:p>
        </p:txBody>
      </p:sp>
      <p:sp>
        <p:nvSpPr>
          <p:cNvPr id="21" name="TextBox 20"/>
          <p:cNvSpPr txBox="1"/>
          <p:nvPr/>
        </p:nvSpPr>
        <p:spPr>
          <a:xfrm>
            <a:off x="6858000" y="4251960"/>
            <a:ext cx="1920240" cy="292608"/>
          </a:xfrm>
          <a:prstGeom prst="rect">
            <a:avLst/>
          </a:prstGeom>
          <a:noFill/>
        </p:spPr>
        <p:txBody>
          <a:bodyPr wrap="square" lIns="0" rIns="0" tIns="0" bIns="0" anchor="t">
            <a:spAutoFit/>
          </a:bodyPr>
          <a:lstStyle/>
          <a:p>
            <a:pPr algn="l">
              <a:lnSpc>
                <a:spcPct val="115000"/>
              </a:lnSpc>
            </a:pPr>
            <a:r>
              <a:rPr sz="1300" b="1" i="0">
                <a:solidFill>
                  <a:srgbClr val="10101A"/>
                </a:solidFill>
                <a:latin typeface="Helvetica Neue"/>
              </a:rPr>
              <a:t>Ihre Mitwirkung</a:t>
            </a:r>
          </a:p>
        </p:txBody>
      </p:sp>
      <p:sp>
        <p:nvSpPr>
          <p:cNvPr id="22" name="TextBox 21"/>
          <p:cNvSpPr txBox="1"/>
          <p:nvPr/>
        </p:nvSpPr>
        <p:spPr>
          <a:xfrm>
            <a:off x="6400800" y="4617720"/>
            <a:ext cx="2331720" cy="1463040"/>
          </a:xfrm>
          <a:prstGeom prst="rect">
            <a:avLst/>
          </a:prstGeom>
          <a:noFill/>
        </p:spPr>
        <p:txBody>
          <a:bodyPr wrap="square" lIns="0" rIns="0" tIns="0" bIns="0" anchor="t">
            <a:spAutoFit/>
          </a:bodyPr>
          <a:lstStyle/>
          <a:p>
            <a:pPr algn="l">
              <a:lnSpc>
                <a:spcPct val="115000"/>
              </a:lnSpc>
            </a:pPr>
            <a:r>
              <a:rPr sz="1000" b="0" i="0">
                <a:solidFill>
                  <a:srgbClr val="10101A"/>
                </a:solidFill>
                <a:latin typeface="Inter"/>
              </a:rPr>
              <a:t>Innerhalb von 3 Werktagen nach Unterschrift: Klon-Aufnahme, Einwilligung, Zugänge. Beiträge innerhalb von 2 Werktagen freigeben oder konkret ändern. Profil-Link und Tracking-Nummer bleiben.</a:t>
            </a:r>
          </a:p>
        </p:txBody>
      </p:sp>
      <p:sp>
        <p:nvSpPr>
          <p:cNvPr id="23" name="Rounded Rectangle 22"/>
          <p:cNvSpPr/>
          <p:nvPr/>
        </p:nvSpPr>
        <p:spPr>
          <a:xfrm>
            <a:off x="9098280" y="4114800"/>
            <a:ext cx="2697480" cy="201168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81160" y="4279392"/>
            <a:ext cx="457200" cy="274320"/>
          </a:xfrm>
          <a:prstGeom prst="rect">
            <a:avLst/>
          </a:prstGeom>
          <a:noFill/>
        </p:spPr>
        <p:txBody>
          <a:bodyPr wrap="square" lIns="0" rIns="0" tIns="0" bIns="0" anchor="t">
            <a:spAutoFit/>
          </a:bodyPr>
          <a:lstStyle/>
          <a:p>
            <a:pPr algn="l">
              <a:lnSpc>
                <a:spcPct val="115000"/>
              </a:lnSpc>
            </a:pPr>
            <a:r>
              <a:rPr sz="1100" b="1" i="0">
                <a:solidFill>
                  <a:srgbClr val="58BAB5"/>
                </a:solidFill>
                <a:latin typeface="Consolas"/>
              </a:rPr>
              <a:t>04</a:t>
            </a:r>
          </a:p>
        </p:txBody>
      </p:sp>
      <p:sp>
        <p:nvSpPr>
          <p:cNvPr id="25" name="TextBox 24"/>
          <p:cNvSpPr txBox="1"/>
          <p:nvPr/>
        </p:nvSpPr>
        <p:spPr>
          <a:xfrm>
            <a:off x="9738360" y="4251960"/>
            <a:ext cx="1920240" cy="292608"/>
          </a:xfrm>
          <a:prstGeom prst="rect">
            <a:avLst/>
          </a:prstGeom>
          <a:noFill/>
        </p:spPr>
        <p:txBody>
          <a:bodyPr wrap="square" lIns="0" rIns="0" tIns="0" bIns="0" anchor="t">
            <a:spAutoFit/>
          </a:bodyPr>
          <a:lstStyle/>
          <a:p>
            <a:pPr algn="l">
              <a:lnSpc>
                <a:spcPct val="115000"/>
              </a:lnSpc>
            </a:pPr>
            <a:r>
              <a:rPr sz="1300" b="1" i="0">
                <a:solidFill>
                  <a:srgbClr val="10101A"/>
                </a:solidFill>
                <a:latin typeface="Helvetica Neue"/>
              </a:rPr>
              <a:t>Beenden ohne Kosten</a:t>
            </a:r>
          </a:p>
        </p:txBody>
      </p:sp>
      <p:sp>
        <p:nvSpPr>
          <p:cNvPr id="26" name="TextBox 25"/>
          <p:cNvSpPr txBox="1"/>
          <p:nvPr/>
        </p:nvSpPr>
        <p:spPr>
          <a:xfrm>
            <a:off x="9281160" y="4617720"/>
            <a:ext cx="2331720" cy="1463040"/>
          </a:xfrm>
          <a:prstGeom prst="rect">
            <a:avLst/>
          </a:prstGeom>
          <a:noFill/>
        </p:spPr>
        <p:txBody>
          <a:bodyPr wrap="square" lIns="0" rIns="0" tIns="0" bIns="0" anchor="t">
            <a:spAutoFit/>
          </a:bodyPr>
          <a:lstStyle/>
          <a:p>
            <a:pPr algn="l">
              <a:lnSpc>
                <a:spcPct val="115000"/>
              </a:lnSpc>
            </a:pPr>
            <a:r>
              <a:rPr sz="1000" b="0" i="0">
                <a:solidFill>
                  <a:srgbClr val="10101A"/>
                </a:solidFill>
                <a:latin typeface="Inter"/>
              </a:rPr>
              <a:t>Bis zur ersten Rechnung beenden Sie jederzeit per E-Mail, ohne Begründung und ohne Kosten. Ab der ersten Rechnung: 1.900 € netto im Monat, monatlich kündbar.</a:t>
            </a:r>
          </a:p>
        </p:txBody>
      </p:sp>
      <p:sp>
        <p:nvSpPr>
          <p:cNvPr id="27" name="TextBox 26"/>
          <p:cNvSpPr txBox="1"/>
          <p:nvPr/>
        </p:nvSpPr>
        <p:spPr>
          <a:xfrm>
            <a:off x="457200" y="6217920"/>
            <a:ext cx="1133856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Nicht garantiert: Aufrufe, Follower, Reichweite, Anzahl der Beiträge, Umsatz, Werbeertrag, gebuchte Beratungen.</a:t>
            </a:r>
          </a:p>
        </p:txBody>
      </p:sp>
      <p:sp>
        <p:nvSpPr>
          <p:cNvPr id="28" name="TextBox 27"/>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EINS · Strategievorschlag</a:t>
            </a:r>
          </a:p>
        </p:txBody>
      </p:sp>
      <p:sp>
        <p:nvSpPr>
          <p:cNvPr id="29" name="TextBox 28"/>
          <p:cNvSpPr txBox="1"/>
          <p:nvPr/>
        </p:nvSpPr>
        <p:spPr>
          <a:xfrm>
            <a:off x="6400800" y="6492240"/>
            <a:ext cx="5486400" cy="274320"/>
          </a:xfrm>
          <a:prstGeom prst="rect">
            <a:avLst/>
          </a:prstGeom>
          <a:noFill/>
        </p:spPr>
        <p:txBody>
          <a:bodyPr wrap="square" lIns="0" rIns="0" tIns="0" bIns="0" anchor="t">
            <a:spAutoFit/>
          </a:bodyPr>
          <a:lstStyle/>
          <a:p>
            <a:pPr algn="r">
              <a:lnSpc>
                <a:spcPct val="115000"/>
              </a:lnSpc>
            </a:pPr>
            <a:r>
              <a:rPr sz="1000" b="0" i="0">
                <a:solidFill>
                  <a:srgbClr val="6A6A74"/>
                </a:solidFill>
                <a:latin typeface="Consolas"/>
              </a:rPr>
              <a:t>//12</a:t>
            </a:r>
          </a:p>
        </p:txBody>
      </p:sp>
    </p:spTree>
  </p:cSld>
  <p:clrMapOvr>
    <a:masterClrMapping/>
  </p:clrMapOvr>
  <p:transition xmlns:p14="http://schemas.microsoft.com/office/powerpoint/2010/main" spd="med" p14:dur="400">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Oval 3"/>
          <p:cNvSpPr/>
          <p:nvPr/>
        </p:nvSpPr>
        <p:spPr>
          <a:xfrm>
            <a:off x="457200" y="140817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Material und Klon</a:t>
            </a:r>
          </a:p>
        </p:txBody>
      </p:sp>
      <p:sp>
        <p:nvSpPr>
          <p:cNvPr id="6" name="TextBox 5"/>
          <p:cNvSpPr txBox="1"/>
          <p:nvPr/>
        </p:nvSpPr>
        <p:spPr>
          <a:xfrm>
            <a:off x="457200" y="1783080"/>
            <a:ext cx="10972800" cy="1371600"/>
          </a:xfrm>
          <a:prstGeom prst="rect">
            <a:avLst/>
          </a:prstGeom>
          <a:noFill/>
        </p:spPr>
        <p:txBody>
          <a:bodyPr wrap="square" lIns="0" rIns="0" tIns="0" bIns="0" anchor="t">
            <a:spAutoFit/>
          </a:bodyPr>
          <a:lstStyle/>
          <a:p>
            <a:pPr algn="l">
              <a:lnSpc>
                <a:spcPct val="100000"/>
              </a:lnSpc>
            </a:pPr>
            <a:r>
              <a:rPr sz="4600" b="1" i="0">
                <a:solidFill>
                  <a:srgbClr val="10101A"/>
                </a:solidFill>
                <a:latin typeface="Helvetica Neue"/>
              </a:rPr>
              <a:t>Das Material und Ihr Klon</a:t>
            </a:r>
          </a:p>
        </p:txBody>
      </p:sp>
      <p:sp>
        <p:nvSpPr>
          <p:cNvPr id="7" name="TextBox 6"/>
          <p:cNvSpPr txBox="1"/>
          <p:nvPr/>
        </p:nvSpPr>
        <p:spPr>
          <a:xfrm>
            <a:off x="457200" y="2423160"/>
            <a:ext cx="10972800" cy="640080"/>
          </a:xfrm>
          <a:prstGeom prst="rect">
            <a:avLst/>
          </a:prstGeom>
          <a:noFill/>
        </p:spPr>
        <p:txBody>
          <a:bodyPr wrap="square" lIns="0" rIns="0" tIns="0" bIns="0" anchor="t">
            <a:spAutoFit/>
          </a:bodyPr>
          <a:lstStyle/>
          <a:p>
            <a:pPr algn="l">
              <a:lnSpc>
                <a:spcPct val="100000"/>
              </a:lnSpc>
            </a:pPr>
            <a:r>
              <a:rPr sz="4600" b="0" i="0">
                <a:solidFill>
                  <a:srgbClr val="58BAB5"/>
                </a:solidFill>
                <a:latin typeface="Helvetica Neue"/>
              </a:rPr>
              <a:t>gehören Ihnen.</a:t>
            </a:r>
          </a:p>
        </p:txBody>
      </p:sp>
      <p:sp>
        <p:nvSpPr>
          <p:cNvPr id="8" name="Rounded Rectangle 7"/>
          <p:cNvSpPr/>
          <p:nvPr/>
        </p:nvSpPr>
        <p:spPr>
          <a:xfrm>
            <a:off x="457200" y="3291840"/>
            <a:ext cx="11338560" cy="2606040"/>
          </a:xfrm>
          <a:prstGeom prst="roundRect">
            <a:avLst>
              <a:gd name="adj" fmla="val 4000"/>
            </a:avLst>
          </a:prstGeom>
          <a:solidFill>
            <a:srgbClr val="E7F6F5"/>
          </a:solidFill>
          <a:ln w="9525">
            <a:solidFill>
              <a:srgbClr val="58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75304"/>
            <a:ext cx="548640" cy="274320"/>
          </a:xfrm>
          <a:prstGeom prst="rect">
            <a:avLst/>
          </a:prstGeom>
          <a:noFill/>
        </p:spPr>
        <p:txBody>
          <a:bodyPr wrap="square" lIns="0" rIns="0" tIns="0" bIns="0" anchor="t">
            <a:spAutoFit/>
          </a:bodyPr>
          <a:lstStyle/>
          <a:p>
            <a:pPr algn="l">
              <a:lnSpc>
                <a:spcPct val="115000"/>
              </a:lnSpc>
            </a:pPr>
            <a:r>
              <a:rPr sz="1100" b="1" i="0">
                <a:solidFill>
                  <a:srgbClr val="58BAB5"/>
                </a:solidFill>
                <a:latin typeface="Consolas"/>
              </a:rPr>
              <a:t>01</a:t>
            </a:r>
          </a:p>
        </p:txBody>
      </p:sp>
      <p:sp>
        <p:nvSpPr>
          <p:cNvPr id="10" name="TextBox 9"/>
          <p:cNvSpPr txBox="1"/>
          <p:nvPr/>
        </p:nvSpPr>
        <p:spPr>
          <a:xfrm>
            <a:off x="1280160" y="3520440"/>
            <a:ext cx="4754880" cy="365760"/>
          </a:xfrm>
          <a:prstGeom prst="rect">
            <a:avLst/>
          </a:prstGeom>
          <a:noFill/>
        </p:spPr>
        <p:txBody>
          <a:bodyPr wrap="square" lIns="0" rIns="0" tIns="0" bIns="0" anchor="t">
            <a:spAutoFit/>
          </a:bodyPr>
          <a:lstStyle/>
          <a:p>
            <a:pPr algn="l">
              <a:lnSpc>
                <a:spcPct val="115000"/>
              </a:lnSpc>
            </a:pPr>
            <a:r>
              <a:rPr sz="2000" b="1" i="0">
                <a:solidFill>
                  <a:srgbClr val="10101A"/>
                </a:solidFill>
                <a:latin typeface="Helvetica Neue"/>
              </a:rPr>
              <a:t>Das Material gehört Ihnen.</a:t>
            </a:r>
          </a:p>
        </p:txBody>
      </p:sp>
      <p:sp>
        <p:nvSpPr>
          <p:cNvPr id="11" name="TextBox 10"/>
          <p:cNvSpPr txBox="1"/>
          <p:nvPr/>
        </p:nvSpPr>
        <p:spPr>
          <a:xfrm>
            <a:off x="1280160" y="3977640"/>
            <a:ext cx="4754880" cy="1005840"/>
          </a:xfrm>
          <a:prstGeom prst="rect">
            <a:avLst/>
          </a:prstGeom>
          <a:noFill/>
        </p:spPr>
        <p:txBody>
          <a:bodyPr wrap="square" lIns="0" rIns="0" tIns="0" bIns="0" anchor="t">
            <a:spAutoFit/>
          </a:bodyPr>
          <a:lstStyle/>
          <a:p>
            <a:pPr algn="l">
              <a:lnSpc>
                <a:spcPct val="125000"/>
              </a:lnSpc>
            </a:pPr>
            <a:r>
              <a:rPr sz="1300" b="0" i="0">
                <a:solidFill>
                  <a:srgbClr val="10101A"/>
                </a:solidFill>
                <a:latin typeface="Inter"/>
              </a:rPr>
              <a:t>Sobald die erste Rechnung bezahlt ist, dürfen Sie alles, was für Ihre Praxis entstanden ist, dauerhaft nutzen und bearbeiten, auch nach einer Kündigung und mit einer anderen Agentur.</a:t>
            </a:r>
          </a:p>
        </p:txBody>
      </p:sp>
      <p:sp>
        <p:nvSpPr>
          <p:cNvPr id="12" name="TextBox 11"/>
          <p:cNvSpPr txBox="1"/>
          <p:nvPr/>
        </p:nvSpPr>
        <p:spPr>
          <a:xfrm>
            <a:off x="1280160" y="5120640"/>
            <a:ext cx="4754880" cy="685800"/>
          </a:xfrm>
          <a:prstGeom prst="rect">
            <a:avLst/>
          </a:prstGeom>
          <a:noFill/>
        </p:spPr>
        <p:txBody>
          <a:bodyPr wrap="square" lIns="0" rIns="0" tIns="0" bIns="0" anchor="t">
            <a:spAutoFit/>
          </a:bodyPr>
          <a:lstStyle/>
          <a:p>
            <a:pPr algn="l">
              <a:lnSpc>
                <a:spcPct val="130000"/>
              </a:lnSpc>
            </a:pPr>
            <a:r>
              <a:rPr sz="1100" b="0" i="0">
                <a:solidFill>
                  <a:srgbClr val="4A4A52"/>
                </a:solidFill>
                <a:latin typeface="Inter"/>
              </a:rPr>
              <a:t>Endet die Zusammenarbeit nach 90 Tagen ohne Anfrage, dürfen bereits veröffentlichte Beiträge auf Ihren Kanälen stehen bleiben. Anfragedaten bekommen Sie bei Vertragsende als Export.</a:t>
            </a:r>
          </a:p>
        </p:txBody>
      </p:sp>
      <p:sp>
        <p:nvSpPr>
          <p:cNvPr id="13" name="TextBox 12"/>
          <p:cNvSpPr txBox="1"/>
          <p:nvPr/>
        </p:nvSpPr>
        <p:spPr>
          <a:xfrm>
            <a:off x="6263640" y="3575304"/>
            <a:ext cx="548640" cy="274320"/>
          </a:xfrm>
          <a:prstGeom prst="rect">
            <a:avLst/>
          </a:prstGeom>
          <a:noFill/>
        </p:spPr>
        <p:txBody>
          <a:bodyPr wrap="square" lIns="0" rIns="0" tIns="0" bIns="0" anchor="t">
            <a:spAutoFit/>
          </a:bodyPr>
          <a:lstStyle/>
          <a:p>
            <a:pPr algn="l">
              <a:lnSpc>
                <a:spcPct val="115000"/>
              </a:lnSpc>
            </a:pPr>
            <a:r>
              <a:rPr sz="1100" b="1" i="0">
                <a:solidFill>
                  <a:srgbClr val="58BAB5"/>
                </a:solidFill>
                <a:latin typeface="Consolas"/>
              </a:rPr>
              <a:t>02</a:t>
            </a:r>
          </a:p>
        </p:txBody>
      </p:sp>
      <p:sp>
        <p:nvSpPr>
          <p:cNvPr id="14" name="TextBox 13"/>
          <p:cNvSpPr txBox="1"/>
          <p:nvPr/>
        </p:nvSpPr>
        <p:spPr>
          <a:xfrm>
            <a:off x="6766560" y="3520440"/>
            <a:ext cx="4754880" cy="365760"/>
          </a:xfrm>
          <a:prstGeom prst="rect">
            <a:avLst/>
          </a:prstGeom>
          <a:noFill/>
        </p:spPr>
        <p:txBody>
          <a:bodyPr wrap="square" lIns="0" rIns="0" tIns="0" bIns="0" anchor="t">
            <a:spAutoFit/>
          </a:bodyPr>
          <a:lstStyle/>
          <a:p>
            <a:pPr algn="l">
              <a:lnSpc>
                <a:spcPct val="115000"/>
              </a:lnSpc>
            </a:pPr>
            <a:r>
              <a:rPr sz="2000" b="1" i="0">
                <a:solidFill>
                  <a:srgbClr val="10101A"/>
                </a:solidFill>
                <a:latin typeface="Helvetica Neue"/>
              </a:rPr>
              <a:t>Ihr KI-Klon gehört Ihnen.</a:t>
            </a:r>
          </a:p>
        </p:txBody>
      </p:sp>
      <p:sp>
        <p:nvSpPr>
          <p:cNvPr id="15" name="TextBox 14"/>
          <p:cNvSpPr txBox="1"/>
          <p:nvPr/>
        </p:nvSpPr>
        <p:spPr>
          <a:xfrm>
            <a:off x="6766560" y="3977640"/>
            <a:ext cx="4754880" cy="1005840"/>
          </a:xfrm>
          <a:prstGeom prst="rect">
            <a:avLst/>
          </a:prstGeom>
          <a:noFill/>
        </p:spPr>
        <p:txBody>
          <a:bodyPr wrap="square" lIns="0" rIns="0" tIns="0" bIns="0" anchor="t">
            <a:spAutoFit/>
          </a:bodyPr>
          <a:lstStyle/>
          <a:p>
            <a:pPr algn="l">
              <a:lnSpc>
                <a:spcPct val="125000"/>
              </a:lnSpc>
            </a:pPr>
            <a:r>
              <a:rPr sz="1300" b="0" i="0">
                <a:solidFill>
                  <a:srgbClr val="10101A"/>
                </a:solidFill>
                <a:latin typeface="Inter"/>
              </a:rPr>
              <a:t>Wir nutzen Ihr Gesicht und Ihre Stimme nur für Ihre Praxis, nie für eigene Werbung ohne Ihre gesonderte schriftliche Einwilligung, und löschen das Klon-Modell spätestens 30 Tage nach Vertragsende.</a:t>
            </a:r>
          </a:p>
        </p:txBody>
      </p:sp>
      <p:sp>
        <p:nvSpPr>
          <p:cNvPr id="16" name="TextBox 15"/>
          <p:cNvSpPr txBox="1"/>
          <p:nvPr/>
        </p:nvSpPr>
        <p:spPr>
          <a:xfrm>
            <a:off x="6766560" y="5120640"/>
            <a:ext cx="4754880" cy="685800"/>
          </a:xfrm>
          <a:prstGeom prst="rect">
            <a:avLst/>
          </a:prstGeom>
          <a:noFill/>
        </p:spPr>
        <p:txBody>
          <a:bodyPr wrap="square" lIns="0" rIns="0" tIns="0" bIns="0" anchor="t">
            <a:spAutoFit/>
          </a:bodyPr>
          <a:lstStyle/>
          <a:p>
            <a:pPr algn="l">
              <a:lnSpc>
                <a:spcPct val="130000"/>
              </a:lnSpc>
            </a:pPr>
            <a:r>
              <a:rPr sz="1100" b="0" i="0">
                <a:solidFill>
                  <a:srgbClr val="4A4A52"/>
                </a:solidFill>
                <a:latin typeface="Inter"/>
              </a:rPr>
              <a:t>Widerrufen Sie Ihre Einwilligung, stoppen wir sofort alle Beiträge mit dem Klon und löschen das Modell. Jeder Beitrag ist als KI-generiert gekennzeichnet und geht erst nach Ihrer Freigabe raus.</a:t>
            </a:r>
          </a:p>
        </p:txBody>
      </p:sp>
      <p:sp>
        <p:nvSpPr>
          <p:cNvPr id="17" name="TextBox 16"/>
          <p:cNvSpPr txBox="1"/>
          <p:nvPr/>
        </p:nvSpPr>
        <p:spPr>
          <a:xfrm>
            <a:off x="457200" y="6035040"/>
            <a:ext cx="1133856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Nicht dabei: Vorlagen, Prompts und Werkzeuge von EINS, die Software (Portal, CRM, KI-Scoring, Zielseiten-Technik) und Werbekonten.</a:t>
            </a:r>
          </a:p>
        </p:txBody>
      </p:sp>
      <p:sp>
        <p:nvSpPr>
          <p:cNvPr id="18" name="TextBox 17"/>
          <p:cNvSpPr txBox="1"/>
          <p:nvPr/>
        </p:nvSpPr>
        <p:spPr>
          <a:xfrm>
            <a:off x="457200" y="6245352"/>
            <a:ext cx="1133856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Vertraglich geregelt in § 9 des Hauptvertrags und in der Einwilligung zu KI-Abbild und Stimme.</a:t>
            </a:r>
          </a:p>
        </p:txBody>
      </p:sp>
      <p:sp>
        <p:nvSpPr>
          <p:cNvPr id="19" name="TextBox 18"/>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EINS · Strategievorschlag</a:t>
            </a:r>
          </a:p>
        </p:txBody>
      </p:sp>
      <p:sp>
        <p:nvSpPr>
          <p:cNvPr id="20" name="TextBox 19"/>
          <p:cNvSpPr txBox="1"/>
          <p:nvPr/>
        </p:nvSpPr>
        <p:spPr>
          <a:xfrm>
            <a:off x="6400800" y="6492240"/>
            <a:ext cx="5486400" cy="274320"/>
          </a:xfrm>
          <a:prstGeom prst="rect">
            <a:avLst/>
          </a:prstGeom>
          <a:noFill/>
        </p:spPr>
        <p:txBody>
          <a:bodyPr wrap="square" lIns="0" rIns="0" tIns="0" bIns="0" anchor="t">
            <a:spAutoFit/>
          </a:bodyPr>
          <a:lstStyle/>
          <a:p>
            <a:pPr algn="r">
              <a:lnSpc>
                <a:spcPct val="115000"/>
              </a:lnSpc>
            </a:pPr>
            <a:r>
              <a:rPr sz="1000" b="0" i="0">
                <a:solidFill>
                  <a:srgbClr val="6A6A74"/>
                </a:solidFill>
                <a:latin typeface="Consolas"/>
              </a:rPr>
              <a:t>//13</a:t>
            </a:r>
          </a:p>
        </p:txBody>
      </p:sp>
    </p:spTree>
  </p:cSld>
  <p:clrMapOvr>
    <a:masterClrMapping/>
  </p:clrMapOvr>
  <p:transition xmlns:p14="http://schemas.microsoft.com/office/powerpoint/2010/main" spd="med" p14:dur="400">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Oval 3"/>
          <p:cNvSpPr/>
          <p:nvPr/>
        </p:nvSpPr>
        <p:spPr>
          <a:xfrm>
            <a:off x="457200" y="140817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Investition</a:t>
            </a:r>
          </a:p>
        </p:txBody>
      </p:sp>
      <p:sp>
        <p:nvSpPr>
          <p:cNvPr id="6" name="TextBox 5"/>
          <p:cNvSpPr txBox="1"/>
          <p:nvPr/>
        </p:nvSpPr>
        <p:spPr>
          <a:xfrm>
            <a:off x="457200" y="1783080"/>
            <a:ext cx="10972800" cy="822960"/>
          </a:xfrm>
          <a:prstGeom prst="rect">
            <a:avLst/>
          </a:prstGeom>
          <a:noFill/>
        </p:spPr>
        <p:txBody>
          <a:bodyPr wrap="square" lIns="0" rIns="0" tIns="0" bIns="0" anchor="t">
            <a:spAutoFit/>
          </a:bodyPr>
          <a:lstStyle/>
          <a:p>
            <a:pPr algn="l">
              <a:lnSpc>
                <a:spcPct val="100000"/>
              </a:lnSpc>
            </a:pPr>
            <a:r>
              <a:rPr sz="4200" b="1" i="0">
                <a:solidFill>
                  <a:srgbClr val="10101A"/>
                </a:solidFill>
                <a:latin typeface="Helvetica Neue"/>
              </a:rPr>
              <a:t>Ein Paket. Ein Preis.</a:t>
            </a:r>
          </a:p>
        </p:txBody>
      </p:sp>
      <p:sp>
        <p:nvSpPr>
          <p:cNvPr id="7" name="Rounded Rectangle 6"/>
          <p:cNvSpPr/>
          <p:nvPr/>
        </p:nvSpPr>
        <p:spPr>
          <a:xfrm>
            <a:off x="457200" y="2743200"/>
            <a:ext cx="5029200" cy="3520440"/>
          </a:xfrm>
          <a:prstGeom prst="roundRect">
            <a:avLst>
              <a:gd name="adj" fmla="val 4000"/>
            </a:avLst>
          </a:prstGeom>
          <a:solidFill>
            <a:srgbClr val="E7F6F5"/>
          </a:solidFill>
          <a:ln w="9525">
            <a:solidFill>
              <a:srgbClr val="58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944368"/>
            <a:ext cx="4480560" cy="274320"/>
          </a:xfrm>
          <a:prstGeom prst="rect">
            <a:avLst/>
          </a:prstGeom>
          <a:noFill/>
        </p:spPr>
        <p:txBody>
          <a:bodyPr wrap="square" lIns="0" rIns="0" tIns="0" bIns="0" anchor="t">
            <a:spAutoFit/>
          </a:bodyPr>
          <a:lstStyle/>
          <a:p>
            <a:pPr algn="l">
              <a:lnSpc>
                <a:spcPct val="115000"/>
              </a:lnSpc>
            </a:pPr>
            <a:r>
              <a:rPr sz="1100" b="0" i="0">
                <a:solidFill>
                  <a:srgbClr val="4A4A52"/>
                </a:solidFill>
                <a:latin typeface="Consolas"/>
              </a:rPr>
              <a:t>Ihr Paket für [PRAXIS_NAME]</a:t>
            </a:r>
          </a:p>
        </p:txBody>
      </p:sp>
      <p:sp>
        <p:nvSpPr>
          <p:cNvPr id="9" name="TextBox 8"/>
          <p:cNvSpPr txBox="1"/>
          <p:nvPr/>
        </p:nvSpPr>
        <p:spPr>
          <a:xfrm>
            <a:off x="731520" y="3246120"/>
            <a:ext cx="2377440" cy="731520"/>
          </a:xfrm>
          <a:prstGeom prst="rect">
            <a:avLst/>
          </a:prstGeom>
          <a:noFill/>
        </p:spPr>
        <p:txBody>
          <a:bodyPr wrap="square" lIns="0" rIns="0" tIns="0" bIns="0" anchor="t">
            <a:spAutoFit/>
          </a:bodyPr>
          <a:lstStyle/>
          <a:p>
            <a:pPr algn="l">
              <a:lnSpc>
                <a:spcPct val="115000"/>
              </a:lnSpc>
            </a:pPr>
            <a:r>
              <a:rPr sz="4400" b="1" i="0">
                <a:solidFill>
                  <a:srgbClr val="10101A"/>
                </a:solidFill>
                <a:latin typeface="Helvetica Neue"/>
              </a:rPr>
              <a:t>1.900 €</a:t>
            </a:r>
          </a:p>
        </p:txBody>
      </p:sp>
      <p:sp>
        <p:nvSpPr>
          <p:cNvPr id="10" name="TextBox 9"/>
          <p:cNvSpPr txBox="1"/>
          <p:nvPr/>
        </p:nvSpPr>
        <p:spPr>
          <a:xfrm>
            <a:off x="3246120" y="3611880"/>
            <a:ext cx="1828800" cy="274320"/>
          </a:xfrm>
          <a:prstGeom prst="rect">
            <a:avLst/>
          </a:prstGeom>
          <a:noFill/>
        </p:spPr>
        <p:txBody>
          <a:bodyPr wrap="square" lIns="0" rIns="0" tIns="0" bIns="0" anchor="t">
            <a:spAutoFit/>
          </a:bodyPr>
          <a:lstStyle/>
          <a:p>
            <a:pPr algn="l">
              <a:lnSpc>
                <a:spcPct val="115000"/>
              </a:lnSpc>
            </a:pPr>
            <a:r>
              <a:rPr sz="1200" b="0" i="0">
                <a:solidFill>
                  <a:srgbClr val="4A4A52"/>
                </a:solidFill>
                <a:latin typeface="Consolas"/>
              </a:rPr>
              <a:t>netto / Monat</a:t>
            </a:r>
          </a:p>
        </p:txBody>
      </p:sp>
      <p:sp>
        <p:nvSpPr>
          <p:cNvPr id="11" name="TextBox 10"/>
          <p:cNvSpPr txBox="1"/>
          <p:nvPr/>
        </p:nvSpPr>
        <p:spPr>
          <a:xfrm>
            <a:off x="731520" y="4023360"/>
            <a:ext cx="4480560" cy="274320"/>
          </a:xfrm>
          <a:prstGeom prst="rect">
            <a:avLst/>
          </a:prstGeom>
          <a:noFill/>
        </p:spPr>
        <p:txBody>
          <a:bodyPr wrap="square" lIns="0" rIns="0" tIns="0" bIns="0" anchor="t">
            <a:spAutoFit/>
          </a:bodyPr>
          <a:lstStyle/>
          <a:p>
            <a:pPr algn="l">
              <a:lnSpc>
                <a:spcPct val="115000"/>
              </a:lnSpc>
            </a:pPr>
            <a:r>
              <a:rPr sz="1000" b="0" i="0">
                <a:solidFill>
                  <a:srgbClr val="4A4A52"/>
                </a:solidFill>
                <a:latin typeface="Consolas"/>
              </a:rPr>
              <a:t>Keine Einrichtungsgebühr · monatlich kündbar</a:t>
            </a:r>
          </a:p>
        </p:txBody>
      </p:sp>
      <p:sp>
        <p:nvSpPr>
          <p:cNvPr id="12" name="TextBox 11"/>
          <p:cNvSpPr txBox="1"/>
          <p:nvPr/>
        </p:nvSpPr>
        <p:spPr>
          <a:xfrm>
            <a:off x="731520" y="4224528"/>
            <a:ext cx="4480560" cy="237744"/>
          </a:xfrm>
          <a:prstGeom prst="rect">
            <a:avLst/>
          </a:prstGeom>
          <a:noFill/>
        </p:spPr>
        <p:txBody>
          <a:bodyPr wrap="square" lIns="0" rIns="0" tIns="0" bIns="0" anchor="t">
            <a:spAutoFit/>
          </a:bodyPr>
          <a:lstStyle/>
          <a:p>
            <a:pPr algn="l">
              <a:lnSpc>
                <a:spcPct val="115000"/>
              </a:lnSpc>
            </a:pPr>
            <a:r>
              <a:rPr sz="1100" b="0" i="0">
                <a:solidFill>
                  <a:srgbClr val="10101A"/>
                </a:solidFill>
                <a:latin typeface="Inter"/>
              </a:rPr>
              <a:t>· KI-Videos mit Ihrem Klon, Erklär-Animationen, Bildmaterial</a:t>
            </a:r>
          </a:p>
        </p:txBody>
      </p:sp>
      <p:sp>
        <p:nvSpPr>
          <p:cNvPr id="13" name="TextBox 12"/>
          <p:cNvSpPr txBox="1"/>
          <p:nvPr/>
        </p:nvSpPr>
        <p:spPr>
          <a:xfrm>
            <a:off x="731520" y="4434840"/>
            <a:ext cx="4480560" cy="237744"/>
          </a:xfrm>
          <a:prstGeom prst="rect">
            <a:avLst/>
          </a:prstGeom>
          <a:noFill/>
        </p:spPr>
        <p:txBody>
          <a:bodyPr wrap="square" lIns="0" rIns="0" tIns="0" bIns="0" anchor="t">
            <a:spAutoFit/>
          </a:bodyPr>
          <a:lstStyle/>
          <a:p>
            <a:pPr algn="l">
              <a:lnSpc>
                <a:spcPct val="115000"/>
              </a:lnSpc>
            </a:pPr>
            <a:r>
              <a:rPr sz="1100" b="0" i="0">
                <a:solidFill>
                  <a:srgbClr val="10101A"/>
                </a:solidFill>
                <a:latin typeface="Inter"/>
              </a:rPr>
              <a:t>· Beiträge organisch auf Ihren Kanälen</a:t>
            </a:r>
          </a:p>
        </p:txBody>
      </p:sp>
      <p:sp>
        <p:nvSpPr>
          <p:cNvPr id="14" name="TextBox 13"/>
          <p:cNvSpPr txBox="1"/>
          <p:nvPr/>
        </p:nvSpPr>
        <p:spPr>
          <a:xfrm>
            <a:off x="731520" y="4645152"/>
            <a:ext cx="4480560" cy="237744"/>
          </a:xfrm>
          <a:prstGeom prst="rect">
            <a:avLst/>
          </a:prstGeom>
          <a:noFill/>
        </p:spPr>
        <p:txBody>
          <a:bodyPr wrap="square" lIns="0" rIns="0" tIns="0" bIns="0" anchor="t">
            <a:spAutoFit/>
          </a:bodyPr>
          <a:lstStyle/>
          <a:p>
            <a:pPr algn="l">
              <a:lnSpc>
                <a:spcPct val="115000"/>
              </a:lnSpc>
            </a:pPr>
            <a:r>
              <a:rPr sz="1100" b="0" i="0">
                <a:solidFill>
                  <a:srgbClr val="10101A"/>
                </a:solidFill>
                <a:latin typeface="Inter"/>
              </a:rPr>
              <a:t>· Betreuung der Anzeigen ist im Preis enthalten</a:t>
            </a:r>
          </a:p>
        </p:txBody>
      </p:sp>
      <p:sp>
        <p:nvSpPr>
          <p:cNvPr id="15" name="TextBox 14"/>
          <p:cNvSpPr txBox="1"/>
          <p:nvPr/>
        </p:nvSpPr>
        <p:spPr>
          <a:xfrm>
            <a:off x="731520" y="4855464"/>
            <a:ext cx="4480560" cy="237744"/>
          </a:xfrm>
          <a:prstGeom prst="rect">
            <a:avLst/>
          </a:prstGeom>
          <a:noFill/>
        </p:spPr>
        <p:txBody>
          <a:bodyPr wrap="square" lIns="0" rIns="0" tIns="0" bIns="0" anchor="t">
            <a:spAutoFit/>
          </a:bodyPr>
          <a:lstStyle/>
          <a:p>
            <a:pPr algn="l">
              <a:lnSpc>
                <a:spcPct val="115000"/>
              </a:lnSpc>
            </a:pPr>
            <a:r>
              <a:rPr sz="1100" b="0" i="0">
                <a:solidFill>
                  <a:srgbClr val="10101A"/>
                </a:solidFill>
                <a:latin typeface="Inter"/>
              </a:rPr>
              <a:t>· Zielseiten, KI-Vorqualifizierung, Weiterleitung</a:t>
            </a:r>
          </a:p>
        </p:txBody>
      </p:sp>
      <p:sp>
        <p:nvSpPr>
          <p:cNvPr id="16" name="TextBox 15"/>
          <p:cNvSpPr txBox="1"/>
          <p:nvPr/>
        </p:nvSpPr>
        <p:spPr>
          <a:xfrm>
            <a:off x="731520" y="5065776"/>
            <a:ext cx="4480560" cy="237744"/>
          </a:xfrm>
          <a:prstGeom prst="rect">
            <a:avLst/>
          </a:prstGeom>
          <a:noFill/>
        </p:spPr>
        <p:txBody>
          <a:bodyPr wrap="square" lIns="0" rIns="0" tIns="0" bIns="0" anchor="t">
            <a:spAutoFit/>
          </a:bodyPr>
          <a:lstStyle/>
          <a:p>
            <a:pPr algn="l">
              <a:lnSpc>
                <a:spcPct val="115000"/>
              </a:lnSpc>
            </a:pPr>
            <a:r>
              <a:rPr sz="1100" b="0" i="0">
                <a:solidFill>
                  <a:srgbClr val="10101A"/>
                </a:solidFill>
                <a:latin typeface="Inter"/>
              </a:rPr>
              <a:t>· Erinnerungen, Nachfassen, Bewertungsanfragen</a:t>
            </a:r>
          </a:p>
        </p:txBody>
      </p:sp>
      <p:sp>
        <p:nvSpPr>
          <p:cNvPr id="17" name="TextBox 16"/>
          <p:cNvSpPr txBox="1"/>
          <p:nvPr/>
        </p:nvSpPr>
        <p:spPr>
          <a:xfrm>
            <a:off x="731520" y="5276088"/>
            <a:ext cx="4480560" cy="237744"/>
          </a:xfrm>
          <a:prstGeom prst="rect">
            <a:avLst/>
          </a:prstGeom>
          <a:noFill/>
        </p:spPr>
        <p:txBody>
          <a:bodyPr wrap="square" lIns="0" rIns="0" tIns="0" bIns="0" anchor="t">
            <a:spAutoFit/>
          </a:bodyPr>
          <a:lstStyle/>
          <a:p>
            <a:pPr algn="l">
              <a:lnSpc>
                <a:spcPct val="115000"/>
              </a:lnSpc>
            </a:pPr>
            <a:r>
              <a:rPr sz="1100" b="0" i="0">
                <a:solidFill>
                  <a:srgbClr val="10101A"/>
                </a:solidFill>
                <a:latin typeface="Inter"/>
              </a:rPr>
              <a:t>· Auswertung bis zu Buchung und Umsatz im Portal</a:t>
            </a:r>
          </a:p>
        </p:txBody>
      </p:sp>
      <p:sp>
        <p:nvSpPr>
          <p:cNvPr id="18" name="TextBox 17"/>
          <p:cNvSpPr txBox="1"/>
          <p:nvPr/>
        </p:nvSpPr>
        <p:spPr>
          <a:xfrm>
            <a:off x="731520" y="5486400"/>
            <a:ext cx="4480560" cy="237744"/>
          </a:xfrm>
          <a:prstGeom prst="rect">
            <a:avLst/>
          </a:prstGeom>
          <a:noFill/>
        </p:spPr>
        <p:txBody>
          <a:bodyPr wrap="square" lIns="0" rIns="0" tIns="0" bIns="0" anchor="t">
            <a:spAutoFit/>
          </a:bodyPr>
          <a:lstStyle/>
          <a:p>
            <a:pPr algn="l">
              <a:lnSpc>
                <a:spcPct val="115000"/>
              </a:lnSpc>
            </a:pPr>
            <a:r>
              <a:rPr sz="1100" b="0" i="0">
                <a:solidFill>
                  <a:srgbClr val="10101A"/>
                </a:solidFill>
                <a:latin typeface="Inter"/>
              </a:rPr>
              <a:t>· HWG-Prüfung jedes Beitrags und jeder Anzeige</a:t>
            </a:r>
          </a:p>
        </p:txBody>
      </p:sp>
      <p:sp>
        <p:nvSpPr>
          <p:cNvPr id="19" name="TextBox 18"/>
          <p:cNvSpPr txBox="1"/>
          <p:nvPr/>
        </p:nvSpPr>
        <p:spPr>
          <a:xfrm>
            <a:off x="731520" y="5696712"/>
            <a:ext cx="4480560" cy="237744"/>
          </a:xfrm>
          <a:prstGeom prst="rect">
            <a:avLst/>
          </a:prstGeom>
          <a:noFill/>
        </p:spPr>
        <p:txBody>
          <a:bodyPr wrap="square" lIns="0" rIns="0" tIns="0" bIns="0" anchor="t">
            <a:spAutoFit/>
          </a:bodyPr>
          <a:lstStyle/>
          <a:p>
            <a:pPr algn="l">
              <a:lnSpc>
                <a:spcPct val="115000"/>
              </a:lnSpc>
            </a:pPr>
            <a:r>
              <a:rPr sz="1100" b="0" i="0">
                <a:solidFill>
                  <a:srgbClr val="10101A"/>
                </a:solidFill>
                <a:latin typeface="Inter"/>
              </a:rPr>
              <a:t>· Ansprechpartner: direkt der Gründer</a:t>
            </a:r>
          </a:p>
        </p:txBody>
      </p:sp>
      <p:sp>
        <p:nvSpPr>
          <p:cNvPr id="20" name="TextBox 19"/>
          <p:cNvSpPr txBox="1"/>
          <p:nvPr/>
        </p:nvSpPr>
        <p:spPr>
          <a:xfrm>
            <a:off x="731520" y="5907024"/>
            <a:ext cx="4480560" cy="237744"/>
          </a:xfrm>
          <a:prstGeom prst="rect">
            <a:avLst/>
          </a:prstGeom>
          <a:noFill/>
        </p:spPr>
        <p:txBody>
          <a:bodyPr wrap="square" lIns="0" rIns="0" tIns="0" bIns="0" anchor="t">
            <a:spAutoFit/>
          </a:bodyPr>
          <a:lstStyle/>
          <a:p>
            <a:pPr algn="l">
              <a:lnSpc>
                <a:spcPct val="115000"/>
              </a:lnSpc>
            </a:pPr>
            <a:r>
              <a:rPr sz="1100" b="0" i="0">
                <a:solidFill>
                  <a:srgbClr val="10101A"/>
                </a:solidFill>
                <a:latin typeface="Inter"/>
              </a:rPr>
              <a:t>· Technischer Support: Reaktionszeit unter 24 Stunden</a:t>
            </a:r>
          </a:p>
        </p:txBody>
      </p:sp>
      <p:sp>
        <p:nvSpPr>
          <p:cNvPr id="21" name="TextBox 20"/>
          <p:cNvSpPr txBox="1"/>
          <p:nvPr/>
        </p:nvSpPr>
        <p:spPr>
          <a:xfrm>
            <a:off x="731520" y="6117336"/>
            <a:ext cx="4480560" cy="237744"/>
          </a:xfrm>
          <a:prstGeom prst="rect">
            <a:avLst/>
          </a:prstGeom>
          <a:noFill/>
        </p:spPr>
        <p:txBody>
          <a:bodyPr wrap="square" lIns="0" rIns="0" tIns="0" bIns="0" anchor="t">
            <a:spAutoFit/>
          </a:bodyPr>
          <a:lstStyle/>
          <a:p>
            <a:pPr algn="l">
              <a:lnSpc>
                <a:spcPct val="115000"/>
              </a:lnSpc>
            </a:pPr>
            <a:r>
              <a:rPr sz="1100" b="0" i="0">
                <a:solidFill>
                  <a:srgbClr val="10101A"/>
                </a:solidFill>
                <a:latin typeface="Inter"/>
              </a:rPr>
              <a:t>· Strategie-Gespräche: monatlich (etwa 30 Minuten)</a:t>
            </a:r>
          </a:p>
        </p:txBody>
      </p:sp>
      <p:sp>
        <p:nvSpPr>
          <p:cNvPr id="22" name="Rounded Rectangle 21"/>
          <p:cNvSpPr/>
          <p:nvPr/>
        </p:nvSpPr>
        <p:spPr>
          <a:xfrm>
            <a:off x="5715000" y="2743200"/>
            <a:ext cx="6080760" cy="1645920"/>
          </a:xfrm>
          <a:prstGeom prst="roundRect">
            <a:avLst>
              <a:gd name="adj" fmla="val 5000"/>
            </a:avLst>
          </a:prstGeom>
          <a:solidFill>
            <a:srgbClr val="FFFFFF"/>
          </a:solidFill>
          <a:ln w="9525">
            <a:solidFill>
              <a:srgbClr val="58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89320" y="2926080"/>
            <a:ext cx="5486400" cy="274320"/>
          </a:xfrm>
          <a:prstGeom prst="rect">
            <a:avLst/>
          </a:prstGeom>
          <a:noFill/>
        </p:spPr>
        <p:txBody>
          <a:bodyPr wrap="square" lIns="0" rIns="0" tIns="0" bIns="0" anchor="t">
            <a:spAutoFit/>
          </a:bodyPr>
          <a:lstStyle/>
          <a:p>
            <a:pPr algn="l">
              <a:lnSpc>
                <a:spcPct val="115000"/>
              </a:lnSpc>
            </a:pPr>
            <a:r>
              <a:rPr sz="1100" b="1" i="0">
                <a:solidFill>
                  <a:srgbClr val="58BAB5"/>
                </a:solidFill>
                <a:latin typeface="Consolas"/>
              </a:rPr>
              <a:t>Erste Rechnung</a:t>
            </a:r>
          </a:p>
        </p:txBody>
      </p:sp>
      <p:sp>
        <p:nvSpPr>
          <p:cNvPr id="24" name="TextBox 23"/>
          <p:cNvSpPr txBox="1"/>
          <p:nvPr/>
        </p:nvSpPr>
        <p:spPr>
          <a:xfrm>
            <a:off x="5989320" y="3200400"/>
            <a:ext cx="5532120" cy="548640"/>
          </a:xfrm>
          <a:prstGeom prst="rect">
            <a:avLst/>
          </a:prstGeom>
          <a:noFill/>
        </p:spPr>
        <p:txBody>
          <a:bodyPr wrap="square" lIns="0" rIns="0" tIns="0" bIns="0" anchor="t">
            <a:spAutoFit/>
          </a:bodyPr>
          <a:lstStyle/>
          <a:p>
            <a:pPr algn="l">
              <a:lnSpc>
                <a:spcPct val="120000"/>
              </a:lnSpc>
            </a:pPr>
            <a:r>
              <a:rPr sz="1500" b="1" i="0">
                <a:solidFill>
                  <a:srgbClr val="10101A"/>
                </a:solidFill>
                <a:latin typeface="Helvetica Neue"/>
              </a:rPr>
              <a:t>Die erste Rechnung kommt erst, wenn die erste qualifizierte Anfrage über EINS in Ihrem Portal liegt.</a:t>
            </a:r>
          </a:p>
        </p:txBody>
      </p:sp>
      <p:sp>
        <p:nvSpPr>
          <p:cNvPr id="25" name="TextBox 24"/>
          <p:cNvSpPr txBox="1"/>
          <p:nvPr/>
        </p:nvSpPr>
        <p:spPr>
          <a:xfrm>
            <a:off x="5989320" y="3840480"/>
            <a:ext cx="5532120" cy="457200"/>
          </a:xfrm>
          <a:prstGeom prst="rect">
            <a:avLst/>
          </a:prstGeom>
          <a:noFill/>
        </p:spPr>
        <p:txBody>
          <a:bodyPr wrap="square" lIns="0" rIns="0" tIns="0" bIns="0" anchor="t">
            <a:spAutoFit/>
          </a:bodyPr>
          <a:lstStyle/>
          <a:p>
            <a:pPr algn="l">
              <a:lnSpc>
                <a:spcPct val="125000"/>
              </a:lnSpc>
            </a:pPr>
            <a:r>
              <a:rPr sz="1100" b="0" i="0">
                <a:solidFill>
                  <a:srgbClr val="10101A"/>
                </a:solidFill>
                <a:latin typeface="Inter"/>
              </a:rPr>
              <a:t>Kommt in 90 Tagen keine, endet die Zusammenarbeit, und Sie haben nichts bezahlt.</a:t>
            </a:r>
          </a:p>
        </p:txBody>
      </p:sp>
      <p:sp>
        <p:nvSpPr>
          <p:cNvPr id="26" name="Rounded Rectangle 25"/>
          <p:cNvSpPr/>
          <p:nvPr/>
        </p:nvSpPr>
        <p:spPr>
          <a:xfrm>
            <a:off x="5715000" y="4526280"/>
            <a:ext cx="6080760" cy="1737360"/>
          </a:xfrm>
          <a:prstGeom prst="roundRect">
            <a:avLst>
              <a:gd name="adj" fmla="val 5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9320" y="4709160"/>
            <a:ext cx="5486400" cy="274320"/>
          </a:xfrm>
          <a:prstGeom prst="rect">
            <a:avLst/>
          </a:prstGeom>
          <a:noFill/>
        </p:spPr>
        <p:txBody>
          <a:bodyPr wrap="square" lIns="0" rIns="0" tIns="0" bIns="0" anchor="t">
            <a:spAutoFit/>
          </a:bodyPr>
          <a:lstStyle/>
          <a:p>
            <a:pPr algn="l">
              <a:lnSpc>
                <a:spcPct val="115000"/>
              </a:lnSpc>
            </a:pPr>
            <a:r>
              <a:rPr sz="1100" b="1" i="0">
                <a:solidFill>
                  <a:srgbClr val="58BAB5"/>
                </a:solidFill>
                <a:latin typeface="Consolas"/>
              </a:rPr>
              <a:t>Werbebudget: der nächste Schritt</a:t>
            </a:r>
          </a:p>
        </p:txBody>
      </p:sp>
      <p:sp>
        <p:nvSpPr>
          <p:cNvPr id="28" name="TextBox 27"/>
          <p:cNvSpPr txBox="1"/>
          <p:nvPr/>
        </p:nvSpPr>
        <p:spPr>
          <a:xfrm>
            <a:off x="5989320" y="4983480"/>
            <a:ext cx="5532120" cy="777240"/>
          </a:xfrm>
          <a:prstGeom prst="rect">
            <a:avLst/>
          </a:prstGeom>
          <a:noFill/>
        </p:spPr>
        <p:txBody>
          <a:bodyPr wrap="square" lIns="0" rIns="0" tIns="0" bIns="0" anchor="t">
            <a:spAutoFit/>
          </a:bodyPr>
          <a:lstStyle/>
          <a:p>
            <a:pPr algn="l">
              <a:lnSpc>
                <a:spcPct val="125000"/>
              </a:lnSpc>
            </a:pPr>
            <a:r>
              <a:rPr sz="1100" b="0" i="0">
                <a:solidFill>
                  <a:srgbClr val="10101A"/>
                </a:solidFill>
                <a:latin typeface="Inter"/>
              </a:rPr>
              <a:t>Zu Beginn brauchen Sie kein Werbebudget. Wir starten organisch. Sobald wir sehen, welche Beiträge Anfragen bringen, schlagen wir vor, wie viel Werbebudget dahinter gehört. Das Budget zahlen Sie direkt an Meta und Google.</a:t>
            </a:r>
          </a:p>
        </p:txBody>
      </p:sp>
      <p:sp>
        <p:nvSpPr>
          <p:cNvPr id="29" name="TextBox 28"/>
          <p:cNvSpPr txBox="1"/>
          <p:nvPr/>
        </p:nvSpPr>
        <p:spPr>
          <a:xfrm>
            <a:off x="5989320" y="5806440"/>
            <a:ext cx="5532120" cy="411480"/>
          </a:xfrm>
          <a:prstGeom prst="rect">
            <a:avLst/>
          </a:prstGeom>
          <a:noFill/>
        </p:spPr>
        <p:txBody>
          <a:bodyPr wrap="square" lIns="0" rIns="0" tIns="0" bIns="0" anchor="t">
            <a:spAutoFit/>
          </a:bodyPr>
          <a:lstStyle/>
          <a:p>
            <a:pPr algn="l">
              <a:lnSpc>
                <a:spcPct val="125000"/>
              </a:lnSpc>
            </a:pPr>
            <a:r>
              <a:rPr sz="1100" b="1" i="0">
                <a:solidFill>
                  <a:srgbClr val="10101A"/>
                </a:solidFill>
                <a:latin typeface="Inter"/>
              </a:rPr>
              <a:t>Organisch findet heraus, was wirkt. Werbebudget macht es größer. So verbrennen Sie kein Budget für Vermutungen.</a:t>
            </a:r>
          </a:p>
        </p:txBody>
      </p:sp>
      <p:sp>
        <p:nvSpPr>
          <p:cNvPr id="30" name="TextBox 29"/>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EINS · Strategievorschlag</a:t>
            </a:r>
          </a:p>
        </p:txBody>
      </p:sp>
      <p:sp>
        <p:nvSpPr>
          <p:cNvPr id="31" name="TextBox 30"/>
          <p:cNvSpPr txBox="1"/>
          <p:nvPr/>
        </p:nvSpPr>
        <p:spPr>
          <a:xfrm>
            <a:off x="6400800" y="6492240"/>
            <a:ext cx="5486400" cy="274320"/>
          </a:xfrm>
          <a:prstGeom prst="rect">
            <a:avLst/>
          </a:prstGeom>
          <a:noFill/>
        </p:spPr>
        <p:txBody>
          <a:bodyPr wrap="square" lIns="0" rIns="0" tIns="0" bIns="0" anchor="t">
            <a:spAutoFit/>
          </a:bodyPr>
          <a:lstStyle/>
          <a:p>
            <a:pPr algn="r">
              <a:lnSpc>
                <a:spcPct val="115000"/>
              </a:lnSpc>
            </a:pPr>
            <a:r>
              <a:rPr sz="1000" b="0" i="0">
                <a:solidFill>
                  <a:srgbClr val="6A6A74"/>
                </a:solidFill>
                <a:latin typeface="Consolas"/>
              </a:rPr>
              <a:t>//14</a:t>
            </a:r>
          </a:p>
        </p:txBody>
      </p:sp>
    </p:spTree>
  </p:cSld>
  <p:clrMapOvr>
    <a:masterClrMapping/>
  </p:clrMapOvr>
  <p:transition xmlns:p14="http://schemas.microsoft.com/office/powerpoint/2010/main" spd="med" p14:dur="400">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Oval 3"/>
          <p:cNvSpPr/>
          <p:nvPr/>
        </p:nvSpPr>
        <p:spPr>
          <a:xfrm>
            <a:off x="457200" y="140817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Nächste Schritte</a:t>
            </a:r>
          </a:p>
        </p:txBody>
      </p:sp>
      <p:sp>
        <p:nvSpPr>
          <p:cNvPr id="6" name="TextBox 5"/>
          <p:cNvSpPr txBox="1"/>
          <p:nvPr/>
        </p:nvSpPr>
        <p:spPr>
          <a:xfrm>
            <a:off x="457200" y="1783080"/>
            <a:ext cx="10972800" cy="914400"/>
          </a:xfrm>
          <a:prstGeom prst="rect">
            <a:avLst/>
          </a:prstGeom>
          <a:noFill/>
        </p:spPr>
        <p:txBody>
          <a:bodyPr wrap="square" lIns="0" rIns="0" tIns="0" bIns="0" anchor="t">
            <a:spAutoFit/>
          </a:bodyPr>
          <a:lstStyle/>
          <a:p>
            <a:pPr algn="l">
              <a:lnSpc>
                <a:spcPct val="100000"/>
              </a:lnSpc>
            </a:pPr>
            <a:r>
              <a:rPr sz="4200" b="1" i="0">
                <a:solidFill>
                  <a:srgbClr val="10101A"/>
                </a:solidFill>
                <a:latin typeface="Helvetica Neue"/>
              </a:rPr>
              <a:t>Von Tag 1 bis zur ersten Anfrage.</a:t>
            </a:r>
          </a:p>
        </p:txBody>
      </p:sp>
      <p:sp>
        <p:nvSpPr>
          <p:cNvPr id="7" name="Rounded Rectangle 6"/>
          <p:cNvSpPr/>
          <p:nvPr/>
        </p:nvSpPr>
        <p:spPr>
          <a:xfrm>
            <a:off x="457200" y="2926080"/>
            <a:ext cx="2103120" cy="278892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0080" y="3108960"/>
            <a:ext cx="384048" cy="38404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172968"/>
            <a:ext cx="384048" cy="274320"/>
          </a:xfrm>
          <a:prstGeom prst="rect">
            <a:avLst/>
          </a:prstGeom>
          <a:noFill/>
        </p:spPr>
        <p:txBody>
          <a:bodyPr wrap="square" lIns="0" rIns="0" tIns="0" bIns="0" anchor="t">
            <a:spAutoFit/>
          </a:bodyPr>
          <a:lstStyle/>
          <a:p>
            <a:pPr algn="ctr">
              <a:lnSpc>
                <a:spcPct val="115000"/>
              </a:lnSpc>
            </a:pPr>
            <a:r>
              <a:rPr sz="1400" b="1" i="0">
                <a:solidFill>
                  <a:srgbClr val="FFFFFF"/>
                </a:solidFill>
                <a:latin typeface="Helvetica Neue"/>
              </a:rPr>
              <a:t>1</a:t>
            </a:r>
          </a:p>
        </p:txBody>
      </p:sp>
      <p:sp>
        <p:nvSpPr>
          <p:cNvPr id="10" name="TextBox 9"/>
          <p:cNvSpPr txBox="1"/>
          <p:nvPr/>
        </p:nvSpPr>
        <p:spPr>
          <a:xfrm>
            <a:off x="1143000" y="3172968"/>
            <a:ext cx="1325880" cy="274320"/>
          </a:xfrm>
          <a:prstGeom prst="rect">
            <a:avLst/>
          </a:prstGeom>
          <a:noFill/>
        </p:spPr>
        <p:txBody>
          <a:bodyPr wrap="square" lIns="0" rIns="0" tIns="0" bIns="0" anchor="t">
            <a:spAutoFit/>
          </a:bodyPr>
          <a:lstStyle/>
          <a:p>
            <a:pPr algn="l">
              <a:lnSpc>
                <a:spcPct val="115000"/>
              </a:lnSpc>
            </a:pPr>
            <a:r>
              <a:rPr sz="1000" b="1" i="0">
                <a:solidFill>
                  <a:srgbClr val="58BAB5"/>
                </a:solidFill>
                <a:latin typeface="Consolas"/>
              </a:rPr>
              <a:t>Unterschrift</a:t>
            </a:r>
          </a:p>
        </p:txBody>
      </p:sp>
      <p:sp>
        <p:nvSpPr>
          <p:cNvPr id="11" name="TextBox 10"/>
          <p:cNvSpPr txBox="1"/>
          <p:nvPr/>
        </p:nvSpPr>
        <p:spPr>
          <a:xfrm>
            <a:off x="640080" y="3657600"/>
            <a:ext cx="1737360" cy="502920"/>
          </a:xfrm>
          <a:prstGeom prst="rect">
            <a:avLst/>
          </a:prstGeom>
          <a:noFill/>
        </p:spPr>
        <p:txBody>
          <a:bodyPr wrap="square" lIns="0" rIns="0" tIns="0" bIns="0" anchor="t">
            <a:spAutoFit/>
          </a:bodyPr>
          <a:lstStyle/>
          <a:p>
            <a:pPr algn="l">
              <a:lnSpc>
                <a:spcPct val="105000"/>
              </a:lnSpc>
            </a:pPr>
            <a:r>
              <a:rPr sz="1500" b="1" i="0">
                <a:solidFill>
                  <a:srgbClr val="10101A"/>
                </a:solidFill>
                <a:latin typeface="Helvetica Neue"/>
              </a:rPr>
              <a:t>Die 90 Tage beginnen</a:t>
            </a:r>
          </a:p>
        </p:txBody>
      </p:sp>
      <p:sp>
        <p:nvSpPr>
          <p:cNvPr id="12" name="TextBox 11"/>
          <p:cNvSpPr txBox="1"/>
          <p:nvPr/>
        </p:nvSpPr>
        <p:spPr>
          <a:xfrm>
            <a:off x="640080" y="4251960"/>
            <a:ext cx="1737360" cy="1280160"/>
          </a:xfrm>
          <a:prstGeom prst="rect">
            <a:avLst/>
          </a:prstGeom>
          <a:noFill/>
        </p:spPr>
        <p:txBody>
          <a:bodyPr wrap="square" lIns="0" rIns="0" tIns="0" bIns="0" anchor="t">
            <a:spAutoFit/>
          </a:bodyPr>
          <a:lstStyle/>
          <a:p>
            <a:pPr algn="l">
              <a:lnSpc>
                <a:spcPct val="125000"/>
              </a:lnSpc>
            </a:pPr>
            <a:r>
              <a:rPr sz="1050" b="0" i="0">
                <a:solidFill>
                  <a:srgbClr val="10101A"/>
                </a:solidFill>
                <a:latin typeface="Inter"/>
              </a:rPr>
              <a:t>Im Gespräch legen wir gleich fest: Termin für Onboarding-Gespräch und Klon-Aufnahme.</a:t>
            </a:r>
          </a:p>
        </p:txBody>
      </p:sp>
      <p:sp>
        <p:nvSpPr>
          <p:cNvPr id="13" name="Rounded Rectangle 12"/>
          <p:cNvSpPr/>
          <p:nvPr/>
        </p:nvSpPr>
        <p:spPr>
          <a:xfrm>
            <a:off x="2766060" y="2926080"/>
            <a:ext cx="2103120" cy="278892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48940" y="3108960"/>
            <a:ext cx="384048" cy="38404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48940" y="3172968"/>
            <a:ext cx="384048" cy="274320"/>
          </a:xfrm>
          <a:prstGeom prst="rect">
            <a:avLst/>
          </a:prstGeom>
          <a:noFill/>
        </p:spPr>
        <p:txBody>
          <a:bodyPr wrap="square" lIns="0" rIns="0" tIns="0" bIns="0" anchor="t">
            <a:spAutoFit/>
          </a:bodyPr>
          <a:lstStyle/>
          <a:p>
            <a:pPr algn="ctr">
              <a:lnSpc>
                <a:spcPct val="115000"/>
              </a:lnSpc>
            </a:pPr>
            <a:r>
              <a:rPr sz="1400" b="1" i="0">
                <a:solidFill>
                  <a:srgbClr val="FFFFFF"/>
                </a:solidFill>
                <a:latin typeface="Helvetica Neue"/>
              </a:rPr>
              <a:t>2</a:t>
            </a:r>
          </a:p>
        </p:txBody>
      </p:sp>
      <p:sp>
        <p:nvSpPr>
          <p:cNvPr id="16" name="TextBox 15"/>
          <p:cNvSpPr txBox="1"/>
          <p:nvPr/>
        </p:nvSpPr>
        <p:spPr>
          <a:xfrm>
            <a:off x="3451860" y="3172968"/>
            <a:ext cx="1325880" cy="274320"/>
          </a:xfrm>
          <a:prstGeom prst="rect">
            <a:avLst/>
          </a:prstGeom>
          <a:noFill/>
        </p:spPr>
        <p:txBody>
          <a:bodyPr wrap="square" lIns="0" rIns="0" tIns="0" bIns="0" anchor="t">
            <a:spAutoFit/>
          </a:bodyPr>
          <a:lstStyle/>
          <a:p>
            <a:pPr algn="l">
              <a:lnSpc>
                <a:spcPct val="115000"/>
              </a:lnSpc>
            </a:pPr>
            <a:r>
              <a:rPr sz="1000" b="1" i="0">
                <a:solidFill>
                  <a:srgbClr val="58BAB5"/>
                </a:solidFill>
                <a:latin typeface="Consolas"/>
              </a:rPr>
              <a:t>Woche 1</a:t>
            </a:r>
          </a:p>
        </p:txBody>
      </p:sp>
      <p:sp>
        <p:nvSpPr>
          <p:cNvPr id="17" name="TextBox 16"/>
          <p:cNvSpPr txBox="1"/>
          <p:nvPr/>
        </p:nvSpPr>
        <p:spPr>
          <a:xfrm>
            <a:off x="2948940" y="3657600"/>
            <a:ext cx="1737360" cy="502920"/>
          </a:xfrm>
          <a:prstGeom prst="rect">
            <a:avLst/>
          </a:prstGeom>
          <a:noFill/>
        </p:spPr>
        <p:txBody>
          <a:bodyPr wrap="square" lIns="0" rIns="0" tIns="0" bIns="0" anchor="t">
            <a:spAutoFit/>
          </a:bodyPr>
          <a:lstStyle/>
          <a:p>
            <a:pPr algn="l">
              <a:lnSpc>
                <a:spcPct val="105000"/>
              </a:lnSpc>
            </a:pPr>
            <a:r>
              <a:rPr sz="1500" b="1" i="0">
                <a:solidFill>
                  <a:srgbClr val="10101A"/>
                </a:solidFill>
                <a:latin typeface="Helvetica Neue"/>
              </a:rPr>
              <a:t>Onboarding</a:t>
            </a:r>
          </a:p>
        </p:txBody>
      </p:sp>
      <p:sp>
        <p:nvSpPr>
          <p:cNvPr id="18" name="TextBox 17"/>
          <p:cNvSpPr txBox="1"/>
          <p:nvPr/>
        </p:nvSpPr>
        <p:spPr>
          <a:xfrm>
            <a:off x="2948940" y="4251960"/>
            <a:ext cx="1737360" cy="1280160"/>
          </a:xfrm>
          <a:prstGeom prst="rect">
            <a:avLst/>
          </a:prstGeom>
          <a:noFill/>
        </p:spPr>
        <p:txBody>
          <a:bodyPr wrap="square" lIns="0" rIns="0" tIns="0" bIns="0" anchor="t">
            <a:spAutoFit/>
          </a:bodyPr>
          <a:lstStyle/>
          <a:p>
            <a:pPr algn="l">
              <a:lnSpc>
                <a:spcPct val="125000"/>
              </a:lnSpc>
            </a:pPr>
            <a:r>
              <a:rPr sz="1050" b="0" i="0">
                <a:solidFill>
                  <a:srgbClr val="10101A"/>
                </a:solidFill>
                <a:latin typeface="Inter"/>
              </a:rPr>
              <a:t>Onboarding-Gespräch per Video. Einwilligung, Zugänge und Klon-Aufnahme am Handy, wenige Minuten.</a:t>
            </a:r>
          </a:p>
        </p:txBody>
      </p:sp>
      <p:sp>
        <p:nvSpPr>
          <p:cNvPr id="19" name="Rounded Rectangle 18"/>
          <p:cNvSpPr/>
          <p:nvPr/>
        </p:nvSpPr>
        <p:spPr>
          <a:xfrm>
            <a:off x="5074920" y="2926080"/>
            <a:ext cx="2103120" cy="278892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57800" y="3108960"/>
            <a:ext cx="384048" cy="38404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7800" y="3172968"/>
            <a:ext cx="384048" cy="274320"/>
          </a:xfrm>
          <a:prstGeom prst="rect">
            <a:avLst/>
          </a:prstGeom>
          <a:noFill/>
        </p:spPr>
        <p:txBody>
          <a:bodyPr wrap="square" lIns="0" rIns="0" tIns="0" bIns="0" anchor="t">
            <a:spAutoFit/>
          </a:bodyPr>
          <a:lstStyle/>
          <a:p>
            <a:pPr algn="ctr">
              <a:lnSpc>
                <a:spcPct val="115000"/>
              </a:lnSpc>
            </a:pPr>
            <a:r>
              <a:rPr sz="1400" b="1" i="0">
                <a:solidFill>
                  <a:srgbClr val="FFFFFF"/>
                </a:solidFill>
                <a:latin typeface="Helvetica Neue"/>
              </a:rPr>
              <a:t>3</a:t>
            </a:r>
          </a:p>
        </p:txBody>
      </p:sp>
      <p:sp>
        <p:nvSpPr>
          <p:cNvPr id="22" name="TextBox 21"/>
          <p:cNvSpPr txBox="1"/>
          <p:nvPr/>
        </p:nvSpPr>
        <p:spPr>
          <a:xfrm>
            <a:off x="5760720" y="3172968"/>
            <a:ext cx="1325880" cy="274320"/>
          </a:xfrm>
          <a:prstGeom prst="rect">
            <a:avLst/>
          </a:prstGeom>
          <a:noFill/>
        </p:spPr>
        <p:txBody>
          <a:bodyPr wrap="square" lIns="0" rIns="0" tIns="0" bIns="0" anchor="t">
            <a:spAutoFit/>
          </a:bodyPr>
          <a:lstStyle/>
          <a:p>
            <a:pPr algn="l">
              <a:lnSpc>
                <a:spcPct val="115000"/>
              </a:lnSpc>
            </a:pPr>
            <a:r>
              <a:rPr sz="1000" b="1" i="0">
                <a:solidFill>
                  <a:srgbClr val="58BAB5"/>
                </a:solidFill>
                <a:latin typeface="Consolas"/>
              </a:rPr>
              <a:t>Ab Woche 2</a:t>
            </a:r>
          </a:p>
        </p:txBody>
      </p:sp>
      <p:sp>
        <p:nvSpPr>
          <p:cNvPr id="23" name="TextBox 22"/>
          <p:cNvSpPr txBox="1"/>
          <p:nvPr/>
        </p:nvSpPr>
        <p:spPr>
          <a:xfrm>
            <a:off x="5257800" y="3657600"/>
            <a:ext cx="1737360" cy="502920"/>
          </a:xfrm>
          <a:prstGeom prst="rect">
            <a:avLst/>
          </a:prstGeom>
          <a:noFill/>
        </p:spPr>
        <p:txBody>
          <a:bodyPr wrap="square" lIns="0" rIns="0" tIns="0" bIns="0" anchor="t">
            <a:spAutoFit/>
          </a:bodyPr>
          <a:lstStyle/>
          <a:p>
            <a:pPr algn="l">
              <a:lnSpc>
                <a:spcPct val="105000"/>
              </a:lnSpc>
            </a:pPr>
            <a:r>
              <a:rPr sz="1500" b="1" i="0">
                <a:solidFill>
                  <a:srgbClr val="10101A"/>
                </a:solidFill>
                <a:latin typeface="Helvetica Neue"/>
              </a:rPr>
              <a:t>Erste Beiträge live</a:t>
            </a:r>
          </a:p>
        </p:txBody>
      </p:sp>
      <p:sp>
        <p:nvSpPr>
          <p:cNvPr id="24" name="TextBox 23"/>
          <p:cNvSpPr txBox="1"/>
          <p:nvPr/>
        </p:nvSpPr>
        <p:spPr>
          <a:xfrm>
            <a:off x="5257800" y="4251960"/>
            <a:ext cx="1737360" cy="1280160"/>
          </a:xfrm>
          <a:prstGeom prst="rect">
            <a:avLst/>
          </a:prstGeom>
          <a:noFill/>
        </p:spPr>
        <p:txBody>
          <a:bodyPr wrap="square" lIns="0" rIns="0" tIns="0" bIns="0" anchor="t">
            <a:spAutoFit/>
          </a:bodyPr>
          <a:lstStyle/>
          <a:p>
            <a:pPr algn="l">
              <a:lnSpc>
                <a:spcPct val="125000"/>
              </a:lnSpc>
            </a:pPr>
            <a:r>
              <a:rPr sz="1050" b="0" i="0">
                <a:solidFill>
                  <a:srgbClr val="10101A"/>
                </a:solidFill>
                <a:latin typeface="Inter"/>
              </a:rPr>
              <a:t>Klon und Zielseite stehen, Sie geben die ersten Beiträge frei. Anfragen laufen mit Herkunft ins Portal.</a:t>
            </a:r>
          </a:p>
        </p:txBody>
      </p:sp>
      <p:sp>
        <p:nvSpPr>
          <p:cNvPr id="25" name="Rounded Rectangle 24"/>
          <p:cNvSpPr/>
          <p:nvPr/>
        </p:nvSpPr>
        <p:spPr>
          <a:xfrm>
            <a:off x="7383780" y="2926080"/>
            <a:ext cx="2103120" cy="2788920"/>
          </a:xfrm>
          <a:prstGeom prst="roundRect">
            <a:avLst>
              <a:gd name="adj" fmla="val 4000"/>
            </a:avLst>
          </a:prstGeom>
          <a:solidFill>
            <a:srgbClr val="E7F6F5"/>
          </a:solidFill>
          <a:ln w="9525">
            <a:solidFill>
              <a:srgbClr val="58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566660" y="3108960"/>
            <a:ext cx="384048" cy="38404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66660" y="3172968"/>
            <a:ext cx="384048" cy="274320"/>
          </a:xfrm>
          <a:prstGeom prst="rect">
            <a:avLst/>
          </a:prstGeom>
          <a:noFill/>
        </p:spPr>
        <p:txBody>
          <a:bodyPr wrap="square" lIns="0" rIns="0" tIns="0" bIns="0" anchor="t">
            <a:spAutoFit/>
          </a:bodyPr>
          <a:lstStyle/>
          <a:p>
            <a:pPr algn="ctr">
              <a:lnSpc>
                <a:spcPct val="115000"/>
              </a:lnSpc>
            </a:pPr>
            <a:r>
              <a:rPr sz="1400" b="1" i="0">
                <a:solidFill>
                  <a:srgbClr val="FFFFFF"/>
                </a:solidFill>
                <a:latin typeface="Helvetica Neue"/>
              </a:rPr>
              <a:t>4</a:t>
            </a:r>
          </a:p>
        </p:txBody>
      </p:sp>
      <p:sp>
        <p:nvSpPr>
          <p:cNvPr id="28" name="TextBox 27"/>
          <p:cNvSpPr txBox="1"/>
          <p:nvPr/>
        </p:nvSpPr>
        <p:spPr>
          <a:xfrm>
            <a:off x="8069580" y="3172968"/>
            <a:ext cx="1325880" cy="274320"/>
          </a:xfrm>
          <a:prstGeom prst="rect">
            <a:avLst/>
          </a:prstGeom>
          <a:noFill/>
        </p:spPr>
        <p:txBody>
          <a:bodyPr wrap="square" lIns="0" rIns="0" tIns="0" bIns="0" anchor="t">
            <a:spAutoFit/>
          </a:bodyPr>
          <a:lstStyle/>
          <a:p>
            <a:pPr algn="l">
              <a:lnSpc>
                <a:spcPct val="115000"/>
              </a:lnSpc>
            </a:pPr>
            <a:r>
              <a:rPr sz="1000" b="1" i="0">
                <a:solidFill>
                  <a:srgbClr val="58BAB5"/>
                </a:solidFill>
                <a:latin typeface="Consolas"/>
              </a:rPr>
              <a:t>Erste Anfrage</a:t>
            </a:r>
          </a:p>
        </p:txBody>
      </p:sp>
      <p:sp>
        <p:nvSpPr>
          <p:cNvPr id="29" name="TextBox 28"/>
          <p:cNvSpPr txBox="1"/>
          <p:nvPr/>
        </p:nvSpPr>
        <p:spPr>
          <a:xfrm>
            <a:off x="7566660" y="3657600"/>
            <a:ext cx="1737360" cy="502920"/>
          </a:xfrm>
          <a:prstGeom prst="rect">
            <a:avLst/>
          </a:prstGeom>
          <a:noFill/>
        </p:spPr>
        <p:txBody>
          <a:bodyPr wrap="square" lIns="0" rIns="0" tIns="0" bIns="0" anchor="t">
            <a:spAutoFit/>
          </a:bodyPr>
          <a:lstStyle/>
          <a:p>
            <a:pPr algn="l">
              <a:lnSpc>
                <a:spcPct val="105000"/>
              </a:lnSpc>
            </a:pPr>
            <a:r>
              <a:rPr sz="1500" b="1" i="0">
                <a:solidFill>
                  <a:srgbClr val="10101A"/>
                </a:solidFill>
                <a:latin typeface="Helvetica Neue"/>
              </a:rPr>
              <a:t>Erste Rechnung</a:t>
            </a:r>
          </a:p>
        </p:txBody>
      </p:sp>
      <p:sp>
        <p:nvSpPr>
          <p:cNvPr id="30" name="TextBox 29"/>
          <p:cNvSpPr txBox="1"/>
          <p:nvPr/>
        </p:nvSpPr>
        <p:spPr>
          <a:xfrm>
            <a:off x="7566660" y="4251960"/>
            <a:ext cx="1737360" cy="1280160"/>
          </a:xfrm>
          <a:prstGeom prst="rect">
            <a:avLst/>
          </a:prstGeom>
          <a:noFill/>
        </p:spPr>
        <p:txBody>
          <a:bodyPr wrap="square" lIns="0" rIns="0" tIns="0" bIns="0" anchor="t">
            <a:spAutoFit/>
          </a:bodyPr>
          <a:lstStyle/>
          <a:p>
            <a:pPr algn="l">
              <a:lnSpc>
                <a:spcPct val="125000"/>
              </a:lnSpc>
            </a:pPr>
            <a:r>
              <a:rPr sz="1050" b="0" i="0">
                <a:solidFill>
                  <a:srgbClr val="10101A"/>
                </a:solidFill>
                <a:latin typeface="Inter"/>
              </a:rPr>
              <a:t>Sobald die erste qualifizierte Anfrage über EINS in Ihrem Portal liegt (Frist: 90 Tage). EINS schlägt vor, welches Werbebudget hinter welche Beiträge gehört.</a:t>
            </a:r>
          </a:p>
        </p:txBody>
      </p:sp>
      <p:sp>
        <p:nvSpPr>
          <p:cNvPr id="31" name="Rounded Rectangle 30"/>
          <p:cNvSpPr/>
          <p:nvPr/>
        </p:nvSpPr>
        <p:spPr>
          <a:xfrm>
            <a:off x="9692640" y="2926080"/>
            <a:ext cx="2103120" cy="2788920"/>
          </a:xfrm>
          <a:prstGeom prst="roundRect">
            <a:avLst>
              <a:gd name="adj" fmla="val 4000"/>
            </a:avLst>
          </a:prstGeom>
          <a:solidFill>
            <a:srgbClr val="F5F5F7"/>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875520" y="3108960"/>
            <a:ext cx="384048" cy="38404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0" y="3172968"/>
            <a:ext cx="384048" cy="274320"/>
          </a:xfrm>
          <a:prstGeom prst="rect">
            <a:avLst/>
          </a:prstGeom>
          <a:noFill/>
        </p:spPr>
        <p:txBody>
          <a:bodyPr wrap="square" lIns="0" rIns="0" tIns="0" bIns="0" anchor="t">
            <a:spAutoFit/>
          </a:bodyPr>
          <a:lstStyle/>
          <a:p>
            <a:pPr algn="ctr">
              <a:lnSpc>
                <a:spcPct val="115000"/>
              </a:lnSpc>
            </a:pPr>
            <a:r>
              <a:rPr sz="1400" b="1" i="0">
                <a:solidFill>
                  <a:srgbClr val="FFFFFF"/>
                </a:solidFill>
                <a:latin typeface="Helvetica Neue"/>
              </a:rPr>
              <a:t>5</a:t>
            </a:r>
          </a:p>
        </p:txBody>
      </p:sp>
      <p:sp>
        <p:nvSpPr>
          <p:cNvPr id="34" name="TextBox 33"/>
          <p:cNvSpPr txBox="1"/>
          <p:nvPr/>
        </p:nvSpPr>
        <p:spPr>
          <a:xfrm>
            <a:off x="10378440" y="3172968"/>
            <a:ext cx="1325880" cy="274320"/>
          </a:xfrm>
          <a:prstGeom prst="rect">
            <a:avLst/>
          </a:prstGeom>
          <a:noFill/>
        </p:spPr>
        <p:txBody>
          <a:bodyPr wrap="square" lIns="0" rIns="0" tIns="0" bIns="0" anchor="t">
            <a:spAutoFit/>
          </a:bodyPr>
          <a:lstStyle/>
          <a:p>
            <a:pPr algn="l">
              <a:lnSpc>
                <a:spcPct val="115000"/>
              </a:lnSpc>
            </a:pPr>
            <a:r>
              <a:rPr sz="1000" b="1" i="0">
                <a:solidFill>
                  <a:srgbClr val="58BAB5"/>
                </a:solidFill>
                <a:latin typeface="Consolas"/>
              </a:rPr>
              <a:t>Tag 90</a:t>
            </a:r>
          </a:p>
        </p:txBody>
      </p:sp>
      <p:sp>
        <p:nvSpPr>
          <p:cNvPr id="35" name="TextBox 34"/>
          <p:cNvSpPr txBox="1"/>
          <p:nvPr/>
        </p:nvSpPr>
        <p:spPr>
          <a:xfrm>
            <a:off x="9875520" y="3657600"/>
            <a:ext cx="1737360" cy="502920"/>
          </a:xfrm>
          <a:prstGeom prst="rect">
            <a:avLst/>
          </a:prstGeom>
          <a:noFill/>
        </p:spPr>
        <p:txBody>
          <a:bodyPr wrap="square" lIns="0" rIns="0" tIns="0" bIns="0" anchor="t">
            <a:spAutoFit/>
          </a:bodyPr>
          <a:lstStyle/>
          <a:p>
            <a:pPr algn="l">
              <a:lnSpc>
                <a:spcPct val="105000"/>
              </a:lnSpc>
            </a:pPr>
            <a:r>
              <a:rPr sz="1500" b="1" i="0">
                <a:solidFill>
                  <a:srgbClr val="10101A"/>
                </a:solidFill>
                <a:latin typeface="Helvetica Neue"/>
              </a:rPr>
              <a:t>Spätester Zeitpunkt</a:t>
            </a:r>
          </a:p>
        </p:txBody>
      </p:sp>
      <p:sp>
        <p:nvSpPr>
          <p:cNvPr id="36" name="TextBox 35"/>
          <p:cNvSpPr txBox="1"/>
          <p:nvPr/>
        </p:nvSpPr>
        <p:spPr>
          <a:xfrm>
            <a:off x="9875520" y="4251960"/>
            <a:ext cx="1737360" cy="1280160"/>
          </a:xfrm>
          <a:prstGeom prst="rect">
            <a:avLst/>
          </a:prstGeom>
          <a:noFill/>
        </p:spPr>
        <p:txBody>
          <a:bodyPr wrap="square" lIns="0" rIns="0" tIns="0" bIns="0" anchor="t">
            <a:spAutoFit/>
          </a:bodyPr>
          <a:lstStyle/>
          <a:p>
            <a:pPr algn="l">
              <a:lnSpc>
                <a:spcPct val="125000"/>
              </a:lnSpc>
            </a:pPr>
            <a:r>
              <a:rPr sz="1050" b="0" i="0">
                <a:solidFill>
                  <a:srgbClr val="10101A"/>
                </a:solidFill>
                <a:latin typeface="Inter"/>
              </a:rPr>
              <a:t>Liegt bis Tag 90 (plus Verzugstage) keine erste qualifizierte Anfrage über EINS vor, endet die Zusammenarbeit ohne Kosten.</a:t>
            </a:r>
          </a:p>
        </p:txBody>
      </p:sp>
      <p:sp>
        <p:nvSpPr>
          <p:cNvPr id="37" name="TextBox 36"/>
          <p:cNvSpPr txBox="1"/>
          <p:nvPr/>
        </p:nvSpPr>
        <p:spPr>
          <a:xfrm>
            <a:off x="457200" y="5806440"/>
            <a:ext cx="11338560" cy="365760"/>
          </a:xfrm>
          <a:prstGeom prst="rect">
            <a:avLst/>
          </a:prstGeom>
          <a:noFill/>
        </p:spPr>
        <p:txBody>
          <a:bodyPr wrap="square" lIns="0" rIns="0" tIns="0" bIns="0" anchor="t">
            <a:spAutoFit/>
          </a:bodyPr>
          <a:lstStyle/>
          <a:p>
            <a:pPr algn="l">
              <a:lnSpc>
                <a:spcPct val="115000"/>
              </a:lnSpc>
            </a:pPr>
            <a:r>
              <a:rPr sz="1100" b="0" i="0">
                <a:solidFill>
                  <a:srgbClr val="10101A"/>
                </a:solidFill>
                <a:latin typeface="Consolas"/>
              </a:rPr>
              <a:t>Was Ihre Praxis beiträgt: wenige Minuten Klon-Aufnahme · Einwilligung und Zugänge in 3 Werktagen · wöchentlich Beiträge freigeben.</a:t>
            </a:r>
          </a:p>
        </p:txBody>
      </p:sp>
      <p:sp>
        <p:nvSpPr>
          <p:cNvPr id="38" name="TextBox 37"/>
          <p:cNvSpPr txBox="1"/>
          <p:nvPr/>
        </p:nvSpPr>
        <p:spPr>
          <a:xfrm>
            <a:off x="457200" y="6126480"/>
            <a:ext cx="11338560" cy="365760"/>
          </a:xfrm>
          <a:prstGeom prst="rect">
            <a:avLst/>
          </a:prstGeom>
          <a:noFill/>
        </p:spPr>
        <p:txBody>
          <a:bodyPr wrap="square" lIns="0" rIns="0" tIns="0" bIns="0" anchor="t">
            <a:spAutoFit/>
          </a:bodyPr>
          <a:lstStyle/>
          <a:p>
            <a:pPr algn="l">
              <a:lnSpc>
                <a:spcPct val="115000"/>
              </a:lnSpc>
            </a:pPr>
            <a:r>
              <a:rPr sz="1800" b="1" i="0">
                <a:solidFill>
                  <a:srgbClr val="58BAB5"/>
                </a:solidFill>
                <a:latin typeface="Helvetica Neue"/>
              </a:rPr>
              <a:t>Den Rest übernehmen wir.</a:t>
            </a:r>
          </a:p>
        </p:txBody>
      </p:sp>
      <p:sp>
        <p:nvSpPr>
          <p:cNvPr id="39" name="TextBox 38"/>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EINS · Strategievorschlag</a:t>
            </a:r>
          </a:p>
        </p:txBody>
      </p:sp>
      <p:sp>
        <p:nvSpPr>
          <p:cNvPr id="40" name="TextBox 39"/>
          <p:cNvSpPr txBox="1"/>
          <p:nvPr/>
        </p:nvSpPr>
        <p:spPr>
          <a:xfrm>
            <a:off x="6400800" y="6492240"/>
            <a:ext cx="5486400" cy="274320"/>
          </a:xfrm>
          <a:prstGeom prst="rect">
            <a:avLst/>
          </a:prstGeom>
          <a:noFill/>
        </p:spPr>
        <p:txBody>
          <a:bodyPr wrap="square" lIns="0" rIns="0" tIns="0" bIns="0" anchor="t">
            <a:spAutoFit/>
          </a:bodyPr>
          <a:lstStyle/>
          <a:p>
            <a:pPr algn="r">
              <a:lnSpc>
                <a:spcPct val="115000"/>
              </a:lnSpc>
            </a:pPr>
            <a:r>
              <a:rPr sz="1000" b="0" i="0">
                <a:solidFill>
                  <a:srgbClr val="6A6A74"/>
                </a:solidFill>
                <a:latin typeface="Consolas"/>
              </a:rPr>
              <a:t>//15</a:t>
            </a:r>
          </a:p>
        </p:txBody>
      </p:sp>
    </p:spTree>
  </p:cSld>
  <p:clrMapOvr>
    <a:masterClrMapping/>
  </p:clrMapOvr>
  <p:transition xmlns:p14="http://schemas.microsoft.com/office/powerpoint/2010/main" spd="med" p14:dur="400">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Oval 3"/>
          <p:cNvSpPr/>
          <p:nvPr/>
        </p:nvSpPr>
        <p:spPr>
          <a:xfrm>
            <a:off x="457200" y="140817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Häufige Fragen</a:t>
            </a:r>
          </a:p>
        </p:txBody>
      </p:sp>
      <p:sp>
        <p:nvSpPr>
          <p:cNvPr id="6" name="TextBox 5"/>
          <p:cNvSpPr txBox="1"/>
          <p:nvPr/>
        </p:nvSpPr>
        <p:spPr>
          <a:xfrm>
            <a:off x="457200" y="1783080"/>
            <a:ext cx="10972800" cy="731520"/>
          </a:xfrm>
          <a:prstGeom prst="rect">
            <a:avLst/>
          </a:prstGeom>
          <a:noFill/>
        </p:spPr>
        <p:txBody>
          <a:bodyPr wrap="square" lIns="0" rIns="0" tIns="0" bIns="0" anchor="t">
            <a:spAutoFit/>
          </a:bodyPr>
          <a:lstStyle/>
          <a:p>
            <a:pPr algn="l">
              <a:lnSpc>
                <a:spcPct val="100000"/>
              </a:lnSpc>
            </a:pPr>
            <a:r>
              <a:rPr sz="3800" b="1" i="0">
                <a:solidFill>
                  <a:srgbClr val="10101A"/>
                </a:solidFill>
                <a:latin typeface="Helvetica Neue"/>
              </a:rPr>
              <a:t>Bereits vorab beantwortet.</a:t>
            </a:r>
          </a:p>
        </p:txBody>
      </p:sp>
      <p:sp>
        <p:nvSpPr>
          <p:cNvPr id="7" name="TextBox 6"/>
          <p:cNvSpPr txBox="1"/>
          <p:nvPr/>
        </p:nvSpPr>
        <p:spPr>
          <a:xfrm>
            <a:off x="457200" y="2606040"/>
            <a:ext cx="5532120" cy="274320"/>
          </a:xfrm>
          <a:prstGeom prst="rect">
            <a:avLst/>
          </a:prstGeom>
          <a:noFill/>
        </p:spPr>
        <p:txBody>
          <a:bodyPr wrap="square" lIns="0" rIns="0" tIns="0" bIns="0" anchor="t">
            <a:spAutoFit/>
          </a:bodyPr>
          <a:lstStyle/>
          <a:p>
            <a:pPr algn="l">
              <a:lnSpc>
                <a:spcPct val="110000"/>
              </a:lnSpc>
            </a:pPr>
            <a:r>
              <a:rPr sz="1200" b="1" i="0">
                <a:solidFill>
                  <a:srgbClr val="10101A"/>
                </a:solidFill>
                <a:latin typeface="Helvetica Neue"/>
              </a:rPr>
              <a:t>Was, wenn es nicht funktioniert?</a:t>
            </a:r>
          </a:p>
        </p:txBody>
      </p:sp>
      <p:sp>
        <p:nvSpPr>
          <p:cNvPr id="8" name="TextBox 7"/>
          <p:cNvSpPr txBox="1"/>
          <p:nvPr/>
        </p:nvSpPr>
        <p:spPr>
          <a:xfrm>
            <a:off x="457200" y="2880360"/>
            <a:ext cx="5532120" cy="594360"/>
          </a:xfrm>
          <a:prstGeom prst="rect">
            <a:avLst/>
          </a:prstGeom>
          <a:noFill/>
        </p:spPr>
        <p:txBody>
          <a:bodyPr wrap="square" lIns="0" rIns="0" tIns="0" bIns="0" anchor="t">
            <a:spAutoFit/>
          </a:bodyPr>
          <a:lstStyle/>
          <a:p>
            <a:pPr algn="l">
              <a:lnSpc>
                <a:spcPct val="125000"/>
              </a:lnSpc>
            </a:pPr>
            <a:r>
              <a:rPr sz="1000" b="0" i="0">
                <a:solidFill>
                  <a:srgbClr val="10101A"/>
                </a:solidFill>
                <a:latin typeface="Inter"/>
              </a:rPr>
              <a:t>Dann zahlen Sie nichts. Sie zahlen erst, wenn die erste qualifizierte Anfrage über EINS in Ihrem Portal liegt. Kommt in 90 Tagen keine, endet die Zusammenarbeit, und Sie haben nichts bezahlt.</a:t>
            </a:r>
          </a:p>
        </p:txBody>
      </p:sp>
      <p:sp>
        <p:nvSpPr>
          <p:cNvPr id="9" name="TextBox 8"/>
          <p:cNvSpPr txBox="1"/>
          <p:nvPr/>
        </p:nvSpPr>
        <p:spPr>
          <a:xfrm>
            <a:off x="6263640" y="2606040"/>
            <a:ext cx="5532120" cy="274320"/>
          </a:xfrm>
          <a:prstGeom prst="rect">
            <a:avLst/>
          </a:prstGeom>
          <a:noFill/>
        </p:spPr>
        <p:txBody>
          <a:bodyPr wrap="square" lIns="0" rIns="0" tIns="0" bIns="0" anchor="t">
            <a:spAutoFit/>
          </a:bodyPr>
          <a:lstStyle/>
          <a:p>
            <a:pPr algn="l">
              <a:lnSpc>
                <a:spcPct val="110000"/>
              </a:lnSpc>
            </a:pPr>
            <a:r>
              <a:rPr sz="1200" b="1" i="0">
                <a:solidFill>
                  <a:srgbClr val="10101A"/>
                </a:solidFill>
                <a:latin typeface="Helvetica Neue"/>
              </a:rPr>
              <a:t>Brauche ich Werbebudget? Klein mit 500 € anfangen?</a:t>
            </a:r>
          </a:p>
        </p:txBody>
      </p:sp>
      <p:sp>
        <p:nvSpPr>
          <p:cNvPr id="10" name="TextBox 9"/>
          <p:cNvSpPr txBox="1"/>
          <p:nvPr/>
        </p:nvSpPr>
        <p:spPr>
          <a:xfrm>
            <a:off x="6263640" y="2880360"/>
            <a:ext cx="5532120" cy="594360"/>
          </a:xfrm>
          <a:prstGeom prst="rect">
            <a:avLst/>
          </a:prstGeom>
          <a:noFill/>
        </p:spPr>
        <p:txBody>
          <a:bodyPr wrap="square" lIns="0" rIns="0" tIns="0" bIns="0" anchor="t">
            <a:spAutoFit/>
          </a:bodyPr>
          <a:lstStyle/>
          <a:p>
            <a:pPr algn="l">
              <a:lnSpc>
                <a:spcPct val="125000"/>
              </a:lnSpc>
            </a:pPr>
            <a:r>
              <a:rPr sz="1000" b="0" i="0">
                <a:solidFill>
                  <a:srgbClr val="10101A"/>
                </a:solidFill>
                <a:latin typeface="Inter"/>
              </a:rPr>
              <a:t>Zu Beginn brauchen Sie kein Werbebudget. Wir starten organisch und sehen, welche Beiträge Anfragen bringen. Dahinter setzen wir dann Anzeigen, auch mit kleinem Budget. So geben Sie kein Geld für Vermutungen aus.</a:t>
            </a:r>
          </a:p>
        </p:txBody>
      </p:sp>
      <p:sp>
        <p:nvSpPr>
          <p:cNvPr id="11" name="TextBox 10"/>
          <p:cNvSpPr txBox="1"/>
          <p:nvPr/>
        </p:nvSpPr>
        <p:spPr>
          <a:xfrm>
            <a:off x="457200" y="3520440"/>
            <a:ext cx="5532120" cy="274320"/>
          </a:xfrm>
          <a:prstGeom prst="rect">
            <a:avLst/>
          </a:prstGeom>
          <a:noFill/>
        </p:spPr>
        <p:txBody>
          <a:bodyPr wrap="square" lIns="0" rIns="0" tIns="0" bIns="0" anchor="t">
            <a:spAutoFit/>
          </a:bodyPr>
          <a:lstStyle/>
          <a:p>
            <a:pPr algn="l">
              <a:lnSpc>
                <a:spcPct val="110000"/>
              </a:lnSpc>
            </a:pPr>
            <a:r>
              <a:rPr sz="1200" b="1" i="0">
                <a:solidFill>
                  <a:srgbClr val="10101A"/>
                </a:solidFill>
                <a:latin typeface="Helvetica Neue"/>
              </a:rPr>
              <a:t>Ist das KI?</a:t>
            </a:r>
          </a:p>
        </p:txBody>
      </p:sp>
      <p:sp>
        <p:nvSpPr>
          <p:cNvPr id="12" name="TextBox 11"/>
          <p:cNvSpPr txBox="1"/>
          <p:nvPr/>
        </p:nvSpPr>
        <p:spPr>
          <a:xfrm>
            <a:off x="457200" y="3794760"/>
            <a:ext cx="5532120" cy="594360"/>
          </a:xfrm>
          <a:prstGeom prst="rect">
            <a:avLst/>
          </a:prstGeom>
          <a:noFill/>
        </p:spPr>
        <p:txBody>
          <a:bodyPr wrap="square" lIns="0" rIns="0" tIns="0" bIns="0" anchor="t">
            <a:spAutoFit/>
          </a:bodyPr>
          <a:lstStyle/>
          <a:p>
            <a:pPr algn="l">
              <a:lnSpc>
                <a:spcPct val="125000"/>
              </a:lnSpc>
            </a:pPr>
            <a:r>
              <a:rPr sz="1000" b="0" i="0">
                <a:solidFill>
                  <a:srgbClr val="10101A"/>
                </a:solidFill>
                <a:latin typeface="Inter"/>
              </a:rPr>
              <a:t>Ja. Die Videos entstehen mit einem KI-Klon von Ihnen und sind als KI-generiert gekennzeichnet, wie es das Gesetz verlangt. Jeder Beitrag geht erst nach Ihrer Freigabe raus.</a:t>
            </a:r>
          </a:p>
        </p:txBody>
      </p:sp>
      <p:sp>
        <p:nvSpPr>
          <p:cNvPr id="13" name="TextBox 12"/>
          <p:cNvSpPr txBox="1"/>
          <p:nvPr/>
        </p:nvSpPr>
        <p:spPr>
          <a:xfrm>
            <a:off x="6263640" y="3520440"/>
            <a:ext cx="5532120" cy="274320"/>
          </a:xfrm>
          <a:prstGeom prst="rect">
            <a:avLst/>
          </a:prstGeom>
          <a:noFill/>
        </p:spPr>
        <p:txBody>
          <a:bodyPr wrap="square" lIns="0" rIns="0" tIns="0" bIns="0" anchor="t">
            <a:spAutoFit/>
          </a:bodyPr>
          <a:lstStyle/>
          <a:p>
            <a:pPr algn="l">
              <a:lnSpc>
                <a:spcPct val="110000"/>
              </a:lnSpc>
            </a:pPr>
            <a:r>
              <a:rPr sz="1200" b="1" i="0">
                <a:solidFill>
                  <a:srgbClr val="10101A"/>
                </a:solidFill>
                <a:latin typeface="Helvetica Neue"/>
              </a:rPr>
              <a:t>Muss ich vor die Kamera?</a:t>
            </a:r>
          </a:p>
        </p:txBody>
      </p:sp>
      <p:sp>
        <p:nvSpPr>
          <p:cNvPr id="14" name="TextBox 13"/>
          <p:cNvSpPr txBox="1"/>
          <p:nvPr/>
        </p:nvSpPr>
        <p:spPr>
          <a:xfrm>
            <a:off x="6263640" y="3794760"/>
            <a:ext cx="5532120" cy="594360"/>
          </a:xfrm>
          <a:prstGeom prst="rect">
            <a:avLst/>
          </a:prstGeom>
          <a:noFill/>
        </p:spPr>
        <p:txBody>
          <a:bodyPr wrap="square" lIns="0" rIns="0" tIns="0" bIns="0" anchor="t">
            <a:spAutoFit/>
          </a:bodyPr>
          <a:lstStyle/>
          <a:p>
            <a:pPr algn="l">
              <a:lnSpc>
                <a:spcPct val="125000"/>
              </a:lnSpc>
            </a:pPr>
            <a:r>
              <a:rPr sz="1000" b="0" i="0">
                <a:solidFill>
                  <a:srgbClr val="10101A"/>
                </a:solidFill>
                <a:latin typeface="Inter"/>
              </a:rPr>
              <a:t>Nein. Sie nehmen einmal wenige Minuten Video und Stimme mit dem Handy auf. Daraus entsteht Ihr Klon.</a:t>
            </a:r>
          </a:p>
        </p:txBody>
      </p:sp>
      <p:sp>
        <p:nvSpPr>
          <p:cNvPr id="15" name="TextBox 14"/>
          <p:cNvSpPr txBox="1"/>
          <p:nvPr/>
        </p:nvSpPr>
        <p:spPr>
          <a:xfrm>
            <a:off x="457200" y="4434840"/>
            <a:ext cx="5532120" cy="274320"/>
          </a:xfrm>
          <a:prstGeom prst="rect">
            <a:avLst/>
          </a:prstGeom>
          <a:noFill/>
        </p:spPr>
        <p:txBody>
          <a:bodyPr wrap="square" lIns="0" rIns="0" tIns="0" bIns="0" anchor="t">
            <a:spAutoFit/>
          </a:bodyPr>
          <a:lstStyle/>
          <a:p>
            <a:pPr algn="l">
              <a:lnSpc>
                <a:spcPct val="110000"/>
              </a:lnSpc>
            </a:pPr>
            <a:r>
              <a:rPr sz="1200" b="1" i="0">
                <a:solidFill>
                  <a:srgbClr val="10101A"/>
                </a:solidFill>
                <a:latin typeface="Helvetica Neue"/>
              </a:rPr>
              <a:t>Was passiert mit meinem Gesicht und meiner Stimme?</a:t>
            </a:r>
          </a:p>
        </p:txBody>
      </p:sp>
      <p:sp>
        <p:nvSpPr>
          <p:cNvPr id="16" name="TextBox 15"/>
          <p:cNvSpPr txBox="1"/>
          <p:nvPr/>
        </p:nvSpPr>
        <p:spPr>
          <a:xfrm>
            <a:off x="457200" y="4709160"/>
            <a:ext cx="5532120" cy="594360"/>
          </a:xfrm>
          <a:prstGeom prst="rect">
            <a:avLst/>
          </a:prstGeom>
          <a:noFill/>
        </p:spPr>
        <p:txBody>
          <a:bodyPr wrap="square" lIns="0" rIns="0" tIns="0" bIns="0" anchor="t">
            <a:spAutoFit/>
          </a:bodyPr>
          <a:lstStyle/>
          <a:p>
            <a:pPr algn="l">
              <a:lnSpc>
                <a:spcPct val="125000"/>
              </a:lnSpc>
            </a:pPr>
            <a:r>
              <a:rPr sz="1000" b="0" i="0">
                <a:solidFill>
                  <a:srgbClr val="10101A"/>
                </a:solidFill>
                <a:latin typeface="Inter"/>
              </a:rPr>
              <a:t>Ihr Klon gehört Ihnen. Wir nutzen ihn nur für Ihre Praxis und löschen ihn spätestens 30 Tage nach Vertragsende. Widerrufen Sie Ihre Einwilligung, stoppen wir sofort alle Beiträge mit Ihrem Klon.</a:t>
            </a:r>
          </a:p>
        </p:txBody>
      </p:sp>
      <p:sp>
        <p:nvSpPr>
          <p:cNvPr id="17" name="TextBox 16"/>
          <p:cNvSpPr txBox="1"/>
          <p:nvPr/>
        </p:nvSpPr>
        <p:spPr>
          <a:xfrm>
            <a:off x="6263640" y="4434840"/>
            <a:ext cx="5532120" cy="274320"/>
          </a:xfrm>
          <a:prstGeom prst="rect">
            <a:avLst/>
          </a:prstGeom>
          <a:noFill/>
        </p:spPr>
        <p:txBody>
          <a:bodyPr wrap="square" lIns="0" rIns="0" tIns="0" bIns="0" anchor="t">
            <a:spAutoFit/>
          </a:bodyPr>
          <a:lstStyle/>
          <a:p>
            <a:pPr algn="l">
              <a:lnSpc>
                <a:spcPct val="110000"/>
              </a:lnSpc>
            </a:pPr>
            <a:r>
              <a:rPr sz="1200" b="1" i="0">
                <a:solidFill>
                  <a:srgbClr val="10101A"/>
                </a:solidFill>
                <a:latin typeface="Helvetica Neue"/>
              </a:rPr>
              <a:t>Wem gehört das Material?</a:t>
            </a:r>
          </a:p>
        </p:txBody>
      </p:sp>
      <p:sp>
        <p:nvSpPr>
          <p:cNvPr id="18" name="TextBox 17"/>
          <p:cNvSpPr txBox="1"/>
          <p:nvPr/>
        </p:nvSpPr>
        <p:spPr>
          <a:xfrm>
            <a:off x="6263640" y="4709160"/>
            <a:ext cx="5532120" cy="594360"/>
          </a:xfrm>
          <a:prstGeom prst="rect">
            <a:avLst/>
          </a:prstGeom>
          <a:noFill/>
        </p:spPr>
        <p:txBody>
          <a:bodyPr wrap="square" lIns="0" rIns="0" tIns="0" bIns="0" anchor="t">
            <a:spAutoFit/>
          </a:bodyPr>
          <a:lstStyle/>
          <a:p>
            <a:pPr algn="l">
              <a:lnSpc>
                <a:spcPct val="125000"/>
              </a:lnSpc>
            </a:pPr>
            <a:r>
              <a:rPr sz="1000" b="0" i="0">
                <a:solidFill>
                  <a:srgbClr val="10101A"/>
                </a:solidFill>
                <a:latin typeface="Inter"/>
              </a:rPr>
              <a:t>Sobald die erste Rechnung bezahlt ist, dürfen Sie alles, was für Ihre Praxis entstanden ist, dauerhaft nutzen und bearbeiten, auch nach einer Kündigung und mit einer anderen Agentur.</a:t>
            </a:r>
          </a:p>
        </p:txBody>
      </p:sp>
      <p:sp>
        <p:nvSpPr>
          <p:cNvPr id="19" name="TextBox 18"/>
          <p:cNvSpPr txBox="1"/>
          <p:nvPr/>
        </p:nvSpPr>
        <p:spPr>
          <a:xfrm>
            <a:off x="457200" y="5349240"/>
            <a:ext cx="5532120" cy="274320"/>
          </a:xfrm>
          <a:prstGeom prst="rect">
            <a:avLst/>
          </a:prstGeom>
          <a:noFill/>
        </p:spPr>
        <p:txBody>
          <a:bodyPr wrap="square" lIns="0" rIns="0" tIns="0" bIns="0" anchor="t">
            <a:spAutoFit/>
          </a:bodyPr>
          <a:lstStyle/>
          <a:p>
            <a:pPr algn="l">
              <a:lnSpc>
                <a:spcPct val="110000"/>
              </a:lnSpc>
            </a:pPr>
            <a:r>
              <a:rPr sz="1200" b="1" i="0">
                <a:solidFill>
                  <a:srgbClr val="10101A"/>
                </a:solidFill>
                <a:latin typeface="Helvetica Neue"/>
              </a:rPr>
              <a:t>Organische Beiträge bringen doch nur Likes.</a:t>
            </a:r>
          </a:p>
        </p:txBody>
      </p:sp>
      <p:sp>
        <p:nvSpPr>
          <p:cNvPr id="20" name="TextBox 19"/>
          <p:cNvSpPr txBox="1"/>
          <p:nvPr/>
        </p:nvSpPr>
        <p:spPr>
          <a:xfrm>
            <a:off x="457200" y="5623560"/>
            <a:ext cx="5532120" cy="594360"/>
          </a:xfrm>
          <a:prstGeom prst="rect">
            <a:avLst/>
          </a:prstGeom>
          <a:noFill/>
        </p:spPr>
        <p:txBody>
          <a:bodyPr wrap="square" lIns="0" rIns="0" tIns="0" bIns="0" anchor="t">
            <a:spAutoFit/>
          </a:bodyPr>
          <a:lstStyle/>
          <a:p>
            <a:pPr algn="l">
              <a:lnSpc>
                <a:spcPct val="125000"/>
              </a:lnSpc>
            </a:pPr>
            <a:r>
              <a:rPr sz="1000" b="0" i="0">
                <a:solidFill>
                  <a:srgbClr val="10101A"/>
                </a:solidFill>
                <a:latin typeface="Inter"/>
              </a:rPr>
              <a:t>Deshalb zählen wir keine Likes. Wir zählen Anfragen, und die erste davon ist der Moment, ab dem Sie zahlen. Jede Anfrage steht mit Herkunft in Ihrem Portal.</a:t>
            </a:r>
          </a:p>
        </p:txBody>
      </p:sp>
      <p:sp>
        <p:nvSpPr>
          <p:cNvPr id="21" name="TextBox 20"/>
          <p:cNvSpPr txBox="1"/>
          <p:nvPr/>
        </p:nvSpPr>
        <p:spPr>
          <a:xfrm>
            <a:off x="6263640" y="5349240"/>
            <a:ext cx="5532120" cy="274320"/>
          </a:xfrm>
          <a:prstGeom prst="rect">
            <a:avLst/>
          </a:prstGeom>
          <a:noFill/>
        </p:spPr>
        <p:txBody>
          <a:bodyPr wrap="square" lIns="0" rIns="0" tIns="0" bIns="0" anchor="t">
            <a:spAutoFit/>
          </a:bodyPr>
          <a:lstStyle/>
          <a:p>
            <a:pPr algn="l">
              <a:lnSpc>
                <a:spcPct val="110000"/>
              </a:lnSpc>
            </a:pPr>
            <a:r>
              <a:rPr sz="1200" b="1" i="0">
                <a:solidFill>
                  <a:srgbClr val="10101A"/>
                </a:solidFill>
                <a:latin typeface="Helvetica Neue"/>
              </a:rPr>
              <a:t>Wie viel Arbeit habe ich damit?</a:t>
            </a:r>
          </a:p>
        </p:txBody>
      </p:sp>
      <p:sp>
        <p:nvSpPr>
          <p:cNvPr id="22" name="TextBox 21"/>
          <p:cNvSpPr txBox="1"/>
          <p:nvPr/>
        </p:nvSpPr>
        <p:spPr>
          <a:xfrm>
            <a:off x="6263640" y="5623560"/>
            <a:ext cx="5532120" cy="594360"/>
          </a:xfrm>
          <a:prstGeom prst="rect">
            <a:avLst/>
          </a:prstGeom>
          <a:noFill/>
        </p:spPr>
        <p:txBody>
          <a:bodyPr wrap="square" lIns="0" rIns="0" tIns="0" bIns="0" anchor="t">
            <a:spAutoFit/>
          </a:bodyPr>
          <a:lstStyle/>
          <a:p>
            <a:pPr algn="l">
              <a:lnSpc>
                <a:spcPct val="125000"/>
              </a:lnSpc>
            </a:pPr>
            <a:r>
              <a:rPr sz="1000" b="0" i="0">
                <a:solidFill>
                  <a:srgbClr val="10101A"/>
                </a:solidFill>
                <a:latin typeface="Inter"/>
              </a:rPr>
              <a:t>In der ersten Woche wenige Minuten Aufnahme, die Einwilligung und die Zugänge. Danach geben Sie die Beiträge einmal pro Woche frei, das dauert wenige Minuten.</a:t>
            </a:r>
          </a:p>
        </p:txBody>
      </p:sp>
      <p:sp>
        <p:nvSpPr>
          <p:cNvPr id="23" name="TextBox 22"/>
          <p:cNvSpPr txBox="1"/>
          <p:nvPr/>
        </p:nvSpPr>
        <p:spPr>
          <a:xfrm>
            <a:off x="457200" y="6492240"/>
            <a:ext cx="5486400" cy="274320"/>
          </a:xfrm>
          <a:prstGeom prst="rect">
            <a:avLst/>
          </a:prstGeom>
          <a:noFill/>
        </p:spPr>
        <p:txBody>
          <a:bodyPr wrap="square" lIns="0" rIns="0" tIns="0" bIns="0" anchor="t">
            <a:spAutoFit/>
          </a:bodyPr>
          <a:lstStyle/>
          <a:p>
            <a:pPr algn="l">
              <a:lnSpc>
                <a:spcPct val="115000"/>
              </a:lnSpc>
            </a:pPr>
            <a:r>
              <a:rPr sz="1000" b="0" i="0">
                <a:solidFill>
                  <a:srgbClr val="6A6A74"/>
                </a:solidFill>
                <a:latin typeface="Consolas"/>
              </a:rPr>
              <a:t>EINS · Strategievorschlag</a:t>
            </a:r>
          </a:p>
        </p:txBody>
      </p:sp>
      <p:sp>
        <p:nvSpPr>
          <p:cNvPr id="24" name="TextBox 23"/>
          <p:cNvSpPr txBox="1"/>
          <p:nvPr/>
        </p:nvSpPr>
        <p:spPr>
          <a:xfrm>
            <a:off x="6400800" y="6492240"/>
            <a:ext cx="5486400" cy="274320"/>
          </a:xfrm>
          <a:prstGeom prst="rect">
            <a:avLst/>
          </a:prstGeom>
          <a:noFill/>
        </p:spPr>
        <p:txBody>
          <a:bodyPr wrap="square" lIns="0" rIns="0" tIns="0" bIns="0" anchor="t">
            <a:spAutoFit/>
          </a:bodyPr>
          <a:lstStyle/>
          <a:p>
            <a:pPr algn="r">
              <a:lnSpc>
                <a:spcPct val="115000"/>
              </a:lnSpc>
            </a:pPr>
            <a:r>
              <a:rPr sz="1000" b="0" i="0">
                <a:solidFill>
                  <a:srgbClr val="6A6A74"/>
                </a:solidFill>
                <a:latin typeface="Consolas"/>
              </a:rPr>
              <a:t>//16</a:t>
            </a:r>
          </a:p>
        </p:txBody>
      </p:sp>
    </p:spTree>
  </p:cSld>
  <p:clrMapOvr>
    <a:masterClrMapping/>
  </p:clrMapOvr>
  <p:transition xmlns:p14="http://schemas.microsoft.com/office/powerpoint/2010/main" spd="med" p14:dur="400">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ins-logo.png"/>
          <p:cNvPicPr>
            <a:picLocks noChangeAspect="1"/>
          </p:cNvPicPr>
          <p:nvPr/>
        </p:nvPicPr>
        <p:blipFill>
          <a:blip r:embed="rId2"/>
          <a:stretch>
            <a:fillRect/>
          </a:stretch>
        </p:blipFill>
        <p:spPr>
          <a:xfrm>
            <a:off x="457200" y="365760"/>
            <a:ext cx="1250243" cy="502920"/>
          </a:xfrm>
          <a:prstGeom prst="rect">
            <a:avLst/>
          </a:prstGeom>
        </p:spPr>
      </p:pic>
      <p:sp>
        <p:nvSpPr>
          <p:cNvPr id="4" name="Oval 3"/>
          <p:cNvSpPr/>
          <p:nvPr/>
        </p:nvSpPr>
        <p:spPr>
          <a:xfrm>
            <a:off x="457200" y="1408176"/>
            <a:ext cx="109728" cy="109728"/>
          </a:xfrm>
          <a:prstGeom prst="ellipse">
            <a:avLst/>
          </a:prstGeom>
          <a:solidFill>
            <a:srgbClr val="58BA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132320" cy="320040"/>
          </a:xfrm>
          <a:prstGeom prst="rect">
            <a:avLst/>
          </a:prstGeom>
          <a:noFill/>
        </p:spPr>
        <p:txBody>
          <a:bodyPr wrap="square" lIns="0" rIns="0" tIns="0" bIns="0" anchor="t">
            <a:spAutoFit/>
          </a:bodyPr>
          <a:lstStyle/>
          <a:p>
            <a:pPr algn="l">
              <a:lnSpc>
                <a:spcPct val="115000"/>
              </a:lnSpc>
            </a:pPr>
            <a:r>
              <a:rPr sz="1100" b="0" i="0">
                <a:solidFill>
                  <a:srgbClr val="58BAB5"/>
                </a:solidFill>
                <a:latin typeface="Consolas"/>
              </a:rPr>
              <a:t>Entscheidung</a:t>
            </a:r>
          </a:p>
        </p:txBody>
      </p:sp>
      <p:sp>
        <p:nvSpPr>
          <p:cNvPr id="6" name="TextBox 5"/>
          <p:cNvSpPr txBox="1"/>
          <p:nvPr/>
        </p:nvSpPr>
        <p:spPr>
          <a:xfrm>
            <a:off x="457200" y="1783080"/>
            <a:ext cx="10972800" cy="1280160"/>
          </a:xfrm>
          <a:prstGeom prst="rect">
            <a:avLst/>
          </a:prstGeom>
          <a:noFill/>
        </p:spPr>
        <p:txBody>
          <a:bodyPr wrap="square" lIns="0" rIns="0" tIns="0" bIns="0" anchor="t">
            <a:spAutoFit/>
          </a:bodyPr>
          <a:lstStyle/>
          <a:p>
            <a:pPr algn="ctr">
              <a:lnSpc>
                <a:spcPct val="100000"/>
              </a:lnSpc>
            </a:pPr>
            <a:r>
              <a:rPr sz="5800" b="1" i="0">
                <a:solidFill>
                  <a:srgbClr val="10101A"/>
                </a:solidFill>
                <a:latin typeface="Helvetica Neue"/>
              </a:rPr>
              <a:t>Zwei Wege nach vorne.</a:t>
            </a:r>
          </a:p>
        </p:txBody>
      </p:sp>
      <p:sp>
        <p:nvSpPr>
          <p:cNvPr id="7" name="Rounded Rectangle 6"/>
          <p:cNvSpPr/>
          <p:nvPr/>
        </p:nvSpPr>
        <p:spPr>
          <a:xfrm>
            <a:off x="457200" y="3200400"/>
            <a:ext cx="5440680" cy="2743200"/>
          </a:xfrm>
          <a:prstGeom prst="roundRect">
            <a:avLst>
              <a:gd name="adj" fmla="val 4000"/>
            </a:avLst>
          </a:prstGeom>
          <a:solidFill>
            <a:srgbClr val="E7F6F5"/>
          </a:solidFill>
          <a:ln w="9525">
            <a:solidFill>
              <a:srgbClr val="58BA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474720"/>
            <a:ext cx="4892040" cy="365760"/>
          </a:xfrm>
          <a:prstGeom prst="rect">
            <a:avLst/>
          </a:prstGeom>
          <a:noFill/>
        </p:spPr>
        <p:txBody>
          <a:bodyPr wrap="square" lIns="0" rIns="0" tIns="0" bIns="0" anchor="t">
            <a:spAutoFit/>
          </a:bodyPr>
          <a:lstStyle/>
          <a:p>
            <a:pPr algn="l">
              <a:lnSpc>
                <a:spcPct val="115000"/>
              </a:lnSpc>
            </a:pPr>
            <a:r>
              <a:rPr sz="1200" b="1" i="0">
                <a:solidFill>
                  <a:srgbClr val="58BAB5"/>
                </a:solidFill>
                <a:latin typeface="Consolas"/>
              </a:rPr>
              <a:t>Option A</a:t>
            </a:r>
          </a:p>
        </p:txBody>
      </p:sp>
      <p:sp>
        <p:nvSpPr>
          <p:cNvPr id="9" name="TextBox 8"/>
          <p:cNvSpPr txBox="1"/>
          <p:nvPr/>
        </p:nvSpPr>
        <p:spPr>
          <a:xfrm>
            <a:off x="822960" y="3840480"/>
            <a:ext cx="4892040" cy="640080"/>
          </a:xfrm>
          <a:prstGeom prst="rect">
            <a:avLst/>
          </a:prstGeom>
          <a:noFill/>
        </p:spPr>
        <p:txBody>
          <a:bodyPr wrap="square" lIns="0" rIns="0" tIns="0" bIns="0" anchor="t">
            <a:spAutoFit/>
          </a:bodyPr>
          <a:lstStyle/>
          <a:p>
            <a:pPr algn="l">
              <a:lnSpc>
                <a:spcPct val="115000"/>
              </a:lnSpc>
            </a:pPr>
            <a:r>
              <a:rPr sz="3200" b="1" i="0">
                <a:solidFill>
                  <a:srgbClr val="10101A"/>
                </a:solidFill>
                <a:latin typeface="Helvetica Neue"/>
              </a:rPr>
              <a:t>Jetzt starten</a:t>
            </a:r>
          </a:p>
        </p:txBody>
      </p:sp>
      <p:sp>
        <p:nvSpPr>
          <p:cNvPr id="10" name="TextBox 9"/>
          <p:cNvSpPr txBox="1"/>
          <p:nvPr/>
        </p:nvSpPr>
        <p:spPr>
          <a:xfrm>
            <a:off x="822960" y="4480560"/>
            <a:ext cx="4892040" cy="365760"/>
          </a:xfrm>
          <a:prstGeom prst="rect">
            <a:avLst/>
          </a:prstGeom>
          <a:noFill/>
        </p:spPr>
        <p:txBody>
          <a:bodyPr wrap="square" lIns="0" rIns="0" tIns="0" bIns="0" anchor="t">
            <a:spAutoFit/>
          </a:bodyPr>
          <a:lstStyle/>
          <a:p>
            <a:pPr algn="l">
              <a:lnSpc>
                <a:spcPct val="115000"/>
              </a:lnSpc>
            </a:pPr>
            <a:r>
              <a:rPr sz="1200" b="0" i="0">
                <a:solidFill>
                  <a:srgbClr val="10101A"/>
                </a:solidFill>
                <a:latin typeface="Consolas"/>
              </a:rPr>
              <a:t>1.900 € netto im Monat, keine Einrichtungsgebühr</a:t>
            </a:r>
          </a:p>
        </p:txBody>
      </p:sp>
      <p:sp>
        <p:nvSpPr>
          <p:cNvPr id="11" name="TextBox 10"/>
          <p:cNvSpPr txBox="1"/>
          <p:nvPr/>
        </p:nvSpPr>
        <p:spPr>
          <a:xfrm>
            <a:off x="822960" y="4846320"/>
            <a:ext cx="4709160" cy="1005840"/>
          </a:xfrm>
          <a:prstGeom prst="rect">
            <a:avLst/>
          </a:prstGeom>
          <a:noFill/>
        </p:spPr>
        <p:txBody>
          <a:bodyPr wrap="square" lIns="0" rIns="0" tIns="0" bIns="0" anchor="t">
            <a:spAutoFit/>
          </a:bodyPr>
          <a:lstStyle/>
          <a:p>
            <a:pPr algn="l">
              <a:lnSpc>
                <a:spcPct val="130000"/>
              </a:lnSpc>
            </a:pPr>
            <a:r>
              <a:rPr sz="1200" b="0" i="0">
                <a:solidFill>
                  <a:srgbClr val="10101A"/>
                </a:solidFill>
                <a:latin typeface="Inter"/>
              </a:rPr>
              <a:t>Wir terminieren Onboarding-Gespräch und Klon-Aufnahme direkt jetzt. Die erste Rechnung kommt erst mit der ersten qualifizierten Anfrage über EINS. Kommt in 90 Tagen keine, endet die Zusammenarbeit ohne Kosten.</a:t>
            </a:r>
          </a:p>
        </p:txBody>
      </p:sp>
      <p:sp>
        <p:nvSpPr>
          <p:cNvPr id="12" name="Rounded Rectangle 11"/>
          <p:cNvSpPr/>
          <p:nvPr/>
        </p:nvSpPr>
        <p:spPr>
          <a:xfrm>
            <a:off x="6355080" y="3200400"/>
            <a:ext cx="5440680" cy="2743200"/>
          </a:xfrm>
          <a:prstGeom prst="roundRect">
            <a:avLst>
              <a:gd name="adj" fmla="val 4000"/>
            </a:avLst>
          </a:prstGeom>
          <a:solidFill>
            <a:srgbClr val="FFFFFF"/>
          </a:solidFill>
          <a:ln w="9525">
            <a:solidFill>
              <a:srgbClr val="1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3474720"/>
            <a:ext cx="4892040" cy="365760"/>
          </a:xfrm>
          <a:prstGeom prst="rect">
            <a:avLst/>
          </a:prstGeom>
          <a:noFill/>
        </p:spPr>
        <p:txBody>
          <a:bodyPr wrap="square" lIns="0" rIns="0" tIns="0" bIns="0" anchor="t">
            <a:spAutoFit/>
          </a:bodyPr>
          <a:lstStyle/>
          <a:p>
            <a:pPr algn="l">
              <a:lnSpc>
                <a:spcPct val="115000"/>
              </a:lnSpc>
            </a:pPr>
            <a:r>
              <a:rPr sz="1200" b="0" i="0">
                <a:solidFill>
                  <a:srgbClr val="6A6A74"/>
                </a:solidFill>
                <a:latin typeface="Consolas"/>
              </a:rPr>
              <a:t>Option B</a:t>
            </a:r>
          </a:p>
        </p:txBody>
      </p:sp>
      <p:sp>
        <p:nvSpPr>
          <p:cNvPr id="14" name="TextBox 13"/>
          <p:cNvSpPr txBox="1"/>
          <p:nvPr/>
        </p:nvSpPr>
        <p:spPr>
          <a:xfrm>
            <a:off x="6720840" y="3840480"/>
            <a:ext cx="4892040" cy="640080"/>
          </a:xfrm>
          <a:prstGeom prst="rect">
            <a:avLst/>
          </a:prstGeom>
          <a:noFill/>
        </p:spPr>
        <p:txBody>
          <a:bodyPr wrap="square" lIns="0" rIns="0" tIns="0" bIns="0" anchor="t">
            <a:spAutoFit/>
          </a:bodyPr>
          <a:lstStyle/>
          <a:p>
            <a:pPr algn="l">
              <a:lnSpc>
                <a:spcPct val="115000"/>
              </a:lnSpc>
            </a:pPr>
            <a:r>
              <a:rPr sz="3200" b="1" i="0">
                <a:solidFill>
                  <a:srgbClr val="10101A"/>
                </a:solidFill>
                <a:latin typeface="Helvetica Neue"/>
              </a:rPr>
              <a:t>Folgegespräch</a:t>
            </a:r>
          </a:p>
        </p:txBody>
      </p:sp>
      <p:sp>
        <p:nvSpPr>
          <p:cNvPr id="15" name="TextBox 14"/>
          <p:cNvSpPr txBox="1"/>
          <p:nvPr/>
        </p:nvSpPr>
        <p:spPr>
          <a:xfrm>
            <a:off x="6720840" y="4480560"/>
            <a:ext cx="4892040" cy="365760"/>
          </a:xfrm>
          <a:prstGeom prst="rect">
            <a:avLst/>
          </a:prstGeom>
          <a:noFill/>
        </p:spPr>
        <p:txBody>
          <a:bodyPr wrap="square" lIns="0" rIns="0" tIns="0" bIns="0" anchor="t">
            <a:spAutoFit/>
          </a:bodyPr>
          <a:lstStyle/>
          <a:p>
            <a:pPr algn="l">
              <a:lnSpc>
                <a:spcPct val="115000"/>
              </a:lnSpc>
            </a:pPr>
            <a:r>
              <a:rPr sz="1200" b="0" i="0">
                <a:solidFill>
                  <a:srgbClr val="4A4A52"/>
                </a:solidFill>
                <a:latin typeface="Consolas"/>
              </a:rPr>
              <a:t>30 Minuten · Termin: [FOLGETERMIN]</a:t>
            </a:r>
          </a:p>
        </p:txBody>
      </p:sp>
      <p:sp>
        <p:nvSpPr>
          <p:cNvPr id="16" name="TextBox 15"/>
          <p:cNvSpPr txBox="1"/>
          <p:nvPr/>
        </p:nvSpPr>
        <p:spPr>
          <a:xfrm>
            <a:off x="6720840" y="4846320"/>
            <a:ext cx="4709160" cy="1005840"/>
          </a:xfrm>
          <a:prstGeom prst="rect">
            <a:avLst/>
          </a:prstGeom>
          <a:noFill/>
        </p:spPr>
        <p:txBody>
          <a:bodyPr wrap="square" lIns="0" rIns="0" tIns="0" bIns="0" anchor="t">
            <a:spAutoFit/>
          </a:bodyPr>
          <a:lstStyle/>
          <a:p>
            <a:pPr algn="l">
              <a:lnSpc>
                <a:spcPct val="130000"/>
              </a:lnSpc>
            </a:pPr>
            <a:r>
              <a:rPr sz="1200" b="0" i="0">
                <a:solidFill>
                  <a:srgbClr val="10101A"/>
                </a:solidFill>
                <a:latin typeface="Inter"/>
              </a:rPr>
              <a:t>Wir klären offene Fragen. Sie entscheiden in Ruhe.</a:t>
            </a:r>
          </a:p>
        </p:txBody>
      </p:sp>
      <p:sp>
        <p:nvSpPr>
          <p:cNvPr id="17" name="TextBox 16"/>
          <p:cNvSpPr txBox="1"/>
          <p:nvPr/>
        </p:nvSpPr>
        <p:spPr>
          <a:xfrm>
            <a:off x="457200" y="6080760"/>
            <a:ext cx="11338560" cy="365760"/>
          </a:xfrm>
          <a:prstGeom prst="rect">
            <a:avLst/>
          </a:prstGeom>
          <a:noFill/>
        </p:spPr>
        <p:txBody>
          <a:bodyPr wrap="square" lIns="0" rIns="0" tIns="0" bIns="0" anchor="t">
            <a:spAutoFit/>
          </a:bodyPr>
          <a:lstStyle/>
          <a:p>
            <a:pPr algn="ctr">
              <a:lnSpc>
                <a:spcPct val="115000"/>
              </a:lnSpc>
            </a:pPr>
            <a:r>
              <a:rPr sz="1100" b="0" i="0">
                <a:solidFill>
                  <a:srgbClr val="4A4A52"/>
                </a:solidFill>
                <a:latin typeface="Consolas"/>
              </a:rPr>
              <a:t>Kein Beitrag ohne Ihre Freigabe  ·  Sie müssen nie vor die Kamera  ·  Jede Anfrage mit Herkunft im Portal</a:t>
            </a:r>
          </a:p>
        </p:txBody>
      </p:sp>
      <p:sp>
        <p:nvSpPr>
          <p:cNvPr id="18" name="TextBox 17"/>
          <p:cNvSpPr txBox="1"/>
          <p:nvPr/>
        </p:nvSpPr>
        <p:spPr>
          <a:xfrm>
            <a:off x="457200" y="6400800"/>
            <a:ext cx="11338560" cy="365760"/>
          </a:xfrm>
          <a:prstGeom prst="rect">
            <a:avLst/>
          </a:prstGeom>
          <a:noFill/>
        </p:spPr>
        <p:txBody>
          <a:bodyPr wrap="square" lIns="0" rIns="0" tIns="0" bIns="0" anchor="t">
            <a:spAutoFit/>
          </a:bodyPr>
          <a:lstStyle/>
          <a:p>
            <a:pPr algn="ctr">
              <a:lnSpc>
                <a:spcPct val="115000"/>
              </a:lnSpc>
            </a:pPr>
            <a:r>
              <a:rPr sz="1100" b="0" i="0">
                <a:solidFill>
                  <a:srgbClr val="10101A"/>
                </a:solidFill>
                <a:latin typeface="Consolas"/>
              </a:rPr>
              <a:t>team@eins.ag  ·  +49 162 8456643  ·  eins.ag</a:t>
            </a:r>
          </a:p>
        </p:txBody>
      </p:sp>
    </p:spTree>
  </p:cSld>
  <p:clrMapOvr>
    <a:masterClrMapping/>
  </p:clrMapOvr>
  <p:transition xmlns:p14="http://schemas.microsoft.com/office/powerpoint/2010/main" spd="med"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